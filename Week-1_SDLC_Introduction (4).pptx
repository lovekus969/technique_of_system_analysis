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5"/>
  </p:notes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5" r:id="rId9"/>
    <p:sldId id="262" r:id="rId10"/>
    <p:sldId id="267" r:id="rId11"/>
    <p:sldId id="270" r:id="rId12"/>
    <p:sldId id="268" r:id="rId13"/>
    <p:sldId id="269" r:id="rId14"/>
    <p:sldId id="271" r:id="rId15"/>
    <p:sldId id="272" r:id="rId16"/>
    <p:sldId id="273" r:id="rId17"/>
    <p:sldId id="277" r:id="rId18"/>
    <p:sldId id="278" r:id="rId19"/>
    <p:sldId id="279" r:id="rId20"/>
    <p:sldId id="281" r:id="rId21"/>
    <p:sldId id="280" r:id="rId22"/>
    <p:sldId id="283" r:id="rId23"/>
    <p:sldId id="282" r:id="rId24"/>
    <p:sldId id="285" r:id="rId25"/>
    <p:sldId id="284" r:id="rId26"/>
    <p:sldId id="286" r:id="rId27"/>
    <p:sldId id="288" r:id="rId28"/>
    <p:sldId id="289" r:id="rId29"/>
    <p:sldId id="290" r:id="rId30"/>
    <p:sldId id="291" r:id="rId31"/>
    <p:sldId id="293" r:id="rId32"/>
    <p:sldId id="292" r:id="rId33"/>
    <p:sldId id="296" r:id="rId34"/>
    <p:sldId id="294" r:id="rId35"/>
    <p:sldId id="295" r:id="rId36"/>
    <p:sldId id="297" r:id="rId37"/>
    <p:sldId id="298" r:id="rId38"/>
    <p:sldId id="299" r:id="rId39"/>
    <p:sldId id="301" r:id="rId40"/>
    <p:sldId id="300" r:id="rId41"/>
    <p:sldId id="302" r:id="rId42"/>
    <p:sldId id="304" r:id="rId43"/>
    <p:sldId id="312" r:id="rId4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51" d="100"/>
          <a:sy n="51" d="100"/>
        </p:scale>
        <p:origin x="795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E6AED9-7BC4-41F6-ADA1-D30D4C6415EF}" type="datetimeFigureOut">
              <a:rPr lang="en-CA" smtClean="0"/>
              <a:t>2025-09-05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E177F0-FFEA-414B-9D95-4A9240B8A7A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889881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/>
          <a:lstStyle>
            <a:lvl1pPr>
              <a:defRPr sz="1200" baseline="0"/>
            </a:lvl1pPr>
          </a:lstStyle>
          <a:p>
            <a:fld id="{AC277665-BF71-445D-96B0-58A74D091899}" type="datetime3">
              <a:rPr lang="en-CA" smtClean="0"/>
              <a:t>5 September 2025</a:t>
            </a:fld>
            <a:endParaRPr lang="en-C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9213" y="6135808"/>
            <a:ext cx="5701348" cy="447872"/>
          </a:xfrm>
          <a:prstGeom prst="rect">
            <a:avLst/>
          </a:prstGeom>
        </p:spPr>
        <p:txBody>
          <a:bodyPr/>
          <a:lstStyle/>
          <a:p>
            <a:r>
              <a:rPr lang="en-CA" dirty="0"/>
              <a:t>Systems Analysis and Design in a Changing World, 7th Edition - Chapter 1   ©2016. Cengage Learning. All rights reserved</a:t>
            </a:r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5EA06A4A-A481-41BD-9B7E-362E3658D39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42417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1904999"/>
            <a:ext cx="8915400" cy="422543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/>
          <a:lstStyle/>
          <a:p>
            <a:fld id="{35D1A33D-2DE3-4E2F-A700-D2F4F81A5CFE}" type="datetime3">
              <a:rPr lang="en-CA" smtClean="0"/>
              <a:t>5 September 2025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9212" y="6135808"/>
            <a:ext cx="5683931" cy="466160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en-CA" altLang="en-US"/>
              <a:t>Systems Analysis and Design in a Changing World, 7th Edition - Chapter 1   ©2016. Cengage Learning. All rights reserved</a:t>
            </a:r>
            <a:endParaRPr lang="en-CA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EA06A4A-A481-41BD-9B7E-362E3658D39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29586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/>
          <a:lstStyle/>
          <a:p>
            <a:fld id="{0F58D489-192E-465C-B424-92FCAC38A51D}" type="datetime3">
              <a:rPr lang="en-CA" smtClean="0"/>
              <a:t>5 September 2025</a:t>
            </a:fld>
            <a:endParaRPr lang="en-CA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EA06A4A-A481-41BD-9B7E-362E3658D39D}" type="slidenum">
              <a:rPr lang="en-CA" smtClean="0"/>
              <a:t>‹#›</a:t>
            </a:fld>
            <a:endParaRPr lang="en-CA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D1C4824-63FE-4934-850C-1649171EE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89212" y="6135808"/>
            <a:ext cx="5683931" cy="466160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en-CA" altLang="en-US"/>
              <a:t>Systems Analysis and Design in a Changing World, 7th Edition - Chapter 1   ©2016. Cengage Learning. All rights reserved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3886691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/>
          <a:lstStyle/>
          <a:p>
            <a:fld id="{55B6A3A5-FC6C-41BD-BD41-093150F9CB3F}" type="datetime3">
              <a:rPr lang="en-CA" smtClean="0"/>
              <a:t>5 September 2025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589213" y="6135808"/>
            <a:ext cx="5762308" cy="365125"/>
          </a:xfrm>
          <a:prstGeom prst="rect">
            <a:avLst/>
          </a:prstGeom>
        </p:spPr>
        <p:txBody>
          <a:bodyPr/>
          <a:lstStyle/>
          <a:p>
            <a:r>
              <a:rPr lang="en-CA"/>
              <a:t>Systems Analysis and Design in a Changing World, 7th Edition - Chapter 1   ©2016. Cengage Learning. All rights reserved</a:t>
            </a:r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EA06A4A-A481-41BD-9B7E-362E3658D39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093981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/>
          <a:lstStyle/>
          <a:p>
            <a:fld id="{F5B29483-467A-4E31-8B51-1EDEDD2D67C5}" type="datetime3">
              <a:rPr lang="en-CA" smtClean="0"/>
              <a:t>5 September 2025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2589212" y="6135808"/>
            <a:ext cx="5718765" cy="365125"/>
          </a:xfrm>
          <a:prstGeom prst="rect">
            <a:avLst/>
          </a:prstGeom>
        </p:spPr>
        <p:txBody>
          <a:bodyPr/>
          <a:lstStyle/>
          <a:p>
            <a:r>
              <a:rPr lang="en-CA"/>
              <a:t>Systems Analysis and Design in a Changing World, 7th Edition - Chapter 1   ©2016. Cengage Learning. All rights reserved</a:t>
            </a:r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EA06A4A-A481-41BD-9B7E-362E3658D39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17738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/>
          <a:lstStyle/>
          <a:p>
            <a:fld id="{792B1E64-BAF3-4FC6-BB6F-888A2A3495E5}" type="datetime3">
              <a:rPr lang="en-CA" smtClean="0"/>
              <a:t>5 September 2025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/>
          <a:lstStyle/>
          <a:p>
            <a:r>
              <a:rPr lang="en-CA"/>
              <a:t>Systems Analysis and Design in a Changing World, 7th Edition - Chapter 1   ©2016. Cengage Learning. All rights reserved</a:t>
            </a:r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06A4A-A481-41BD-9B7E-362E3658D39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259057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/>
          <a:lstStyle/>
          <a:p>
            <a:fld id="{9AED479B-ECED-4467-87AF-C21D9D167BC1}" type="datetime3">
              <a:rPr lang="en-CA" smtClean="0"/>
              <a:t>5 September 2025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/>
          <a:lstStyle/>
          <a:p>
            <a:r>
              <a:rPr lang="en-CA"/>
              <a:t>Systems Analysis and Design in a Changing World, 7th Edition - Chapter 1   ©2016. Cengage Learning. All rights reserved</a:t>
            </a:r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06A4A-A481-41BD-9B7E-362E3658D39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589643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/>
          <a:lstStyle/>
          <a:p>
            <a:fld id="{CB48A2EE-23DC-4AAD-9EB9-C3C3CDBEC798}" type="datetime3">
              <a:rPr lang="en-CA" smtClean="0"/>
              <a:t>5 September 2025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/>
          <a:lstStyle/>
          <a:p>
            <a:r>
              <a:rPr lang="en-CA"/>
              <a:t>Systems Analysis and Design in a Changing World, 7th Edition - Chapter 1   ©2016. Cengage Learning. All rights reserved</a:t>
            </a: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06A4A-A481-41BD-9B7E-362E3658D39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32811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/>
          <a:lstStyle/>
          <a:p>
            <a:fld id="{70CD2385-0042-4D83-B034-9F9A2B3DA9B6}" type="datetime3">
              <a:rPr lang="en-CA" smtClean="0"/>
              <a:t>5 September 2025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/>
          <a:lstStyle/>
          <a:p>
            <a:r>
              <a:rPr lang="en-CA"/>
              <a:t>Systems Analysis and Design in a Changing World, 7th Edition - Chapter 1   ©2016. Cengage Learning. All rights reserved</a:t>
            </a: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EA06A4A-A481-41BD-9B7E-362E3658D39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6518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/>
          <a:lstStyle/>
          <a:p>
            <a:fld id="{89CF5CE5-5AEE-42EA-A895-1F0F11C60E57}" type="datetime3">
              <a:rPr lang="en-CA" smtClean="0"/>
              <a:t>5 September 2025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/>
          <a:lstStyle/>
          <a:p>
            <a:r>
              <a:rPr lang="en-CA"/>
              <a:t>Systems Analysis and Design in a Changing World, 7th Edition - Chapter 1   ©2016. Cengage Learning. All rights reserved</a:t>
            </a: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EA06A4A-A481-41BD-9B7E-362E3658D39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7025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/>
          <a:lstStyle/>
          <a:p>
            <a:fld id="{B24F6A67-B132-4782-8C8F-FF7C969A928A}" type="datetime3">
              <a:rPr lang="en-CA" smtClean="0"/>
              <a:t>5 September 2025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/>
          <a:lstStyle/>
          <a:p>
            <a:r>
              <a:rPr lang="en-CA"/>
              <a:t>Systems Analysis and Design in a Changing World, 7th Edition - Chapter 1   ©2016. Cengage Learning. All rights reserved</a:t>
            </a:r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EA06A4A-A481-41BD-9B7E-362E3658D39D}" type="slidenum">
              <a:rPr lang="en-CA" smtClean="0"/>
              <a:t>‹#›</a:t>
            </a:fld>
            <a:endParaRPr lang="en-CA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447122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/>
          <a:lstStyle/>
          <a:p>
            <a:fld id="{442B6C6D-C7F6-4CAC-AE77-D253B33CC849}" type="datetime3">
              <a:rPr lang="en-CA" smtClean="0"/>
              <a:t>5 September 2025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/>
          <a:lstStyle/>
          <a:p>
            <a:r>
              <a:rPr lang="en-CA"/>
              <a:t>Systems Analysis and Design in a Changing World, 7th Edition - Chapter 1   ©2016. Cengage Learning. All rights reserved</a:t>
            </a: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EA06A4A-A481-41BD-9B7E-362E3658D39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097648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/>
          <a:lstStyle/>
          <a:p>
            <a:fld id="{5C35E5A4-113D-40F7-B4F1-E4633540D255}" type="datetime3">
              <a:rPr lang="en-CA" smtClean="0"/>
              <a:t>5 September 2025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/>
          <a:lstStyle/>
          <a:p>
            <a:r>
              <a:rPr lang="en-CA"/>
              <a:t>Systems Analysis and Design in a Changing World, 7th Edition - Chapter 1   ©2016. Cengage Learning. All rights reserved</a:t>
            </a:r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EA06A4A-A481-41BD-9B7E-362E3658D39D}" type="slidenum">
              <a:rPr lang="en-CA" smtClean="0"/>
              <a:t>‹#›</a:t>
            </a:fld>
            <a:endParaRPr lang="en-CA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529346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/>
          <a:lstStyle/>
          <a:p>
            <a:fld id="{7ED0A465-0D03-4DEE-BCBA-ABCD5FC6CF39}" type="datetime3">
              <a:rPr lang="en-CA" smtClean="0"/>
              <a:t>5 September 2025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/>
          <a:lstStyle/>
          <a:p>
            <a:r>
              <a:rPr lang="en-CA"/>
              <a:t>Systems Analysis and Design in a Changing World, 7th Edition - Chapter 1   ©2016. Cengage Learning. All rights reserved</a:t>
            </a: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EA06A4A-A481-41BD-9B7E-362E3658D39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733779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/>
          <a:lstStyle/>
          <a:p>
            <a:fld id="{7DDE225E-E8F0-4DC4-9B44-B64162C599C5}" type="datetime3">
              <a:rPr lang="en-CA" smtClean="0"/>
              <a:t>5 September 2025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/>
          <a:lstStyle/>
          <a:p>
            <a:r>
              <a:rPr lang="en-CA"/>
              <a:t>Systems Analysis and Design in a Changing World, 7th Edition - Chapter 1   ©2016. Cengage Learning. All rights reserved</a:t>
            </a:r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06A4A-A481-41BD-9B7E-362E3658D39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437190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/>
          <a:lstStyle/>
          <a:p>
            <a:fld id="{7128889E-6E16-4B50-996A-2854B1C6A99F}" type="datetime3">
              <a:rPr lang="en-CA" smtClean="0"/>
              <a:t>5 September 2025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/>
          <a:lstStyle/>
          <a:p>
            <a:r>
              <a:rPr lang="en-CA"/>
              <a:t>Systems Analysis and Design in a Changing World, 7th Edition - Chapter 1   ©2016. Cengage Learning. All rights reserved</a:t>
            </a:r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06A4A-A481-41BD-9B7E-362E3658D39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65643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18392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054149"/>
            <a:ext cx="8915400" cy="39656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5EA06A4A-A481-41BD-9B7E-362E3658D39D}" type="slidenum">
              <a:rPr lang="en-CA" smtClean="0"/>
              <a:t>‹#›</a:t>
            </a:fld>
            <a:endParaRPr lang="en-CA"/>
          </a:p>
        </p:txBody>
      </p:sp>
      <p:sp>
        <p:nvSpPr>
          <p:cNvPr id="36" name="Footer Placeholder 4">
            <a:extLst>
              <a:ext uri="{FF2B5EF4-FFF2-40B4-BE49-F238E27FC236}">
                <a16:creationId xmlns:a16="http://schemas.microsoft.com/office/drawing/2014/main" id="{97715875-6463-4843-98B4-567CE42543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89213" y="6135808"/>
            <a:ext cx="5605553" cy="466160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en-CA" altLang="en-US"/>
              <a:t>Systems Analysis and Design in a Changing World, 7th Edition - Chapter 1   ©2016. Cengage Learning. All rights reserved</a:t>
            </a:r>
            <a:endParaRPr lang="en-CA" dirty="0"/>
          </a:p>
        </p:txBody>
      </p:sp>
      <p:sp>
        <p:nvSpPr>
          <p:cNvPr id="37" name="Date Placeholder 3">
            <a:extLst>
              <a:ext uri="{FF2B5EF4-FFF2-40B4-BE49-F238E27FC236}">
                <a16:creationId xmlns:a16="http://schemas.microsoft.com/office/drawing/2014/main" id="{E7666366-4D39-48D8-9968-6B1EBFEABC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/>
          <a:lstStyle>
            <a:lvl1pPr>
              <a:defRPr sz="1200" baseline="0"/>
            </a:lvl1pPr>
          </a:lstStyle>
          <a:p>
            <a:fld id="{FA464462-E7A2-4320-ADD0-CF0BECAB5BD9}" type="datetime3">
              <a:rPr lang="en-CA" smtClean="0"/>
              <a:t>5 September 2025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691921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rgbClr val="0070C0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wmf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FE341-3E33-4094-85B2-FA56F7FAFB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The Systems Development Life Cycle (SDLC)</a:t>
            </a:r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F16A89E7-38F6-4599-A598-666F599AA1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48E618-3D66-4749-B5C7-139A6BF26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Systems Analysis and Design in a Changing World, 7th Edition - Chapter 1   ©2016. Cengage Learning. All rights reserved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9A5D52-67B4-4237-AAED-5EA79D605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06A4A-A481-41BD-9B7E-362E3658D39D}" type="slidenum">
              <a:rPr lang="en-CA" smtClean="0"/>
              <a:pPr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039054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B1A07-9CBF-4435-A626-AB0219B83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Software Development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188871-7A1B-463E-B3E6-A4C10C17BA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/>
              <a:t>Systems Analysis</a:t>
            </a:r>
          </a:p>
          <a:p>
            <a:pPr lvl="1"/>
            <a:r>
              <a:rPr lang="en-CA"/>
              <a:t>Activities to understand a need and to specify what an Information System should accomplish to address the need</a:t>
            </a:r>
          </a:p>
          <a:p>
            <a:pPr lvl="1"/>
            <a:r>
              <a:rPr lang="en-CA">
                <a:sym typeface="Wingdings" panose="05000000000000000000" pitchFamily="2" charset="2"/>
              </a:rPr>
              <a:t> What</a:t>
            </a:r>
            <a:endParaRPr lang="en-CA"/>
          </a:p>
          <a:p>
            <a:r>
              <a:rPr lang="en-CA"/>
              <a:t>Systems Design</a:t>
            </a:r>
          </a:p>
          <a:p>
            <a:pPr lvl="1"/>
            <a:r>
              <a:rPr lang="en-CA"/>
              <a:t>Activities to define and describe in detail the system that solves the need</a:t>
            </a:r>
          </a:p>
          <a:p>
            <a:pPr lvl="1"/>
            <a:r>
              <a:rPr lang="en-CA">
                <a:sym typeface="Wingdings" panose="05000000000000000000" pitchFamily="2" charset="2"/>
              </a:rPr>
              <a:t> How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46B832-F466-4BCD-BB75-0BB2D72A4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06A4A-A481-41BD-9B7E-362E3658D39D}" type="slidenum">
              <a:rPr lang="en-CA" smtClean="0"/>
              <a:pPr/>
              <a:t>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3F2AD8-5924-42F9-9AF7-81EA2624D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altLang="en-US"/>
              <a:t>Systems Analysis and Design in a Changing World, 7th Edition - Chapter 1   ©2016. Cengage Learning. All rights reserved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838790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9DD50-8FAA-4795-96B2-598B0773B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The Systems Development Life Cycle</a:t>
            </a:r>
            <a:br>
              <a:rPr lang="en-CA" dirty="0"/>
            </a:br>
            <a:r>
              <a:rPr lang="en-CA" dirty="0"/>
              <a:t>(SDLC)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D3000B-F698-4786-AA83-4F92FB6FD5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1" y="2220686"/>
            <a:ext cx="9602789" cy="390975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CA" dirty="0"/>
              <a:t>Identify the problem or need and obtain approval</a:t>
            </a:r>
          </a:p>
          <a:p>
            <a:pPr marL="457200" indent="-457200">
              <a:buFont typeface="+mj-lt"/>
              <a:buAutoNum type="arabicPeriod"/>
            </a:pPr>
            <a:r>
              <a:rPr lang="en-CA" dirty="0"/>
              <a:t>Plan and monitor the project</a:t>
            </a:r>
          </a:p>
          <a:p>
            <a:pPr marL="457200" indent="-457200">
              <a:buFont typeface="+mj-lt"/>
              <a:buAutoNum type="arabicPeriod"/>
            </a:pPr>
            <a:r>
              <a:rPr lang="en-CA" dirty="0"/>
              <a:t>Discover and understand the details of the problem or need</a:t>
            </a:r>
            <a:endParaRPr lang="en-CA" sz="2000" dirty="0"/>
          </a:p>
          <a:p>
            <a:pPr marL="457200" indent="-457200">
              <a:buFont typeface="+mj-lt"/>
              <a:buAutoNum type="arabicPeriod"/>
            </a:pPr>
            <a:r>
              <a:rPr lang="en-GB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Design the system components that solve the problem</a:t>
            </a:r>
          </a:p>
          <a:p>
            <a:pPr marL="457200" indent="-457200">
              <a:buFont typeface="+mj-lt"/>
              <a:buAutoNum type="arabicPeriod"/>
            </a:pPr>
            <a:r>
              <a:rPr lang="en-GB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Build, test, and integrate system components</a:t>
            </a:r>
          </a:p>
          <a:p>
            <a:pPr marL="457200" indent="-457200">
              <a:buFont typeface="+mj-lt"/>
              <a:buAutoNum type="arabicPeriod"/>
            </a:pPr>
            <a:r>
              <a:rPr lang="en-GB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Complete system tests and deploy the solution</a:t>
            </a:r>
          </a:p>
          <a:p>
            <a:pPr marL="457200" indent="-457200">
              <a:buFont typeface="+mj-lt"/>
              <a:buAutoNum type="arabicPeriod"/>
            </a:pP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285A6-561B-4F11-8024-DE22281DC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06A4A-A481-41BD-9B7E-362E3658D39D}" type="slidenum">
              <a:rPr lang="en-CA" smtClean="0"/>
              <a:t>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DCEC8-A029-4CEA-A9A9-7E412BC81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altLang="en-US"/>
              <a:t>Systems Analysis and Design in a Changing World, 7th Edition - Chapter 1   ©2016. Cengage Learning. All rights reserved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7649881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3931A-52CA-4E49-9752-1E5630EF6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System Development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385583-3910-4203-869D-E72577E654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An approach or methodology used to develop an information system</a:t>
            </a:r>
          </a:p>
          <a:p>
            <a:pPr lvl="1"/>
            <a:r>
              <a:rPr lang="en-CA" dirty="0"/>
              <a:t>Unified process (UP)</a:t>
            </a:r>
          </a:p>
          <a:p>
            <a:pPr lvl="1"/>
            <a:r>
              <a:rPr lang="en-CA" dirty="0"/>
              <a:t>Extreme Programming (XP)</a:t>
            </a:r>
          </a:p>
          <a:p>
            <a:pPr lvl="1"/>
            <a:r>
              <a:rPr lang="en-CA" dirty="0"/>
              <a:t>Scrum</a:t>
            </a:r>
          </a:p>
          <a:p>
            <a:r>
              <a:rPr lang="en-CA" dirty="0"/>
              <a:t>Most methodologies now use Agile and an iterative approach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4E3A9A-E676-4E2A-8C1B-EA232EAE8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06A4A-A481-41BD-9B7E-362E3658D39D}" type="slidenum">
              <a:rPr lang="en-CA" smtClean="0"/>
              <a:t>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D2AC53-CD89-4348-A972-3F48E1110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altLang="en-US"/>
              <a:t>Systems Analysis and Design in a Changing World, 7th Edition - Chapter 1   ©2016. Cengage Learning. All rights reserved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842150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F3EDB-4902-4BB0-9F9F-B0BC10848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Agile &amp; Iterative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A817A0-B7DF-4D12-AF81-938F09CF29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CA" dirty="0"/>
              <a:t>Agile</a:t>
            </a:r>
          </a:p>
          <a:p>
            <a:pPr lvl="1"/>
            <a:r>
              <a:rPr lang="en-CA" dirty="0"/>
              <a:t>A development approach that emphasizes flexibility to handle failure &amp; new requirements as they're discovered</a:t>
            </a:r>
          </a:p>
          <a:p>
            <a:pPr lvl="2"/>
            <a:r>
              <a:rPr lang="en-CA" dirty="0"/>
              <a:t>Fast, responsive to change</a:t>
            </a:r>
          </a:p>
          <a:p>
            <a:pPr lvl="2"/>
            <a:r>
              <a:rPr lang="en-CA" dirty="0"/>
              <a:t>Team members require multiple skills</a:t>
            </a:r>
          </a:p>
          <a:p>
            <a:r>
              <a:rPr lang="en-CA" dirty="0"/>
              <a:t>Iterative Development</a:t>
            </a:r>
          </a:p>
          <a:p>
            <a:pPr lvl="1"/>
            <a:r>
              <a:rPr lang="en-CA" dirty="0"/>
              <a:t>An approach which divides the project into mini-projects, each delivering a working portion of the final solution</a:t>
            </a:r>
          </a:p>
          <a:p>
            <a:pPr lvl="2"/>
            <a:r>
              <a:rPr lang="en-CA" dirty="0"/>
              <a:t>Complete part of the system, test</a:t>
            </a:r>
          </a:p>
          <a:p>
            <a:pPr lvl="3"/>
            <a:r>
              <a:rPr lang="en-CA" dirty="0"/>
              <a:t>Integrate, refine, add another part, test</a:t>
            </a:r>
          </a:p>
          <a:p>
            <a:pPr lvl="4"/>
            <a:r>
              <a:rPr lang="en-CA" dirty="0"/>
              <a:t>Integrate, refine, add another part, test…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3FC7A1-BA08-43D9-B735-41B971D73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06A4A-A481-41BD-9B7E-362E3658D39D}" type="slidenum">
              <a:rPr lang="en-CA" smtClean="0"/>
              <a:t>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6C7282-779A-4D61-B7F2-5A122A1DE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altLang="en-US"/>
              <a:t>Systems Analysis and Design in a Changing World, 7th Edition - Chapter 1   ©2016. Cengage Learning. All rights reserved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2348209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D5BE8-9986-483C-B1F6-46973FC83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/>
              <a:t>Evolution of the project</a:t>
            </a:r>
            <a:br>
              <a:rPr lang="en-CA" dirty="0"/>
            </a:br>
            <a:r>
              <a:rPr lang="en-CA" sz="2000" dirty="0"/>
              <a:t>- each iteration is a mini-project</a:t>
            </a:r>
            <a:br>
              <a:rPr lang="en-CA" sz="2000" dirty="0"/>
            </a:br>
            <a:r>
              <a:rPr lang="en-CA" sz="2000" dirty="0"/>
              <a:t>- all use the six core processes, but their emphasis evolves</a:t>
            </a:r>
            <a:endParaRPr lang="en-CA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DFBFEC2-67D1-443D-8FEE-E969EA4477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1312" y="2749824"/>
            <a:ext cx="6807056" cy="3385984"/>
          </a:xfrm>
        </p:spPr>
        <p:txBody>
          <a:bodyPr>
            <a:normAutofit fontScale="92500" lnSpcReduction="10000"/>
          </a:bodyPr>
          <a:lstStyle/>
          <a:p>
            <a:r>
              <a:rPr lang="en-CA" dirty="0"/>
              <a:t>The first iteration (Initialization)</a:t>
            </a:r>
          </a:p>
          <a:p>
            <a:pPr lvl="1"/>
            <a:r>
              <a:rPr lang="en-CA" dirty="0"/>
              <a:t>Is heavy on:</a:t>
            </a:r>
          </a:p>
          <a:p>
            <a:pPr lvl="2"/>
            <a:r>
              <a:rPr lang="en-CA" dirty="0"/>
              <a:t>Understanding the need</a:t>
            </a:r>
          </a:p>
          <a:p>
            <a:pPr lvl="2"/>
            <a:r>
              <a:rPr lang="en-CA" dirty="0"/>
              <a:t>Identifying requirements</a:t>
            </a:r>
          </a:p>
          <a:p>
            <a:pPr lvl="3"/>
            <a:r>
              <a:rPr lang="en-CA" dirty="0"/>
              <a:t>Delivering a high-level project </a:t>
            </a:r>
            <a:r>
              <a:rPr lang="en-CA" b="1" i="1" dirty="0"/>
              <a:t>vision</a:t>
            </a:r>
            <a:endParaRPr lang="en-CA" dirty="0"/>
          </a:p>
          <a:p>
            <a:pPr lvl="2"/>
            <a:r>
              <a:rPr lang="en-CA" dirty="0"/>
              <a:t>Identifying the major components</a:t>
            </a:r>
          </a:p>
          <a:p>
            <a:pPr lvl="1"/>
            <a:r>
              <a:rPr lang="en-CA" dirty="0"/>
              <a:t>Can deliver a partial solution:</a:t>
            </a:r>
          </a:p>
          <a:p>
            <a:pPr lvl="2"/>
            <a:r>
              <a:rPr lang="en-CA" dirty="0"/>
              <a:t>Proof-of-concept for critical components</a:t>
            </a:r>
          </a:p>
          <a:p>
            <a:pPr lvl="3"/>
            <a:r>
              <a:rPr lang="en-CA" dirty="0"/>
              <a:t>Without which the project is impractical</a:t>
            </a:r>
          </a:p>
          <a:p>
            <a:pPr marL="457200" lvl="1" indent="0">
              <a:buNone/>
            </a:pPr>
            <a:endParaRPr lang="en-CA" dirty="0"/>
          </a:p>
          <a:p>
            <a:pPr lvl="1"/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6BAA20-0D49-4A85-85D9-1ECCFF10B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06A4A-A481-41BD-9B7E-362E3658D39D}" type="slidenum">
              <a:rPr lang="en-CA" smtClean="0"/>
              <a:t>6</a:t>
            </a:fld>
            <a:endParaRPr lang="en-CA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54C0332-247F-4E43-8F6B-A86F28B87F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469" y="1941649"/>
            <a:ext cx="4152900" cy="40957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819BCD6-D301-4929-B093-BF609EBBA8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9068" y="1941649"/>
            <a:ext cx="3800475" cy="771525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F00EC6-299E-463C-930F-DFD491EA4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altLang="en-US"/>
              <a:t>Systems Analysis and Design in a Changing World, 7th Edition - Chapter 1   ©2016. Cengage Learning. All rights reserved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8457642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D5BE8-9986-483C-B1F6-46973FC83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/>
              <a:t>Evolution of the project</a:t>
            </a:r>
            <a:br>
              <a:rPr lang="en-CA" dirty="0"/>
            </a:br>
            <a:r>
              <a:rPr lang="en-CA" sz="2000" dirty="0"/>
              <a:t>- each iteration is a mini-project</a:t>
            </a:r>
            <a:br>
              <a:rPr lang="en-CA" sz="2000" dirty="0"/>
            </a:br>
            <a:r>
              <a:rPr lang="en-CA" sz="2000" dirty="0"/>
              <a:t>- all use the six core processes, but their emphasis evolves</a:t>
            </a:r>
            <a:endParaRPr lang="en-CA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DFBFEC2-67D1-443D-8FEE-E969EA4477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1593" y="2916936"/>
            <a:ext cx="5572125" cy="3408450"/>
          </a:xfrm>
        </p:spPr>
        <p:txBody>
          <a:bodyPr>
            <a:normAutofit fontScale="92500" lnSpcReduction="10000"/>
          </a:bodyPr>
          <a:lstStyle/>
          <a:p>
            <a:r>
              <a:rPr lang="en-CA" dirty="0"/>
              <a:t>Subsequent Iterations (Construction)</a:t>
            </a:r>
          </a:p>
          <a:p>
            <a:pPr lvl="1"/>
            <a:r>
              <a:rPr lang="en-CA" dirty="0"/>
              <a:t>Review and revise the project vision</a:t>
            </a:r>
          </a:p>
          <a:p>
            <a:pPr lvl="2"/>
            <a:r>
              <a:rPr lang="en-CA" dirty="0"/>
              <a:t>New requirements can be added</a:t>
            </a:r>
          </a:p>
          <a:p>
            <a:pPr lvl="3"/>
            <a:r>
              <a:rPr lang="en-CA" dirty="0"/>
              <a:t>Possibly modifying existing components</a:t>
            </a:r>
          </a:p>
          <a:p>
            <a:pPr lvl="1"/>
            <a:r>
              <a:rPr lang="en-CA" dirty="0"/>
              <a:t>Discovering detailed requirements</a:t>
            </a:r>
          </a:p>
          <a:p>
            <a:pPr lvl="2"/>
            <a:r>
              <a:rPr lang="en-CA" dirty="0"/>
              <a:t>Only for the component(s) of </a:t>
            </a:r>
            <a:r>
              <a:rPr lang="en-CA" u="sng" dirty="0"/>
              <a:t>this</a:t>
            </a:r>
            <a:r>
              <a:rPr lang="en-CA" dirty="0"/>
              <a:t> </a:t>
            </a:r>
            <a:r>
              <a:rPr lang="en-CA" u="sng" dirty="0"/>
              <a:t>iteration</a:t>
            </a:r>
          </a:p>
          <a:p>
            <a:pPr lvl="1"/>
            <a:r>
              <a:rPr lang="en-CA" dirty="0"/>
              <a:t>More focused on producing a solution</a:t>
            </a:r>
          </a:p>
          <a:p>
            <a:pPr lvl="2"/>
            <a:r>
              <a:rPr lang="en-CA" dirty="0"/>
              <a:t>For part of the overall project</a:t>
            </a:r>
          </a:p>
          <a:p>
            <a:pPr marL="457200" lvl="1" indent="0">
              <a:buNone/>
            </a:pPr>
            <a:endParaRPr lang="en-CA" dirty="0"/>
          </a:p>
          <a:p>
            <a:pPr lvl="1"/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6BAA20-0D49-4A85-85D9-1ECCFF10B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06A4A-A481-41BD-9B7E-362E3658D39D}" type="slidenum">
              <a:rPr lang="en-CA" smtClean="0"/>
              <a:t>7</a:t>
            </a:fld>
            <a:endParaRPr lang="en-CA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BA41906-D9D5-4940-842A-834CB07B53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469" y="1941649"/>
            <a:ext cx="5572125" cy="410527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82C3B16-4A32-4D45-B669-956A8DA261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9068" y="1941649"/>
            <a:ext cx="3800475" cy="771525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89810B-1F2F-470A-BB69-35AE60F81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altLang="en-US"/>
              <a:t>Systems Analysis and Design in a Changing World, 7th Edition - Chapter 1   ©2016. Cengage Learning. All rights reserved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4725813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F24A9D-2882-4810-87E5-5F1E635EDF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2547" y="2569610"/>
            <a:ext cx="1495425" cy="34956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9DD5BE8-9986-483C-B1F6-46973FC83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/>
              <a:t>Evolution of the project</a:t>
            </a:r>
            <a:br>
              <a:rPr lang="en-CA" dirty="0"/>
            </a:br>
            <a:r>
              <a:rPr lang="en-CA" sz="2000" dirty="0"/>
              <a:t>- each iteration is a mini-project</a:t>
            </a:r>
            <a:br>
              <a:rPr lang="en-CA" sz="2000" dirty="0"/>
            </a:br>
            <a:r>
              <a:rPr lang="en-CA" sz="2000" dirty="0"/>
              <a:t>- all use the six core processes, but their emphasis evolves</a:t>
            </a:r>
            <a:endParaRPr lang="en-CA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DFBFEC2-67D1-443D-8FEE-E969EA4477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95501" y="2916936"/>
            <a:ext cx="4038217" cy="3277130"/>
          </a:xfrm>
        </p:spPr>
        <p:txBody>
          <a:bodyPr>
            <a:normAutofit fontScale="85000" lnSpcReduction="20000"/>
          </a:bodyPr>
          <a:lstStyle/>
          <a:p>
            <a:r>
              <a:rPr lang="en-CA" dirty="0"/>
              <a:t>Construction iterations continue</a:t>
            </a:r>
          </a:p>
          <a:p>
            <a:pPr lvl="1"/>
            <a:r>
              <a:rPr lang="en-CA" dirty="0"/>
              <a:t>Project vision firms up</a:t>
            </a:r>
          </a:p>
          <a:p>
            <a:pPr lvl="1"/>
            <a:r>
              <a:rPr lang="en-CA" dirty="0"/>
              <a:t>New requirements can still be discovered</a:t>
            </a:r>
          </a:p>
          <a:p>
            <a:r>
              <a:rPr lang="en-CA" dirty="0"/>
              <a:t>Still detailing &amp; developing new component(s)</a:t>
            </a:r>
          </a:p>
          <a:p>
            <a:r>
              <a:rPr lang="en-CA" dirty="0"/>
              <a:t>Focus shifting to integration &amp; testing</a:t>
            </a:r>
          </a:p>
          <a:p>
            <a:pPr lvl="1"/>
            <a:r>
              <a:rPr lang="en-CA" dirty="0"/>
              <a:t>Deployment is possible at any time</a:t>
            </a:r>
          </a:p>
          <a:p>
            <a:pPr lvl="1"/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6BAA20-0D49-4A85-85D9-1ECCFF10B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06A4A-A481-41BD-9B7E-362E3658D39D}" type="slidenum">
              <a:rPr lang="en-CA" smtClean="0"/>
              <a:t>8</a:t>
            </a:fld>
            <a:endParaRPr lang="en-CA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BA41906-D9D5-4940-842A-834CB07B53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469" y="1941649"/>
            <a:ext cx="5572125" cy="410527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82C3B16-4A32-4D45-B669-956A8DA261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9068" y="1941649"/>
            <a:ext cx="3800475" cy="771525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F28ADC-6365-47EB-8EA1-303139754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altLang="en-US"/>
              <a:t>Systems Analysis and Design in a Changing World, 7th Edition - Chapter 1   ©2016. Cengage Learning. All rights reserved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2690791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D5BE8-9986-483C-B1F6-46973FC83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/>
              <a:t>Evolution of the project</a:t>
            </a:r>
            <a:br>
              <a:rPr lang="en-CA" dirty="0"/>
            </a:br>
            <a:r>
              <a:rPr lang="en-CA" sz="2000" dirty="0"/>
              <a:t>- each iteration is a mini-project</a:t>
            </a:r>
            <a:br>
              <a:rPr lang="en-CA" sz="2000" dirty="0"/>
            </a:br>
            <a:r>
              <a:rPr lang="en-CA" sz="2000" dirty="0"/>
              <a:t>- all use the six core processes, but their emphasis evolves</a:t>
            </a:r>
            <a:endParaRPr lang="en-CA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DFBFEC2-67D1-443D-8FEE-E969EA4477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71394" y="2398849"/>
            <a:ext cx="3216974" cy="3667125"/>
          </a:xfrm>
        </p:spPr>
        <p:txBody>
          <a:bodyPr>
            <a:normAutofit/>
          </a:bodyPr>
          <a:lstStyle/>
          <a:p>
            <a:r>
              <a:rPr lang="en-CA" dirty="0"/>
              <a:t>The last iteration (Transition)</a:t>
            </a:r>
          </a:p>
          <a:p>
            <a:pPr lvl="1"/>
            <a:r>
              <a:rPr lang="en-CA" dirty="0"/>
              <a:t>Integration &amp; acceptance testing</a:t>
            </a:r>
          </a:p>
          <a:p>
            <a:pPr lvl="1"/>
            <a:r>
              <a:rPr lang="en-CA" dirty="0"/>
              <a:t>Deployment planning</a:t>
            </a:r>
          </a:p>
          <a:p>
            <a:pPr lvl="1"/>
            <a:r>
              <a:rPr lang="en-CA" dirty="0"/>
              <a:t>Deploy &amp; support the solution</a:t>
            </a:r>
          </a:p>
          <a:p>
            <a:pPr lvl="1"/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6BAA20-0D49-4A85-85D9-1ECCFF10B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06A4A-A481-41BD-9B7E-362E3658D39D}" type="slidenum">
              <a:rPr lang="en-CA" smtClean="0"/>
              <a:t>9</a:t>
            </a:fld>
            <a:endParaRPr lang="en-CA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AC04064-4FBB-407D-B211-B0616673FF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469" y="1941649"/>
            <a:ext cx="7781925" cy="4124325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F90A42-9CC9-43E8-AEBA-9D10F57FB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altLang="en-US"/>
              <a:t>Systems Analysis and Design in a Changing World, 7th Edition - Chapter 1   ©2016. Cengage Learning. All rights reserved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3634507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82DD4-BFF8-4066-BF70-02B96619F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Deployment can happen at any time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D8AD1B-C562-48DF-896A-10672611AA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709929"/>
            <a:ext cx="9517444" cy="4425879"/>
          </a:xfrm>
        </p:spPr>
        <p:txBody>
          <a:bodyPr>
            <a:normAutofit fontScale="92500" lnSpcReduction="10000"/>
          </a:bodyPr>
          <a:lstStyle/>
          <a:p>
            <a:r>
              <a:rPr lang="en-CA" dirty="0"/>
              <a:t>Each iteration should deliver a working solution</a:t>
            </a:r>
          </a:p>
          <a:p>
            <a:pPr lvl="1"/>
            <a:r>
              <a:rPr lang="en-CA" dirty="0"/>
              <a:t>Which is tested by itself (unit testing, acceptance testing)</a:t>
            </a:r>
          </a:p>
          <a:p>
            <a:pPr lvl="1"/>
            <a:r>
              <a:rPr lang="en-CA" dirty="0"/>
              <a:t>…then combined with prior deliverables (integration testing)</a:t>
            </a:r>
          </a:p>
          <a:p>
            <a:r>
              <a:rPr lang="en-CA" dirty="0"/>
              <a:t>An iteration may be deployable (stand-alone, marketable)</a:t>
            </a:r>
          </a:p>
          <a:p>
            <a:pPr lvl="1"/>
            <a:r>
              <a:rPr lang="en-CA" dirty="0"/>
              <a:t>Providing business value before the whole project is complete</a:t>
            </a:r>
          </a:p>
          <a:p>
            <a:endParaRPr lang="en-CA" dirty="0"/>
          </a:p>
          <a:p>
            <a:r>
              <a:rPr lang="en-CA" dirty="0"/>
              <a:t>Consider D2L:</a:t>
            </a:r>
          </a:p>
          <a:p>
            <a:pPr lvl="1"/>
            <a:r>
              <a:rPr lang="en-CA" dirty="0"/>
              <a:t>Online notes, homework upload, quizzes, grades …</a:t>
            </a:r>
          </a:p>
          <a:p>
            <a:pPr lvl="2"/>
            <a:r>
              <a:rPr lang="en-CA" dirty="0"/>
              <a:t>"online notes" alone would be a VERY marketable solution</a:t>
            </a:r>
          </a:p>
          <a:p>
            <a:pPr lvl="3"/>
            <a:r>
              <a:rPr lang="en-CA" dirty="0">
                <a:sym typeface="Wingdings" panose="05000000000000000000" pitchFamily="2" charset="2"/>
              </a:rPr>
              <a:t> </a:t>
            </a:r>
            <a:r>
              <a:rPr lang="en-CA" dirty="0"/>
              <a:t>new development stops </a:t>
            </a:r>
            <a:r>
              <a:rPr lang="en-CA" dirty="0">
                <a:sym typeface="Wingdings" panose="05000000000000000000" pitchFamily="2" charset="2"/>
              </a:rPr>
              <a:t> </a:t>
            </a:r>
            <a:r>
              <a:rPr lang="en-CA" dirty="0"/>
              <a:t>test and deploy</a:t>
            </a:r>
          </a:p>
          <a:p>
            <a:pPr lvl="3"/>
            <a:r>
              <a:rPr lang="en-CA" dirty="0"/>
              <a:t>Start a new project with the remaining requirements</a:t>
            </a:r>
          </a:p>
          <a:p>
            <a:pPr lvl="3"/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A8F248-4548-4723-B66F-040652B38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06A4A-A481-41BD-9B7E-362E3658D39D}" type="slidenum">
              <a:rPr lang="en-CA" smtClean="0"/>
              <a:t>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200FCC-26D6-4390-B7F3-55FB289BE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altLang="en-US"/>
              <a:t>Systems Analysis and Design in a Changing World, 7th Edition - Chapter 1   ©2016. Cengage Learning. All rights reserved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255414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57BB6A5-FDF0-49B3-BC7B-76ABEB188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RMO – Sample Project in 6 days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9C0FD2D-D1B2-43E1-B154-C0A70AF4C5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/>
          <a:lstStyle/>
          <a:p>
            <a:r>
              <a:rPr lang="en-CA" dirty="0"/>
              <a:t>To be integrated into a larger supply-chain management system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F9E255-3D49-4D37-8E4A-0643C42F3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06A4A-A481-41BD-9B7E-362E3658D39D}" type="slidenum">
              <a:rPr lang="en-CA" smtClean="0"/>
              <a:t>11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1730BE-3FF8-425A-9B8E-88FDB0B70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Systems Analysis and Design in a Changing World, 7th Edition - Chapter 1   ©2016. Cengage Learning.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41582132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BA92E4A9-D55C-4A13-BB48-8EFACDDF7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Ridgeline Mountain Outfitters (RMO) </a:t>
            </a:r>
            <a:endParaRPr lang="en-CA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EBAD594-C281-4044-B9A0-9A12078D33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Large Retail Company </a:t>
            </a:r>
          </a:p>
          <a:p>
            <a:pPr lvl="1"/>
            <a:r>
              <a:rPr lang="en-CA" dirty="0"/>
              <a:t>Outdoor and sporting clothing and accessories</a:t>
            </a:r>
          </a:p>
          <a:p>
            <a:pPr lvl="1"/>
            <a:r>
              <a:rPr lang="en-CA" dirty="0"/>
              <a:t>Skiing, mountain biking, water sports</a:t>
            </a:r>
          </a:p>
          <a:p>
            <a:pPr lvl="1"/>
            <a:r>
              <a:rPr lang="en-CA" dirty="0"/>
              <a:t>Hiking, camping, mountain climbing</a:t>
            </a:r>
          </a:p>
          <a:p>
            <a:r>
              <a:rPr lang="en-CA" dirty="0"/>
              <a:t>Rocky Mountain and Western States</a:t>
            </a:r>
          </a:p>
          <a:p>
            <a:pPr lvl="1"/>
            <a:r>
              <a:rPr lang="en-CA" dirty="0"/>
              <a:t>Started mail order and phone order</a:t>
            </a:r>
          </a:p>
          <a:p>
            <a:pPr lvl="1"/>
            <a:r>
              <a:rPr lang="en-CA" dirty="0"/>
              <a:t>Added retail stores</a:t>
            </a:r>
          </a:p>
          <a:p>
            <a:pPr lvl="1"/>
            <a:r>
              <a:rPr lang="en-CA" dirty="0"/>
              <a:t>Added extensive E-business component</a:t>
            </a:r>
          </a:p>
          <a:p>
            <a:endParaRPr lang="en-CA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83572E4-ECF4-4183-9262-D757EABEC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altLang="en-US"/>
              <a:t>Systems Analysis and Design in a Changing World, 7th Edition - Chapter 1   ©2016. Cengage Learning. All rights reserved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7B63FE-6FE4-45D7-B8E1-7AAFF2824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06A4A-A481-41BD-9B7E-362E3658D39D}" type="slidenum">
              <a:rPr lang="en-CA" smtClean="0"/>
              <a:pPr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253180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BCACDDF-7D8A-4EDB-889D-5304DEE3C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RMO Marketing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562C9A-CAD8-4D28-AF38-A30E20BC9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altLang="en-US"/>
              <a:t>Systems Analysis and Design in a Changing World, 7th Edition - Chapter 1   ©2016. Cengage Learning. All rights reserved</a:t>
            </a:r>
            <a:endParaRPr lang="en-CA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ACA285-EC39-4D95-A20C-EDDDFE918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06A4A-A481-41BD-9B7E-362E3658D39D}" type="slidenum">
              <a:rPr lang="en-CA" smtClean="0"/>
              <a:t>13</a:t>
            </a:fld>
            <a:endParaRPr lang="en-C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256CD6-782B-4D44-A1D6-F642FBA564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8759" y="1461211"/>
            <a:ext cx="3459780" cy="443522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B05D04-8F36-44F1-9FDA-96215FA4B8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9211" y="1461211"/>
            <a:ext cx="5547841" cy="3475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6001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RMO Tradeshow System </a:t>
            </a:r>
          </a:p>
        </p:txBody>
      </p:sp>
      <p:sp>
        <p:nvSpPr>
          <p:cNvPr id="14131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Problem</a:t>
            </a:r>
            <a:endParaRPr lang="en-CA" altLang="en-US" dirty="0"/>
          </a:p>
          <a:p>
            <a:pPr lvl="1"/>
            <a:r>
              <a:rPr lang="en-GB" altLang="en-US" dirty="0"/>
              <a:t>Purchasing agents attend apparel and fabric trade shows around the world to order new products from suppliers</a:t>
            </a:r>
          </a:p>
          <a:p>
            <a:r>
              <a:rPr lang="en-GB" altLang="en-US" dirty="0"/>
              <a:t>Need</a:t>
            </a:r>
          </a:p>
          <a:p>
            <a:pPr lvl="1"/>
            <a:r>
              <a:rPr lang="en-GB" altLang="en-US" dirty="0"/>
              <a:t>Information system (app) to record and track information about suppliers and new products while at tradeshows</a:t>
            </a:r>
          </a:p>
          <a:p>
            <a:r>
              <a:rPr lang="en-GB" altLang="en-US" dirty="0"/>
              <a:t>Tradeshow Project is proposed:</a:t>
            </a:r>
          </a:p>
          <a:p>
            <a:pPr lvl="1"/>
            <a:r>
              <a:rPr lang="en-US" altLang="en-US" dirty="0"/>
              <a:t>Supplier information subsystem</a:t>
            </a:r>
          </a:p>
          <a:p>
            <a:pPr lvl="1"/>
            <a:r>
              <a:rPr lang="en-US" altLang="en-US" dirty="0"/>
              <a:t>Product information subsystem</a:t>
            </a: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altLang="en-US"/>
              <a:t>Systems Analysis and Design in a Changing World, 7th Edition - Chapter 1   ©2016. Cengage Learning. All rights reserved</a:t>
            </a:r>
            <a:endParaRPr lang="en-US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DF433-C022-40A7-85C4-F7D133C2BD0D}" type="slidenum">
              <a:rPr lang="en-US" altLang="en-US" smtClean="0"/>
              <a:pPr/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303840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Initial Activities – pre-project</a:t>
            </a:r>
          </a:p>
        </p:txBody>
      </p:sp>
      <p:sp>
        <p:nvSpPr>
          <p:cNvPr id="142339" name="Rectangle 3"/>
          <p:cNvSpPr>
            <a:spLocks noGrp="1" noChangeArrowheads="1"/>
          </p:cNvSpPr>
          <p:nvPr>
            <p:ph idx="1"/>
          </p:nvPr>
        </p:nvSpPr>
        <p:spPr>
          <a:xfrm>
            <a:off x="2589212" y="1905000"/>
            <a:ext cx="8915400" cy="3137264"/>
          </a:xfrm>
        </p:spPr>
        <p:txBody>
          <a:bodyPr>
            <a:normAutofit fontScale="92500"/>
          </a:bodyPr>
          <a:lstStyle/>
          <a:p>
            <a:r>
              <a:rPr lang="en-US" altLang="en-US" dirty="0"/>
              <a:t>Identify the problem and document the objective of the system (core process 1)</a:t>
            </a:r>
          </a:p>
          <a:p>
            <a:pPr lvl="1"/>
            <a:r>
              <a:rPr lang="en-US" altLang="en-US" dirty="0"/>
              <a:t>Preliminary investigation</a:t>
            </a:r>
          </a:p>
          <a:p>
            <a:pPr lvl="1"/>
            <a:r>
              <a:rPr lang="en-US" altLang="en-US" dirty="0"/>
              <a:t>System Vision Document</a:t>
            </a:r>
          </a:p>
          <a:p>
            <a:r>
              <a:rPr lang="en-US" altLang="en-US" dirty="0"/>
              <a:t>Obtain approval to commence the project (core process 1)</a:t>
            </a:r>
          </a:p>
          <a:p>
            <a:pPr lvl="1"/>
            <a:r>
              <a:rPr lang="en-US" altLang="en-US" dirty="0"/>
              <a:t>Meet with key stakeholders, including executive management</a:t>
            </a:r>
          </a:p>
          <a:p>
            <a:pPr lvl="1"/>
            <a:r>
              <a:rPr lang="en-US" altLang="en-US" dirty="0"/>
              <a:t>Decision reached, approve plan and budget</a:t>
            </a: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altLang="en-US"/>
              <a:t>Systems Analysis and Design in a Changing World, 7th Edition - Chapter 1   ©2016. Cengage Learning. All rights reserved</a:t>
            </a:r>
            <a:endParaRPr lang="en-US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9D688-DC6D-4F68-A7E2-B944991557BD}" type="slidenum">
              <a:rPr lang="en-US" altLang="en-US" smtClean="0"/>
              <a:pPr/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869445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2592925" y="624110"/>
            <a:ext cx="4582835" cy="1280890"/>
          </a:xfrm>
        </p:spPr>
        <p:txBody>
          <a:bodyPr>
            <a:normAutofit/>
          </a:bodyPr>
          <a:lstStyle/>
          <a:p>
            <a:br>
              <a:rPr lang="en-US" altLang="en-US" dirty="0"/>
            </a:br>
            <a:endParaRPr lang="en-US" alt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B4492ACA-6701-4862-9680-B28F282D2D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Problem description</a:t>
            </a:r>
          </a:p>
          <a:p>
            <a:r>
              <a:rPr lang="en-US" altLang="en-US" dirty="0"/>
              <a:t>System capabilities</a:t>
            </a:r>
          </a:p>
          <a:p>
            <a:r>
              <a:rPr lang="en-US" altLang="en-US" dirty="0"/>
              <a:t>Business benefits</a:t>
            </a:r>
            <a:endParaRPr lang="en-US" dirty="0"/>
          </a:p>
          <a:p>
            <a:endParaRPr lang="en-CA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9212" y="6175780"/>
            <a:ext cx="5019955" cy="466160"/>
          </a:xfrm>
        </p:spPr>
        <p:txBody>
          <a:bodyPr/>
          <a:lstStyle/>
          <a:p>
            <a:r>
              <a:rPr lang="en-CA" altLang="en-US"/>
              <a:t>Systems Analysis and Design in a Changing World, 7th Edition - Chapter 1   ©2016. Cengage Learning. All rights reserved</a:t>
            </a:r>
            <a:endParaRPr lang="en-US" alt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1DFBF-38A8-4102-86CF-AA0AA3003179}" type="slidenum">
              <a:rPr lang="en-US" altLang="en-US" smtClean="0"/>
              <a:pPr/>
              <a:t>16</a:t>
            </a:fld>
            <a:endParaRPr lang="en-US" altLang="en-US"/>
          </a:p>
        </p:txBody>
      </p:sp>
      <p:pic>
        <p:nvPicPr>
          <p:cNvPr id="16" name="Picture Placeholder 10">
            <a:extLst>
              <a:ext uri="{FF2B5EF4-FFF2-40B4-BE49-F238E27FC236}">
                <a16:creationId xmlns:a16="http://schemas.microsoft.com/office/drawing/2014/main" id="{FF04B3B6-D8E3-4C92-B717-8E3956B010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9167" y="0"/>
            <a:ext cx="45828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8063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400" dirty="0"/>
              <a:t>System Vision Document</a:t>
            </a:r>
            <a:br>
              <a:rPr lang="en-US" altLang="en-US" dirty="0">
                <a:ln>
                  <a:noFill/>
                </a:ln>
              </a:rPr>
            </a:br>
            <a:r>
              <a:rPr lang="en-US" altLang="en-US" dirty="0">
                <a:ln>
                  <a:noFill/>
                </a:ln>
              </a:rPr>
              <a:t>Problem Description </a:t>
            </a:r>
          </a:p>
        </p:txBody>
      </p:sp>
      <p:pic>
        <p:nvPicPr>
          <p:cNvPr id="41987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89212" y="1667692"/>
            <a:ext cx="9625248" cy="4149634"/>
          </a:xfrm>
          <a:noFill/>
        </p:spPr>
      </p:pic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CA" altLang="en-US"/>
              <a:t>Systems Analysis and Design in a Changing World, 7th Edition - Chapter 1   ©2016. Cengage Learning. All rights reserved</a:t>
            </a:r>
            <a:endParaRPr lang="en-US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653F0E-B191-4036-82DF-3141BC205873}" type="slidenum">
              <a:rPr lang="en-US" altLang="en-US"/>
              <a:pPr>
                <a:defRPr/>
              </a:pPr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672036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400" dirty="0"/>
              <a:t>System Vision Document</a:t>
            </a:r>
            <a:br>
              <a:rPr lang="en-US" altLang="en-US" dirty="0"/>
            </a:br>
            <a:r>
              <a:rPr lang="en-US" altLang="en-US" dirty="0"/>
              <a:t>System Capabilities</a:t>
            </a:r>
            <a:endParaRPr lang="en-US" altLang="en-US" dirty="0">
              <a:ln>
                <a:noFill/>
              </a:ln>
            </a:endParaRPr>
          </a:p>
        </p:txBody>
      </p:sp>
      <p:pic>
        <p:nvPicPr>
          <p:cNvPr id="43011" name="Picture 8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89210" y="1789612"/>
            <a:ext cx="9535679" cy="3836125"/>
          </a:xfrm>
          <a:noFill/>
        </p:spPr>
      </p:pic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CA" altLang="en-US"/>
              <a:t>Systems Analysis and Design in a Changing World, 7th Edition - Chapter 1   ©2016. Cengage Learning. All rights reserved</a:t>
            </a:r>
            <a:endParaRPr lang="en-US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D998E2-FFCC-4087-B64A-04D7F4F96DA4}" type="slidenum">
              <a:rPr lang="en-US" altLang="en-US"/>
              <a:pPr>
                <a:defRPr/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693759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400" dirty="0"/>
              <a:t>System Vision Document</a:t>
            </a:r>
            <a:br>
              <a:rPr lang="en-US" altLang="en-US" dirty="0"/>
            </a:br>
            <a:r>
              <a:rPr lang="en-US" altLang="en-US" dirty="0"/>
              <a:t>Business Benefits</a:t>
            </a:r>
            <a:endParaRPr lang="en-US" altLang="en-US" dirty="0">
              <a:ln>
                <a:noFill/>
              </a:ln>
            </a:endParaRPr>
          </a:p>
        </p:txBody>
      </p:sp>
      <p:pic>
        <p:nvPicPr>
          <p:cNvPr id="44035" name="Picture 7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89211" y="1905000"/>
            <a:ext cx="9447435" cy="4008120"/>
          </a:xfrm>
          <a:noFill/>
        </p:spPr>
      </p:pic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CA" altLang="en-US"/>
              <a:t>Systems Analysis and Design in a Changing World, 7th Edition - Chapter 1   ©2016. Cengage Learning. All rights reserved</a:t>
            </a:r>
            <a:endParaRPr lang="en-US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0CCC89-7FEF-44F9-AE1B-92273677C02F}" type="slidenum">
              <a:rPr lang="en-US" altLang="en-US"/>
              <a:pPr>
                <a:defRPr/>
              </a:pPr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279611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Day 1 Activities </a:t>
            </a:r>
          </a:p>
        </p:txBody>
      </p:sp>
      <p:sp>
        <p:nvSpPr>
          <p:cNvPr id="1546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Core Process 2: Plan the Project</a:t>
            </a:r>
          </a:p>
          <a:p>
            <a:pPr lvl="1"/>
            <a:r>
              <a:rPr lang="en-US" altLang="en-US" dirty="0"/>
              <a:t>Determine the major components (</a:t>
            </a:r>
            <a:r>
              <a:rPr lang="en-US" altLang="en-US" b="1" i="1" dirty="0"/>
              <a:t>functional </a:t>
            </a:r>
            <a:r>
              <a:rPr lang="en-US" altLang="en-US" dirty="0"/>
              <a:t>areas) that are needed</a:t>
            </a:r>
          </a:p>
          <a:p>
            <a:pPr lvl="2"/>
            <a:r>
              <a:rPr lang="en-US" altLang="en-US" dirty="0"/>
              <a:t>Supplier information subsystem</a:t>
            </a:r>
          </a:p>
          <a:p>
            <a:pPr lvl="2"/>
            <a:r>
              <a:rPr lang="en-US" altLang="en-US" dirty="0"/>
              <a:t>Product information subsystem</a:t>
            </a:r>
          </a:p>
          <a:p>
            <a:pPr lvl="1"/>
            <a:r>
              <a:rPr lang="en-US" altLang="en-US" dirty="0"/>
              <a:t>Define the iterations and assign each function to an iteration</a:t>
            </a:r>
          </a:p>
          <a:p>
            <a:pPr lvl="2"/>
            <a:r>
              <a:rPr lang="en-US" altLang="en-US" dirty="0"/>
              <a:t>Decide to do Supplier subsystem first</a:t>
            </a:r>
          </a:p>
          <a:p>
            <a:pPr lvl="2"/>
            <a:r>
              <a:rPr lang="en-US" altLang="en-US" dirty="0"/>
              <a:t>Plan one iteration as it is small and straight-forward</a:t>
            </a:r>
          </a:p>
          <a:p>
            <a:pPr lvl="1"/>
            <a:r>
              <a:rPr lang="en-US" altLang="en-US" dirty="0"/>
              <a:t>Determine team members and responsibilities</a:t>
            </a: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altLang="en-US"/>
              <a:t>Systems Analysis and Design in a Changing World, 7th Edition - Chapter 1   ©2016. Cengage Learning. All rights reserved</a:t>
            </a:r>
            <a:endParaRPr lang="en-US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C6531-90B7-44AC-B6CB-A42C0A56D164}" type="slidenum">
              <a:rPr lang="en-US" altLang="en-US" smtClean="0"/>
              <a:pPr/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188410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2592926" y="624110"/>
            <a:ext cx="4373932" cy="1280890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Work Breakdown Structure for Iteration</a:t>
            </a: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endParaRPr lang="en-US" altLang="en-US" dirty="0"/>
          </a:p>
        </p:txBody>
      </p:sp>
      <p:sp>
        <p:nvSpPr>
          <p:cNvPr id="46084" name="Text Placeholder 1"/>
          <p:cNvSpPr>
            <a:spLocks noGrp="1"/>
          </p:cNvSpPr>
          <p:nvPr>
            <p:ph idx="1"/>
          </p:nvPr>
        </p:nvSpPr>
        <p:spPr>
          <a:xfrm>
            <a:off x="2589212" y="1904999"/>
            <a:ext cx="4441569" cy="4225437"/>
          </a:xfrm>
        </p:spPr>
        <p:txBody>
          <a:bodyPr/>
          <a:lstStyle/>
          <a:p>
            <a:r>
              <a:rPr lang="en-US" altLang="en-US" dirty="0"/>
              <a:t>Describes the work </a:t>
            </a:r>
          </a:p>
          <a:p>
            <a:pPr lvl="1"/>
            <a:r>
              <a:rPr lang="en-US" altLang="en-US" dirty="0"/>
              <a:t>Covers Core Processes 3, 4, 5, and 6</a:t>
            </a: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altLang="en-US"/>
              <a:t>Systems Analysis and Design in a Changing World, 7th Edition - Chapter 1   ©2016. Cengage Learning. All rights reserved</a:t>
            </a:r>
            <a:endParaRPr lang="en-US" alt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132FE-965A-47D6-A0C7-6DE2BD892455}" type="slidenum">
              <a:rPr lang="en-US" altLang="en-US" smtClean="0"/>
              <a:pPr/>
              <a:t>21</a:t>
            </a:fld>
            <a:endParaRPr lang="en-US" alt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5092" y="391885"/>
            <a:ext cx="5326908" cy="5599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4378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2592926" y="624110"/>
            <a:ext cx="5672858" cy="128089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Work Sequence Draft for Iteration</a:t>
            </a:r>
            <a:br>
              <a:rPr lang="en-US" altLang="en-US" sz="2800" dirty="0"/>
            </a:br>
            <a:endParaRPr lang="en-US" altLang="en-US" sz="2000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9212" y="6135808"/>
            <a:ext cx="5100457" cy="466160"/>
          </a:xfrm>
        </p:spPr>
        <p:txBody>
          <a:bodyPr/>
          <a:lstStyle/>
          <a:p>
            <a:pPr>
              <a:defRPr/>
            </a:pPr>
            <a:r>
              <a:rPr lang="en-CA" altLang="en-US"/>
              <a:t>Systems Analysis and Design in a Changing World, 7th Edition - Chapter 1   ©2016. Cengage Learning. All rights reserved</a:t>
            </a:r>
            <a:endParaRPr lang="en-US" alt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DC76C6-A198-40F4-8335-524637B10883}" type="slidenum">
              <a:rPr lang="en-US" altLang="en-US"/>
              <a:pPr>
                <a:defRPr/>
              </a:pPr>
              <a:t>22</a:t>
            </a:fld>
            <a:endParaRPr lang="en-US" alt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C350C31-CD15-491D-B9E0-11F11A93CA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904999"/>
            <a:ext cx="5675222" cy="4225437"/>
          </a:xfrm>
        </p:spPr>
        <p:txBody>
          <a:bodyPr/>
          <a:lstStyle/>
          <a:p>
            <a:r>
              <a:rPr lang="en-US" altLang="en-US" dirty="0"/>
              <a:t>Elaborates the Work Breakdown Structure</a:t>
            </a:r>
          </a:p>
          <a:p>
            <a:endParaRPr lang="en-CA" dirty="0"/>
          </a:p>
        </p:txBody>
      </p:sp>
      <p:pic>
        <p:nvPicPr>
          <p:cNvPr id="8" name="Picture Placeholder 9">
            <a:extLst>
              <a:ext uri="{FF2B5EF4-FFF2-40B4-BE49-F238E27FC236}">
                <a16:creationId xmlns:a16="http://schemas.microsoft.com/office/drawing/2014/main" id="{02B8DA57-5497-4DFF-9088-B820909547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2880" y="0"/>
            <a:ext cx="4389120" cy="6189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7637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Day 2 Activities 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Core Process 3: Discover and Understand Details</a:t>
            </a:r>
          </a:p>
          <a:p>
            <a:pPr lvl="1"/>
            <a:r>
              <a:rPr lang="en-US" altLang="en-US" dirty="0"/>
              <a:t>Do </a:t>
            </a:r>
            <a:r>
              <a:rPr lang="en-US" altLang="en-US" i="1" dirty="0"/>
              <a:t>preliminary</a:t>
            </a:r>
            <a:r>
              <a:rPr lang="en-US" altLang="en-US" dirty="0"/>
              <a:t> fact-finding to understand requirements</a:t>
            </a:r>
          </a:p>
          <a:p>
            <a:pPr lvl="1"/>
            <a:r>
              <a:rPr lang="en-US" altLang="en-US" dirty="0"/>
              <a:t>Develop a </a:t>
            </a:r>
            <a:r>
              <a:rPr lang="en-US" altLang="en-US" i="1" dirty="0"/>
              <a:t>preliminary</a:t>
            </a:r>
            <a:r>
              <a:rPr lang="en-US" altLang="en-US" dirty="0"/>
              <a:t> list of use cases and a use case diagram</a:t>
            </a:r>
          </a:p>
          <a:p>
            <a:pPr lvl="1"/>
            <a:r>
              <a:rPr lang="en-US" altLang="en-US" dirty="0"/>
              <a:t>Develop a </a:t>
            </a:r>
            <a:r>
              <a:rPr lang="en-US" altLang="en-US" i="1" dirty="0"/>
              <a:t>preliminary</a:t>
            </a:r>
            <a:r>
              <a:rPr lang="en-US" altLang="en-US" dirty="0"/>
              <a:t> list of classes and a class diagram</a:t>
            </a: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altLang="en-US"/>
              <a:t>Systems Analysis and Design in a Changing World, 7th Edition - Chapter 1   ©2016. Cengage Learning. All rights reserved</a:t>
            </a:r>
            <a:endParaRPr lang="en-US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E58FB-61FF-4226-A52D-7A38DC98E60B}" type="slidenum">
              <a:rPr lang="en-US" altLang="en-US" smtClean="0"/>
              <a:pPr/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600110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Identify Use Cases</a:t>
            </a:r>
            <a:br>
              <a:rPr lang="en-US" altLang="en-US" dirty="0"/>
            </a:br>
            <a:r>
              <a:rPr lang="en-US" altLang="en-US" sz="2700" dirty="0"/>
              <a:t>Both subsystems</a:t>
            </a:r>
            <a:r>
              <a:rPr lang="en-US" altLang="en-US" dirty="0"/>
              <a:t> </a:t>
            </a: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altLang="en-US"/>
              <a:t>Systems Analysis and Design in a Changing World, 7th Edition - Chapter 1   ©2016. Cengage Learning. All rights reserved</a:t>
            </a:r>
            <a:endParaRPr lang="en-US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D0139-9E0E-42F6-BF0C-A0F61512D4EE}" type="slidenum">
              <a:rPr lang="en-US" altLang="en-US" smtClean="0"/>
              <a:pPr/>
              <a:t>24</a:t>
            </a:fld>
            <a:endParaRPr lang="en-US" alt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212" y="1816754"/>
            <a:ext cx="7094719" cy="4262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1313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Identify Object Classes</a:t>
            </a:r>
            <a:br>
              <a:rPr lang="en-US" altLang="en-US" dirty="0"/>
            </a:br>
            <a:r>
              <a:rPr lang="en-US" altLang="en-US" sz="2400" dirty="0"/>
              <a:t>Both subsystems </a:t>
            </a:r>
            <a:endParaRPr lang="en-US" alt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altLang="en-US"/>
              <a:t>Systems Analysis and Design in a Changing World, 7th Edition - Chapter 1   ©2016. Cengage Learning. All rights reserved</a:t>
            </a:r>
            <a:endParaRPr lang="en-US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09200-D2DB-4A66-9460-7E784418D4BC}" type="slidenum">
              <a:rPr lang="en-US" altLang="en-US" smtClean="0"/>
              <a:pPr/>
              <a:t>25</a:t>
            </a:fld>
            <a:endParaRPr lang="en-US" alt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212" y="2259801"/>
            <a:ext cx="7620000" cy="2536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071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Preliminary Class Diagram</a:t>
            </a:r>
            <a:br>
              <a:rPr lang="en-US" altLang="en-US" dirty="0"/>
            </a:br>
            <a:r>
              <a:rPr lang="en-US" altLang="en-US" sz="2700" dirty="0"/>
              <a:t>Both subsystems</a:t>
            </a:r>
            <a:r>
              <a:rPr lang="en-US" altLang="en-US" dirty="0"/>
              <a:t> </a:t>
            </a: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altLang="en-US"/>
              <a:t>Systems Analysis and Design in a Changing World, 7th Edition - Chapter 1   ©2016. Cengage Learning. All rights reserved</a:t>
            </a:r>
            <a:endParaRPr lang="en-US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1F464-6478-4DF7-9082-E8008CB15547}" type="slidenum">
              <a:rPr lang="en-US" altLang="en-US" smtClean="0"/>
              <a:pPr/>
              <a:t>26</a:t>
            </a:fld>
            <a:endParaRPr lang="en-US" alt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212" y="1808030"/>
            <a:ext cx="6559004" cy="41919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20BA0AE-4A1E-4959-A9C1-C786ADBFD3BB}"/>
              </a:ext>
            </a:extLst>
          </p:cNvPr>
          <p:cNvSpPr txBox="1"/>
          <p:nvPr/>
        </p:nvSpPr>
        <p:spPr>
          <a:xfrm>
            <a:off x="9405257" y="2185851"/>
            <a:ext cx="2656114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Domain Class Model</a:t>
            </a:r>
          </a:p>
          <a:p>
            <a:pPr marL="285750" indent="-285750">
              <a:buFontTx/>
              <a:buChar char="-"/>
            </a:pPr>
            <a:r>
              <a:rPr lang="en-CA" dirty="0"/>
              <a:t>Notice:</a:t>
            </a:r>
          </a:p>
          <a:p>
            <a:pPr marL="742950" lvl="1" indent="-285750">
              <a:buFontTx/>
              <a:buChar char="-"/>
            </a:pPr>
            <a:r>
              <a:rPr lang="en-CA" sz="1600" dirty="0"/>
              <a:t>No keys</a:t>
            </a:r>
          </a:p>
          <a:p>
            <a:pPr marL="742950" lvl="1" indent="-285750">
              <a:buFontTx/>
              <a:buChar char="-"/>
            </a:pPr>
            <a:r>
              <a:rPr lang="en-CA" sz="1600" dirty="0"/>
              <a:t>No datatypes</a:t>
            </a:r>
          </a:p>
          <a:p>
            <a:pPr marL="742950" lvl="1" indent="-285750">
              <a:buFontTx/>
              <a:buChar char="-"/>
            </a:pPr>
            <a:endParaRPr lang="en-CA" dirty="0"/>
          </a:p>
          <a:p>
            <a:pPr marL="285750" indent="-285750">
              <a:buFontTx/>
              <a:buChar char="-"/>
            </a:pPr>
            <a:r>
              <a:rPr lang="en-CA" dirty="0"/>
              <a:t>Intent:</a:t>
            </a:r>
          </a:p>
          <a:p>
            <a:pPr marL="742950" lvl="1" indent="-285750">
              <a:buFontTx/>
              <a:buChar char="-"/>
            </a:pPr>
            <a:r>
              <a:rPr lang="en-CA" sz="1600" dirty="0"/>
              <a:t>Identify things of interest</a:t>
            </a:r>
          </a:p>
          <a:p>
            <a:pPr marL="742950" lvl="1" indent="-285750">
              <a:buFontTx/>
              <a:buChar char="-"/>
            </a:pPr>
            <a:r>
              <a:rPr lang="en-CA" sz="1600" dirty="0"/>
              <a:t>&amp; their properties</a:t>
            </a:r>
          </a:p>
          <a:p>
            <a:pPr marL="742950" lvl="1" indent="-285750">
              <a:buFontTx/>
              <a:buChar char="-"/>
            </a:pPr>
            <a:endParaRPr lang="en-CA" dirty="0"/>
          </a:p>
          <a:p>
            <a:pPr marL="285750" indent="-285750">
              <a:buFontTx/>
              <a:buChar char="-"/>
            </a:pPr>
            <a:r>
              <a:rPr lang="en-CA" dirty="0"/>
              <a:t>Discussion points for approval:</a:t>
            </a:r>
          </a:p>
          <a:p>
            <a:pPr marL="742950" lvl="1" indent="-285750">
              <a:buFontTx/>
              <a:buChar char="-"/>
            </a:pPr>
            <a:r>
              <a:rPr lang="en-CA" sz="1600" dirty="0"/>
              <a:t>Don't get users hung up on technical issues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8220494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Day 3 Activities 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Core Process 3: Discover and Understand Details</a:t>
            </a:r>
          </a:p>
          <a:p>
            <a:pPr lvl="1"/>
            <a:r>
              <a:rPr lang="en-US" altLang="en-US" dirty="0"/>
              <a:t>Do </a:t>
            </a:r>
            <a:r>
              <a:rPr lang="en-US" altLang="en-US" i="1" dirty="0"/>
              <a:t>in-depth</a:t>
            </a:r>
            <a:r>
              <a:rPr lang="en-US" altLang="en-US" dirty="0"/>
              <a:t> fact-finding to understand requirements</a:t>
            </a:r>
          </a:p>
          <a:p>
            <a:pPr lvl="1"/>
            <a:r>
              <a:rPr lang="en-US" altLang="en-US" dirty="0"/>
              <a:t>Understand and document the </a:t>
            </a:r>
            <a:r>
              <a:rPr lang="en-US" altLang="en-US" i="1" dirty="0"/>
              <a:t>detailed</a:t>
            </a:r>
            <a:r>
              <a:rPr lang="en-US" altLang="en-US" dirty="0"/>
              <a:t> workflow of each use case</a:t>
            </a: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altLang="en-US"/>
              <a:t>Systems Analysis and Design in a Changing World, 7th Edition - Chapter 1   ©2016. Cengage Learning. All rights reserved</a:t>
            </a:r>
            <a:endParaRPr lang="en-US" alt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A4BDC-8257-4D29-9CE7-52DFB71169DC}" type="slidenum">
              <a:rPr lang="en-US" altLang="en-US" smtClean="0"/>
              <a:pPr/>
              <a:t>27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504486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Supplier Information Subsystem</a:t>
            </a:r>
            <a:br>
              <a:rPr lang="en-US" altLang="en-US" dirty="0"/>
            </a:br>
            <a:r>
              <a:rPr lang="en-US" altLang="en-US" dirty="0"/>
              <a:t>Use Cases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US" alt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altLang="en-US"/>
              <a:t>Systems Analysis and Design in a Changing World, 7th Edition - Chapter 1   ©2016. Cengage Learning. All rights reserved</a:t>
            </a:r>
            <a:endParaRPr lang="en-US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D4137-2C96-4A82-8E39-57AA25E2D024}" type="slidenum">
              <a:rPr lang="en-US" altLang="en-US" smtClean="0"/>
              <a:pPr/>
              <a:t>28</a:t>
            </a:fld>
            <a:endParaRPr lang="en-US" alt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210D401-097C-427D-A954-CB71CACDA1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7442" y="2109603"/>
            <a:ext cx="8937335" cy="3323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3581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3100" dirty="0"/>
              <a:t>Supplier information subsystem</a:t>
            </a:r>
            <a:br>
              <a:rPr lang="en-US" altLang="en-US" dirty="0">
                <a:ln>
                  <a:noFill/>
                </a:ln>
              </a:rPr>
            </a:br>
            <a:r>
              <a:rPr lang="en-US" altLang="en-US" dirty="0">
                <a:ln>
                  <a:noFill/>
                </a:ln>
              </a:rPr>
              <a:t>Use Case Diagram</a:t>
            </a:r>
            <a:br>
              <a:rPr lang="en-US" altLang="en-US" dirty="0">
                <a:ln>
                  <a:noFill/>
                </a:ln>
              </a:rPr>
            </a:br>
            <a:endParaRPr lang="en-US" altLang="en-US" dirty="0">
              <a:ln>
                <a:noFill/>
              </a:ln>
            </a:endParaRPr>
          </a:p>
        </p:txBody>
      </p:sp>
      <p:pic>
        <p:nvPicPr>
          <p:cNvPr id="54275" name="Picture 7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89211" y="1776686"/>
            <a:ext cx="6035787" cy="4284480"/>
          </a:xfrm>
          <a:noFill/>
        </p:spPr>
      </p:pic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CA" altLang="en-US"/>
              <a:t>Systems Analysis and Design in a Changing World, 7th Edition - Chapter 1   ©2016. Cengage Learning. All rights reserved</a:t>
            </a:r>
            <a:endParaRPr lang="en-US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00FC2F-02F9-447C-8FCC-CE6B02CABA85}" type="slidenum">
              <a:rPr lang="en-US" altLang="en-US"/>
              <a:pPr>
                <a:defRPr/>
              </a:pPr>
              <a:t>29</a:t>
            </a:fld>
            <a:endParaRPr lang="en-US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1E5F9F-4E8E-4821-B496-646F2420C82B}"/>
              </a:ext>
            </a:extLst>
          </p:cNvPr>
          <p:cNvSpPr txBox="1"/>
          <p:nvPr/>
        </p:nvSpPr>
        <p:spPr>
          <a:xfrm>
            <a:off x="8856617" y="2272937"/>
            <a:ext cx="3274423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Two different </a:t>
            </a:r>
            <a:r>
              <a:rPr lang="en-CA" i="1" dirty="0"/>
              <a:t>Actors</a:t>
            </a:r>
          </a:p>
          <a:p>
            <a:endParaRPr lang="en-CA" i="1" dirty="0"/>
          </a:p>
          <a:p>
            <a:r>
              <a:rPr lang="en-CA" sz="1600" dirty="0"/>
              <a:t>With different interests in the system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B72783-FD3E-49E5-B4EB-D7D9E19E3844}"/>
              </a:ext>
            </a:extLst>
          </p:cNvPr>
          <p:cNvSpPr/>
          <p:nvPr/>
        </p:nvSpPr>
        <p:spPr>
          <a:xfrm>
            <a:off x="4927002" y="2130014"/>
            <a:ext cx="1441525" cy="903642"/>
          </a:xfrm>
          <a:prstGeom prst="rect">
            <a:avLst/>
          </a:prstGeom>
          <a:noFill/>
          <a:ln w="38100">
            <a:solidFill>
              <a:srgbClr val="FF0000"/>
            </a:solidFill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607033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2592926" y="624110"/>
            <a:ext cx="4948698" cy="1280890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Activity Diagram (Workflow)</a:t>
            </a:r>
            <a:br>
              <a:rPr lang="en-US" altLang="en-US" dirty="0"/>
            </a:br>
            <a:endParaRPr lang="en-US" altLang="en-US" dirty="0"/>
          </a:p>
        </p:txBody>
      </p:sp>
      <p:sp>
        <p:nvSpPr>
          <p:cNvPr id="55300" name="Text Placeholder 1"/>
          <p:cNvSpPr>
            <a:spLocks noGrp="1"/>
          </p:cNvSpPr>
          <p:nvPr>
            <p:ph idx="1"/>
          </p:nvPr>
        </p:nvSpPr>
        <p:spPr>
          <a:xfrm>
            <a:off x="2589212" y="1904999"/>
            <a:ext cx="5135291" cy="4225437"/>
          </a:xfrm>
        </p:spPr>
        <p:txBody>
          <a:bodyPr/>
          <a:lstStyle/>
          <a:p>
            <a:r>
              <a:rPr lang="en-US" altLang="en-US" dirty="0"/>
              <a:t>Use Case:</a:t>
            </a:r>
          </a:p>
          <a:p>
            <a:pPr lvl="1"/>
            <a:r>
              <a:rPr lang="en-US" altLang="en-US" b="1" dirty="0">
                <a:solidFill>
                  <a:srgbClr val="FF0000"/>
                </a:solidFill>
              </a:rPr>
              <a:t>Look up supplier</a:t>
            </a:r>
          </a:p>
          <a:p>
            <a:r>
              <a:rPr lang="en-US" altLang="en-US" dirty="0"/>
              <a:t>Doesn't include add &amp; update</a:t>
            </a:r>
          </a:p>
          <a:p>
            <a:pPr lvl="1"/>
            <a:r>
              <a:rPr lang="en-US" altLang="en-US" dirty="0"/>
              <a:t>Not all actors require these</a:t>
            </a: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altLang="en-US"/>
              <a:t>Systems Analysis and Design in a Changing World, 7th Edition - Chapter 1   ©2016. Cengage Learning. All rights reserved</a:t>
            </a:r>
            <a:endParaRPr lang="en-US" alt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12943-B480-4EDC-AFC1-60FC8A3A5499}" type="slidenum">
              <a:rPr lang="en-US" altLang="en-US" smtClean="0"/>
              <a:pPr/>
              <a:t>30</a:t>
            </a:fld>
            <a:endParaRPr lang="en-US" altLang="en-US"/>
          </a:p>
        </p:txBody>
      </p:sp>
      <p:pic>
        <p:nvPicPr>
          <p:cNvPr id="8" name="Picture Placeholder 6">
            <a:extLst>
              <a:ext uri="{FF2B5EF4-FFF2-40B4-BE49-F238E27FC236}">
                <a16:creationId xmlns:a16="http://schemas.microsoft.com/office/drawing/2014/main" id="{2D069E55-EB69-4429-9F9B-7AF0188541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44" r="2944"/>
          <a:stretch>
            <a:fillRect/>
          </a:stretch>
        </p:blipFill>
        <p:spPr>
          <a:xfrm>
            <a:off x="7541623" y="256032"/>
            <a:ext cx="4650377" cy="5852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7478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Day 4 Activities 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idx="1"/>
          </p:nvPr>
        </p:nvSpPr>
        <p:spPr>
          <a:xfrm>
            <a:off x="2589212" y="1905000"/>
            <a:ext cx="8915400" cy="4328890"/>
          </a:xfrm>
        </p:spPr>
        <p:txBody>
          <a:bodyPr>
            <a:normAutofit/>
          </a:bodyPr>
          <a:lstStyle/>
          <a:p>
            <a:r>
              <a:rPr lang="en-US" altLang="en-US" dirty="0"/>
              <a:t>Core Process 4: Design System Components</a:t>
            </a:r>
          </a:p>
          <a:p>
            <a:pPr lvl="1"/>
            <a:r>
              <a:rPr lang="en-US" altLang="en-US" dirty="0"/>
              <a:t>Define the user experience with screens and report sketches (prototyping)</a:t>
            </a:r>
          </a:p>
          <a:p>
            <a:r>
              <a:rPr lang="en-US" altLang="en-US" dirty="0"/>
              <a:t>Core Process 4: Design System Components</a:t>
            </a:r>
          </a:p>
          <a:p>
            <a:pPr lvl="1"/>
            <a:r>
              <a:rPr lang="en-US" altLang="en-US" dirty="0"/>
              <a:t>Design the database (schema)</a:t>
            </a:r>
          </a:p>
          <a:p>
            <a:pPr lvl="1"/>
            <a:r>
              <a:rPr lang="en-US" altLang="en-US" dirty="0"/>
              <a:t>Design the system’s high level structure</a:t>
            </a:r>
          </a:p>
          <a:p>
            <a:pPr lvl="2"/>
            <a:r>
              <a:rPr lang="en-US" altLang="en-US" dirty="0"/>
              <a:t>Browser, Windows, or Smart phone</a:t>
            </a:r>
          </a:p>
          <a:p>
            <a:pPr lvl="2"/>
            <a:r>
              <a:rPr lang="en-US" altLang="en-US" dirty="0"/>
              <a:t>Architectural configuration (components)</a:t>
            </a:r>
          </a:p>
          <a:p>
            <a:pPr lvl="2"/>
            <a:r>
              <a:rPr lang="en-US" altLang="en-US" dirty="0"/>
              <a:t>Design class diagram </a:t>
            </a:r>
          </a:p>
          <a:p>
            <a:pPr lvl="2"/>
            <a:r>
              <a:rPr lang="en-US" altLang="en-US" dirty="0"/>
              <a:t>Subsystem architectural design</a:t>
            </a:r>
          </a:p>
          <a:p>
            <a:pPr lvl="2"/>
            <a:endParaRPr lang="en-US" alt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altLang="en-US"/>
              <a:t>Systems Analysis and Design in a Changing World, 7th Edition - Chapter 1   ©2016. Cengage Learning. All rights reserved</a:t>
            </a:r>
            <a:endParaRPr lang="en-US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BC6CE-7F97-483A-A12C-AFC03A7779EC}" type="slidenum">
              <a:rPr lang="en-US" altLang="en-US" smtClean="0"/>
              <a:pPr/>
              <a:t>31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294160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Draft Screen Layout (prototype)</a:t>
            </a:r>
            <a:br>
              <a:rPr lang="en-US" altLang="en-US" dirty="0"/>
            </a:br>
            <a:r>
              <a:rPr lang="en-US" altLang="en-US" sz="2800" b="1" i="1" dirty="0"/>
              <a:t>Look up supplier </a:t>
            </a:r>
            <a:r>
              <a:rPr lang="en-US" altLang="en-US" sz="2800" dirty="0"/>
              <a:t>use case</a:t>
            </a:r>
            <a:endParaRPr lang="en-US" alt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altLang="en-US"/>
              <a:t>Systems Analysis and Design in a Changing World, 7th Edition - Chapter 1   ©2016. Cengage Learning. All rights reserved</a:t>
            </a:r>
            <a:endParaRPr lang="en-US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4E7B2-E000-4689-933D-767BCA82C518}" type="slidenum">
              <a:rPr lang="en-US" altLang="en-US" smtClean="0"/>
              <a:pPr/>
              <a:t>32</a:t>
            </a:fld>
            <a:endParaRPr lang="en-US" alt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212" y="1698172"/>
            <a:ext cx="6380617" cy="4294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5310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ln>
                  <a:noFill/>
                </a:ln>
              </a:rPr>
              <a:t>Database Schema</a:t>
            </a:r>
            <a:endParaRPr lang="en-US" altLang="en-US" sz="240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CA" altLang="en-US"/>
              <a:t>Systems Analysis and Design in a Changing World, 7th Edition - Chapter 1   ©2016. Cengage Learning. All rights reserved</a:t>
            </a:r>
            <a:endParaRPr lang="en-US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961D67-D4B7-4652-BF16-07FA7CDA2A26}" type="slidenum">
              <a:rPr lang="en-US" altLang="en-US"/>
              <a:pPr>
                <a:defRPr/>
              </a:pPr>
              <a:t>33</a:t>
            </a:fld>
            <a:endParaRPr lang="en-US" alt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212" y="1518804"/>
            <a:ext cx="6115294" cy="454236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854C513-64FC-49A6-A936-2D9A726D7798}"/>
              </a:ext>
            </a:extLst>
          </p:cNvPr>
          <p:cNvSpPr txBox="1"/>
          <p:nvPr/>
        </p:nvSpPr>
        <p:spPr>
          <a:xfrm>
            <a:off x="7393577" y="3892731"/>
            <a:ext cx="41983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dirty="0"/>
              <a:t>Huh … You won't make this mistake, RIGHT?</a:t>
            </a: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B74381C3-1D6F-4708-88F9-1F96A28F311D}"/>
              </a:ext>
            </a:extLst>
          </p:cNvPr>
          <p:cNvSpPr/>
          <p:nvPr/>
        </p:nvSpPr>
        <p:spPr>
          <a:xfrm>
            <a:off x="6351814" y="4033701"/>
            <a:ext cx="1062446" cy="8709"/>
          </a:xfrm>
          <a:custGeom>
            <a:avLst/>
            <a:gdLst>
              <a:gd name="connsiteX0" fmla="*/ 1062446 w 1062446"/>
              <a:gd name="connsiteY0" fmla="*/ 8709 h 8709"/>
              <a:gd name="connsiteX1" fmla="*/ 0 w 1062446"/>
              <a:gd name="connsiteY1" fmla="*/ 0 h 87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62446" h="8709">
                <a:moveTo>
                  <a:pt x="1062446" y="8709"/>
                </a:moveTo>
                <a:lnTo>
                  <a:pt x="0" y="0"/>
                </a:lnTo>
              </a:path>
            </a:pathLst>
          </a:custGeom>
          <a:noFill/>
          <a:ln w="38100"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516436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Architectural Configuration Diagram</a:t>
            </a: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CA" altLang="en-US"/>
              <a:t>Systems Analysis and Design in a Changing World, 7th Edition - Chapter 1   ©2016. Cengage Learning. All rights reserved</a:t>
            </a:r>
            <a:endParaRPr lang="en-US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862EEE-211D-42B5-90B4-01D1983DD75D}" type="slidenum">
              <a:rPr lang="en-US" altLang="en-US"/>
              <a:pPr>
                <a:defRPr/>
              </a:pPr>
              <a:t>34</a:t>
            </a:fld>
            <a:endParaRPr lang="en-US" alt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212" y="1436915"/>
            <a:ext cx="6276114" cy="4544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4059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2592926" y="624110"/>
            <a:ext cx="4243303" cy="224101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800" dirty="0"/>
              <a:t>Preliminary Design Class Diagram</a:t>
            </a:r>
            <a:br>
              <a:rPr lang="en-US" altLang="en-US" sz="2800" dirty="0"/>
            </a:br>
            <a:br>
              <a:rPr lang="en-US" altLang="en-US" sz="2800" dirty="0"/>
            </a:br>
            <a:r>
              <a:rPr lang="en-US" altLang="en-US" sz="2200" dirty="0"/>
              <a:t>- View Layer Classes</a:t>
            </a:r>
            <a:br>
              <a:rPr lang="en-US" altLang="en-US" sz="2200" dirty="0"/>
            </a:br>
            <a:r>
              <a:rPr lang="en-US" altLang="en-US" sz="2200" dirty="0"/>
              <a:t>- Domain Layer Classes</a:t>
            </a:r>
            <a:endParaRPr lang="en-US" altLang="en-US" sz="2000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9212" y="6135808"/>
            <a:ext cx="7619999" cy="466160"/>
          </a:xfrm>
        </p:spPr>
        <p:txBody>
          <a:bodyPr/>
          <a:lstStyle/>
          <a:p>
            <a:pPr>
              <a:defRPr/>
            </a:pPr>
            <a:r>
              <a:rPr lang="en-CA" altLang="en-US"/>
              <a:t>Systems Analysis and Design in a Changing World, 7th Edition - Chapter 1   ©2016. Cengage Learning. All rights reserved</a:t>
            </a:r>
            <a:endParaRPr lang="en-US" alt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E8F42B-8E36-4093-BD62-238CA372CF7E}" type="slidenum">
              <a:rPr lang="en-US" altLang="en-US"/>
              <a:pPr>
                <a:defRPr/>
              </a:pPr>
              <a:t>35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626EB6-D715-4D0A-B88A-F316C40E48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5897" y="242535"/>
            <a:ext cx="5286103" cy="5893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3117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Subsystem Architectural Design Diagram</a:t>
            </a:r>
          </a:p>
        </p:txBody>
      </p:sp>
      <p:pic>
        <p:nvPicPr>
          <p:cNvPr id="3" name="Picture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89212" y="1264555"/>
            <a:ext cx="5187542" cy="4863793"/>
          </a:xfrm>
          <a:prstGeom prst="rect">
            <a:avLst/>
          </a:prstGeom>
        </p:spPr>
      </p:pic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CA" altLang="en-US"/>
              <a:t>Systems Analysis and Design in a Changing World, 7th Edition - Chapter 1   ©2016. Cengage Learning. All rights reserved</a:t>
            </a:r>
            <a:endParaRPr lang="en-US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074296-5830-4AE4-9126-1DED05108788}" type="slidenum">
              <a:rPr lang="en-US" altLang="en-US"/>
              <a:pPr>
                <a:defRPr/>
              </a:pPr>
              <a:t>36</a:t>
            </a:fld>
            <a:endParaRPr lang="en-US" altLang="en-US"/>
          </a:p>
        </p:txBody>
      </p:sp>
      <p:sp>
        <p:nvSpPr>
          <p:cNvPr id="61444" name="Text Placeholder 1"/>
          <p:cNvSpPr>
            <a:spLocks noGrp="1"/>
          </p:cNvSpPr>
          <p:nvPr>
            <p:ph type="body" sz="half" idx="4294967295"/>
          </p:nvPr>
        </p:nvSpPr>
        <p:spPr>
          <a:xfrm>
            <a:off x="0" y="3255963"/>
            <a:ext cx="3632200" cy="1828800"/>
          </a:xfrm>
        </p:spPr>
        <p:txBody>
          <a:bodyPr/>
          <a:lstStyle/>
          <a:p>
            <a:pPr eaLnBrk="1" hangingPunct="1"/>
            <a:r>
              <a:rPr lang="en-US" alt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7686556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Notes on Managing the Project 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idx="1"/>
          </p:nvPr>
        </p:nvSpPr>
        <p:spPr>
          <a:xfrm>
            <a:off x="2589212" y="1642606"/>
            <a:ext cx="8915400" cy="4225437"/>
          </a:xfrm>
        </p:spPr>
        <p:txBody>
          <a:bodyPr/>
          <a:lstStyle/>
          <a:p>
            <a:r>
              <a:rPr lang="en-US" altLang="en-US" dirty="0"/>
              <a:t>Lots of design diagrams were just shown</a:t>
            </a:r>
          </a:p>
          <a:p>
            <a:pPr lvl="1"/>
            <a:r>
              <a:rPr lang="en-US" altLang="en-US" dirty="0"/>
              <a:t>Usually only in a complex activity with multiple levels</a:t>
            </a:r>
          </a:p>
          <a:p>
            <a:pPr lvl="2"/>
            <a:r>
              <a:rPr lang="en-US" altLang="en-US" dirty="0"/>
              <a:t>Diagrams can build on or complements others</a:t>
            </a:r>
          </a:p>
          <a:p>
            <a:pPr lvl="3"/>
            <a:r>
              <a:rPr lang="en-US" altLang="en-US" dirty="0"/>
              <a:t>Changes cause a cascade update</a:t>
            </a:r>
          </a:p>
          <a:p>
            <a:r>
              <a:rPr lang="en-US" altLang="en-US" dirty="0"/>
              <a:t>Not everything needs to be diagrammed</a:t>
            </a:r>
          </a:p>
          <a:p>
            <a:pPr lvl="1"/>
            <a:r>
              <a:rPr lang="en-US" altLang="en-US" dirty="0"/>
              <a:t>Especially for a small project </a:t>
            </a:r>
            <a:r>
              <a:rPr lang="en-US" altLang="en-US" dirty="0">
                <a:sym typeface="Wingdings" panose="05000000000000000000" pitchFamily="2" charset="2"/>
              </a:rPr>
              <a:t></a:t>
            </a:r>
            <a:r>
              <a:rPr lang="en-US" altLang="en-US" dirty="0"/>
              <a:t> pick and choose.</a:t>
            </a:r>
          </a:p>
          <a:p>
            <a:r>
              <a:rPr lang="en-US" altLang="en-US" dirty="0"/>
              <a:t>Programming is also done concurrently</a:t>
            </a:r>
          </a:p>
          <a:p>
            <a:pPr lvl="1"/>
            <a:r>
              <a:rPr lang="en-US" altLang="en-US" dirty="0"/>
              <a:t>You don’t design everything then code</a:t>
            </a:r>
          </a:p>
          <a:p>
            <a:pPr lvl="1"/>
            <a:r>
              <a:rPr lang="en-US" altLang="en-US" dirty="0"/>
              <a:t>You do some design, some coding, some design, some coding</a:t>
            </a: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altLang="en-US"/>
              <a:t>Systems Analysis and Design in a Changing World, 7th Edition - Chapter 1   ©2016. Cengage Learning. All rights reserved</a:t>
            </a:r>
            <a:endParaRPr lang="en-US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EBBC-0735-4BE7-B716-AF917E853B97}" type="slidenum">
              <a:rPr lang="en-US" altLang="en-US" smtClean="0"/>
              <a:pPr/>
              <a:t>37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8772019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Day 5 Activities 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Core Process 4: Design System Components</a:t>
            </a:r>
          </a:p>
          <a:p>
            <a:pPr lvl="1"/>
            <a:r>
              <a:rPr lang="en-US" altLang="en-US" dirty="0"/>
              <a:t>Continue with design details</a:t>
            </a:r>
          </a:p>
          <a:p>
            <a:pPr lvl="1"/>
            <a:r>
              <a:rPr lang="en-US" altLang="en-US" dirty="0"/>
              <a:t>Proceed use case by use case</a:t>
            </a:r>
          </a:p>
          <a:p>
            <a:r>
              <a:rPr lang="en-US" altLang="en-US" dirty="0"/>
              <a:t>Core Process 5: Build, Test, and Integrate System Components</a:t>
            </a:r>
          </a:p>
          <a:p>
            <a:pPr lvl="1"/>
            <a:r>
              <a:rPr lang="en-US" altLang="en-US" dirty="0"/>
              <a:t>Continue programming (build)</a:t>
            </a:r>
          </a:p>
          <a:p>
            <a:pPr lvl="1"/>
            <a:r>
              <a:rPr lang="en-US" altLang="en-US" dirty="0"/>
              <a:t>Build use case by use case</a:t>
            </a:r>
          </a:p>
          <a:p>
            <a:pPr lvl="1"/>
            <a:r>
              <a:rPr lang="en-US" altLang="en-US" dirty="0"/>
              <a:t>Perform unit and integration tests</a:t>
            </a: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altLang="en-US"/>
              <a:t>Systems Analysis and Design in a Changing World, 7th Edition - Chapter 1   ©2016. Cengage Learning. All rights reserved</a:t>
            </a:r>
            <a:endParaRPr lang="en-US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5B5E7-9B16-4200-95EE-58D6A8A9B24F}" type="slidenum">
              <a:rPr lang="en-US" altLang="en-US" smtClean="0"/>
              <a:pPr/>
              <a:t>38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8004823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Code Example for One Component</a:t>
            </a:r>
          </a:p>
        </p:txBody>
      </p:sp>
      <p:pic>
        <p:nvPicPr>
          <p:cNvPr id="3" name="Picture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85331" y="1176856"/>
            <a:ext cx="5248178" cy="4976721"/>
          </a:xfrm>
          <a:prstGeom prst="rect">
            <a:avLst/>
          </a:prstGeom>
        </p:spPr>
      </p:pic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CA" altLang="en-US"/>
              <a:t>Systems Analysis and Design in a Changing World, 7th Edition - Chapter 1   ©2016. Cengage Learning. All rights reserved</a:t>
            </a:r>
            <a:endParaRPr lang="en-US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37BA981-676D-46CD-92DF-F6DD056F45E0}" type="slidenum">
              <a:rPr lang="en-US" altLang="en-US"/>
              <a:pPr>
                <a:defRPr/>
              </a:pPr>
              <a:t>39</a:t>
            </a:fld>
            <a:endParaRPr lang="en-US" altLang="en-US"/>
          </a:p>
        </p:txBody>
      </p:sp>
      <p:sp>
        <p:nvSpPr>
          <p:cNvPr id="64516" name="Text Placeholder 1"/>
          <p:cNvSpPr>
            <a:spLocks noGrp="1"/>
          </p:cNvSpPr>
          <p:nvPr>
            <p:ph type="body" sz="half" idx="4294967295"/>
          </p:nvPr>
        </p:nvSpPr>
        <p:spPr>
          <a:xfrm>
            <a:off x="0" y="3255963"/>
            <a:ext cx="3632200" cy="1828800"/>
          </a:xfrm>
        </p:spPr>
        <p:txBody>
          <a:bodyPr/>
          <a:lstStyle/>
          <a:p>
            <a:pPr eaLnBrk="1" hangingPunct="1"/>
            <a:r>
              <a:rPr lang="en-US" alt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3457839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Day 6 Activities 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idx="1"/>
          </p:nvPr>
        </p:nvSpPr>
        <p:spPr>
          <a:xfrm>
            <a:off x="2589212" y="1905000"/>
            <a:ext cx="8915400" cy="3990704"/>
          </a:xfrm>
        </p:spPr>
        <p:txBody>
          <a:bodyPr/>
          <a:lstStyle/>
          <a:p>
            <a:r>
              <a:rPr lang="en-US" altLang="en-US" dirty="0"/>
              <a:t>Core Process 6: Complete System Testing and Deploy the System </a:t>
            </a:r>
          </a:p>
          <a:p>
            <a:pPr lvl="1"/>
            <a:r>
              <a:rPr lang="en-US" altLang="en-US" dirty="0"/>
              <a:t>Perform system functional testing</a:t>
            </a:r>
          </a:p>
          <a:p>
            <a:pPr lvl="1"/>
            <a:r>
              <a:rPr lang="en-US" altLang="en-US" dirty="0"/>
              <a:t>Perform user acceptance testing</a:t>
            </a:r>
          </a:p>
          <a:p>
            <a:pPr lvl="1"/>
            <a:r>
              <a:rPr lang="en-US" altLang="en-US" dirty="0"/>
              <a:t>Possibly deploy part of system</a:t>
            </a:r>
          </a:p>
          <a:p>
            <a:pPr lvl="1"/>
            <a:endParaRPr lang="en-US" alt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altLang="en-US"/>
              <a:t>Systems Analysis and Design in a Changing World, 7th Edition - Chapter 1   ©2016. Cengage Learning. All rights reserved</a:t>
            </a:r>
            <a:endParaRPr lang="en-US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49B9B-04BC-4F12-8755-0C9AA3694FEB}" type="slidenum">
              <a:rPr lang="en-US" altLang="en-US" smtClean="0"/>
              <a:pPr/>
              <a:t>40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6826970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Workflow of Testing Tasks</a:t>
            </a:r>
          </a:p>
        </p:txBody>
      </p:sp>
      <p:pic>
        <p:nvPicPr>
          <p:cNvPr id="66563" name="Picture 7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9212" y="1999694"/>
            <a:ext cx="9026250" cy="2694225"/>
          </a:xfrm>
          <a:noFill/>
        </p:spPr>
      </p:pic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altLang="en-US"/>
              <a:t>Systems Analysis and Design in a Changing World, 7th Edition - Chapter 1   ©2016. Cengage Learning. All rights reserved</a:t>
            </a:r>
            <a:endParaRPr lang="en-US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2DD59-4FAE-4ACC-9BDB-FD2E36FC9747}" type="slidenum">
              <a:rPr lang="en-US" altLang="en-US" smtClean="0"/>
              <a:pPr/>
              <a:t>41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03208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First Iteration Recap 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idx="1"/>
          </p:nvPr>
        </p:nvSpPr>
        <p:spPr>
          <a:xfrm>
            <a:off x="2589212" y="1611087"/>
            <a:ext cx="8915400" cy="4519350"/>
          </a:xfrm>
        </p:spPr>
        <p:txBody>
          <a:bodyPr/>
          <a:lstStyle/>
          <a:p>
            <a:r>
              <a:rPr lang="en-US" altLang="en-US" dirty="0"/>
              <a:t>This was a 6-day iteration of a small project</a:t>
            </a:r>
          </a:p>
          <a:p>
            <a:pPr lvl="1"/>
            <a:r>
              <a:rPr lang="en-US" altLang="en-US" dirty="0"/>
              <a:t>Most iterations are longer (2 to 4 weeks)</a:t>
            </a:r>
          </a:p>
          <a:p>
            <a:pPr lvl="1"/>
            <a:r>
              <a:rPr lang="en-US" altLang="en-US" dirty="0"/>
              <a:t>This project might be 2 iterations</a:t>
            </a:r>
          </a:p>
          <a:p>
            <a:pPr lvl="1"/>
            <a:r>
              <a:rPr lang="en-US" altLang="en-US" dirty="0"/>
              <a:t>Most projects have many more iterations </a:t>
            </a:r>
          </a:p>
          <a:p>
            <a:r>
              <a:rPr lang="en-US" altLang="en-US" dirty="0"/>
              <a:t>End users need to be involved</a:t>
            </a:r>
          </a:p>
          <a:p>
            <a:pPr lvl="1"/>
            <a:r>
              <a:rPr lang="en-US" altLang="en-US" dirty="0"/>
              <a:t>…particularly in days 1, 2, 3 and 6. </a:t>
            </a:r>
          </a:p>
          <a:p>
            <a:r>
              <a:rPr lang="en-US" altLang="en-US" dirty="0"/>
              <a:t>Days 4 and 5 involve designing and programming concurrently.</a:t>
            </a:r>
          </a:p>
          <a:p>
            <a:pPr lvl="1"/>
            <a:endParaRPr lang="en-US" alt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altLang="en-US"/>
              <a:t>Systems Analysis and Design in a Changing World, 7th Edition - Chapter 1   ©2016. Cengage Learning. All rights reserved</a:t>
            </a:r>
            <a:endParaRPr lang="en-US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7336D-2083-401A-AAB0-7E327D396D0A}" type="slidenum">
              <a:rPr lang="en-US" altLang="en-US" smtClean="0"/>
              <a:pPr/>
              <a:t>42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5770994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ln>
                  <a:noFill/>
                </a:ln>
              </a:rPr>
              <a:t>Summary – Terms to know &amp; use </a:t>
            </a:r>
          </a:p>
        </p:txBody>
      </p:sp>
      <p:sp>
        <p:nvSpPr>
          <p:cNvPr id="77827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2394872" y="1470418"/>
            <a:ext cx="4586581" cy="444080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US" altLang="en-US" dirty="0"/>
              <a:t>Computer application</a:t>
            </a:r>
          </a:p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US" altLang="en-US" dirty="0"/>
              <a:t>Information system</a:t>
            </a:r>
          </a:p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US" altLang="en-US" dirty="0"/>
              <a:t>Project</a:t>
            </a:r>
          </a:p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US" altLang="en-US" dirty="0"/>
              <a:t>Systems analysis</a:t>
            </a:r>
          </a:p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US" altLang="en-US" dirty="0"/>
              <a:t>System design</a:t>
            </a:r>
          </a:p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US" altLang="en-US" dirty="0"/>
              <a:t>System development lifecycle (SDLC)</a:t>
            </a:r>
          </a:p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US" altLang="en-US" dirty="0"/>
              <a:t>Information system development process (methodology)</a:t>
            </a:r>
          </a:p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US" altLang="en-US" dirty="0"/>
              <a:t>Agile development</a:t>
            </a:r>
          </a:p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US" altLang="en-US" dirty="0"/>
              <a:t>Iterative development</a:t>
            </a:r>
          </a:p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US" altLang="en-US" dirty="0"/>
              <a:t>System vision document</a:t>
            </a:r>
          </a:p>
          <a:p>
            <a:pPr>
              <a:lnSpc>
                <a:spcPct val="90000"/>
              </a:lnSpc>
              <a:spcBef>
                <a:spcPts val="600"/>
              </a:spcBef>
            </a:pPr>
            <a:endParaRPr lang="en-US" alt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AC2B05B-D1CD-4F98-A3A3-3F41FAFFEE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05419" y="1463040"/>
            <a:ext cx="4586581" cy="444080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US" altLang="en-US" dirty="0"/>
              <a:t>Work breakdown structure</a:t>
            </a:r>
          </a:p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US" altLang="en-US" dirty="0"/>
              <a:t>Work sequence draft</a:t>
            </a:r>
          </a:p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US" altLang="en-US" dirty="0"/>
              <a:t>Use cases </a:t>
            </a:r>
          </a:p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US" altLang="en-US" dirty="0"/>
              <a:t>Use case diagram</a:t>
            </a:r>
          </a:p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US" altLang="en-US" dirty="0"/>
              <a:t>Object classes (domain classes)</a:t>
            </a:r>
          </a:p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US" altLang="en-US" dirty="0"/>
              <a:t>Class diagram</a:t>
            </a:r>
          </a:p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US" altLang="en-US" dirty="0"/>
              <a:t>Design class diagram</a:t>
            </a:r>
          </a:p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US" altLang="en-US" dirty="0"/>
              <a:t>High level structural design (architectural design)</a:t>
            </a:r>
          </a:p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US" altLang="en-US" dirty="0"/>
              <a:t>Database schema</a:t>
            </a:r>
          </a:p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US" altLang="en-US" dirty="0"/>
              <a:t>Screen layout</a:t>
            </a:r>
          </a:p>
          <a:p>
            <a:pPr>
              <a:spcBef>
                <a:spcPts val="600"/>
              </a:spcBef>
            </a:pPr>
            <a:endParaRPr lang="en-CA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9213" y="6135808"/>
            <a:ext cx="5605554" cy="421746"/>
          </a:xfrm>
        </p:spPr>
        <p:txBody>
          <a:bodyPr/>
          <a:lstStyle/>
          <a:p>
            <a:pPr>
              <a:defRPr/>
            </a:pPr>
            <a:r>
              <a:rPr lang="en-CA" altLang="en-US"/>
              <a:t>Systems Analysis and Design in a Changing World, 7th Edition - Chapter 1   ©2016. Cengage Learning. All rights reserved</a:t>
            </a:r>
            <a:endParaRPr lang="en-US" alt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AA53DBA-394F-4580-8533-66CC6202EFBF}" type="slidenum">
              <a:rPr lang="en-US" altLang="en-US"/>
              <a:pPr>
                <a:defRPr/>
              </a:pPr>
              <a:t>43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92409630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>
    <a:spDef>
      <a:spPr>
        <a:noFill/>
        <a:ln w="38100">
          <a:tailEnd type="stealth" w="lg" len="lg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04D_InputMasks</Template>
  <TotalTime>596</TotalTime>
  <Words>2412</Words>
  <Application>Microsoft Office PowerPoint</Application>
  <PresentationFormat>Widescreen</PresentationFormat>
  <Paragraphs>313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8" baseType="lpstr">
      <vt:lpstr>Arial</vt:lpstr>
      <vt:lpstr>Calibri</vt:lpstr>
      <vt:lpstr>Century Gothic</vt:lpstr>
      <vt:lpstr>Wingdings 3</vt:lpstr>
      <vt:lpstr>Wisp</vt:lpstr>
      <vt:lpstr>The Systems Development Life Cycle (SDLC)</vt:lpstr>
      <vt:lpstr>Software Development</vt:lpstr>
      <vt:lpstr>The Systems Development Life Cycle (SDLC)</vt:lpstr>
      <vt:lpstr>System Development Process</vt:lpstr>
      <vt:lpstr>Agile &amp; Iterative Development</vt:lpstr>
      <vt:lpstr>Evolution of the project - each iteration is a mini-project - all use the six core processes, but their emphasis evolves</vt:lpstr>
      <vt:lpstr>Evolution of the project - each iteration is a mini-project - all use the six core processes, but their emphasis evolves</vt:lpstr>
      <vt:lpstr>Evolution of the project - each iteration is a mini-project - all use the six core processes, but their emphasis evolves</vt:lpstr>
      <vt:lpstr>Evolution of the project - each iteration is a mini-project - all use the six core processes, but their emphasis evolves</vt:lpstr>
      <vt:lpstr>Deployment can happen at any time </vt:lpstr>
      <vt:lpstr>RMO – Sample Project in 6 days</vt:lpstr>
      <vt:lpstr>Ridgeline Mountain Outfitters (RMO) </vt:lpstr>
      <vt:lpstr>RMO Marketing</vt:lpstr>
      <vt:lpstr>RMO Tradeshow System </vt:lpstr>
      <vt:lpstr>Initial Activities – pre-project</vt:lpstr>
      <vt:lpstr> </vt:lpstr>
      <vt:lpstr>System Vision Document Problem Description </vt:lpstr>
      <vt:lpstr>System Vision Document System Capabilities</vt:lpstr>
      <vt:lpstr>System Vision Document Business Benefits</vt:lpstr>
      <vt:lpstr>Day 1 Activities </vt:lpstr>
      <vt:lpstr>Work Breakdown Structure for Iteration        </vt:lpstr>
      <vt:lpstr>Work Sequence Draft for Iteration </vt:lpstr>
      <vt:lpstr>Day 2 Activities </vt:lpstr>
      <vt:lpstr>Identify Use Cases Both subsystems </vt:lpstr>
      <vt:lpstr>Identify Object Classes Both subsystems </vt:lpstr>
      <vt:lpstr>Preliminary Class Diagram Both subsystems </vt:lpstr>
      <vt:lpstr>Day 3 Activities </vt:lpstr>
      <vt:lpstr>Supplier Information Subsystem Use Cases</vt:lpstr>
      <vt:lpstr>Supplier information subsystem Use Case Diagram </vt:lpstr>
      <vt:lpstr>Activity Diagram (Workflow) </vt:lpstr>
      <vt:lpstr>Day 4 Activities </vt:lpstr>
      <vt:lpstr>Draft Screen Layout (prototype) Look up supplier use case</vt:lpstr>
      <vt:lpstr>Database Schema</vt:lpstr>
      <vt:lpstr>Architectural Configuration Diagram</vt:lpstr>
      <vt:lpstr>Preliminary Design Class Diagram  - View Layer Classes - Domain Layer Classes</vt:lpstr>
      <vt:lpstr>Subsystem Architectural Design Diagram</vt:lpstr>
      <vt:lpstr>Notes on Managing the Project </vt:lpstr>
      <vt:lpstr>Day 5 Activities </vt:lpstr>
      <vt:lpstr>Code Example for One Component</vt:lpstr>
      <vt:lpstr>Day 6 Activities </vt:lpstr>
      <vt:lpstr>Workflow of Testing Tasks</vt:lpstr>
      <vt:lpstr>First Iteration Recap </vt:lpstr>
      <vt:lpstr>Summary – Terms to know &amp; use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and Susan Turton</dc:creator>
  <cp:lastModifiedBy>Yasser Ebrahim</cp:lastModifiedBy>
  <cp:revision>63</cp:revision>
  <dcterms:created xsi:type="dcterms:W3CDTF">2018-06-06T17:05:03Z</dcterms:created>
  <dcterms:modified xsi:type="dcterms:W3CDTF">2025-09-05T22:52:08Z</dcterms:modified>
</cp:coreProperties>
</file>