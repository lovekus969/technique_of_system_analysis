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34"/>
  </p:notesMasterIdLst>
  <p:sldIdLst>
    <p:sldId id="256" r:id="rId2"/>
    <p:sldId id="263" r:id="rId3"/>
    <p:sldId id="365" r:id="rId4"/>
    <p:sldId id="315" r:id="rId5"/>
    <p:sldId id="366" r:id="rId6"/>
    <p:sldId id="367" r:id="rId7"/>
    <p:sldId id="316" r:id="rId8"/>
    <p:sldId id="368" r:id="rId9"/>
    <p:sldId id="320" r:id="rId10"/>
    <p:sldId id="369" r:id="rId11"/>
    <p:sldId id="319" r:id="rId12"/>
    <p:sldId id="370" r:id="rId13"/>
    <p:sldId id="371" r:id="rId14"/>
    <p:sldId id="372" r:id="rId15"/>
    <p:sldId id="401" r:id="rId16"/>
    <p:sldId id="373" r:id="rId17"/>
    <p:sldId id="374" r:id="rId18"/>
    <p:sldId id="375" r:id="rId19"/>
    <p:sldId id="377" r:id="rId20"/>
    <p:sldId id="402" r:id="rId21"/>
    <p:sldId id="378" r:id="rId22"/>
    <p:sldId id="379" r:id="rId23"/>
    <p:sldId id="380" r:id="rId24"/>
    <p:sldId id="381" r:id="rId25"/>
    <p:sldId id="404" r:id="rId26"/>
    <p:sldId id="403" r:id="rId27"/>
    <p:sldId id="405" r:id="rId28"/>
    <p:sldId id="406" r:id="rId29"/>
    <p:sldId id="395" r:id="rId30"/>
    <p:sldId id="394" r:id="rId31"/>
    <p:sldId id="400" r:id="rId32"/>
    <p:sldId id="364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936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85EAF-15A8-4824-8602-B0688E4B35B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818EF-E24B-45C2-8BDA-A43363402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040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0818EF-E24B-45C2-8BDA-A4336340248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061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 sz="1200" baseline="0"/>
            </a:lvl1pPr>
          </a:lstStyle>
          <a:p>
            <a:fld id="{CD734F24-0806-4C88-B137-81C1BC9041A3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3" y="6135808"/>
            <a:ext cx="5701348" cy="447872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161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904999"/>
            <a:ext cx="8915400" cy="42254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D2242F1B-6B1D-464E-BFD4-958F4DA54C2E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5866811" cy="46616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67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B5252840-EC1A-46DA-857E-3D63F2472141}" type="datetime1">
              <a:rPr lang="en-US" smtClean="0"/>
              <a:t>9/25/2025</a:t>
            </a:fld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D1C4824-63FE-4934-850C-1649171EE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5683931" cy="46616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51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00D36345-5535-4E0F-8E84-3120A004F44A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3" y="6135808"/>
            <a:ext cx="5762308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22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C29AC10F-C617-47F0-9E47-29576F78C79A}" type="datetime1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5718765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563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456AED90-C732-4155-84FF-10A5D98C0F35}" type="datetime1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894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F4091097-0014-45C3-ADF9-958CFA81FEE1}" type="datetime1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832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AED65252-24AB-498B-9D02-643D91FEF42E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767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36CAA5A9-7952-4DF0-82C9-AB5106D1D194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714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75F1CB55-4730-49E9-8B7C-9134384FE3A7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29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91F3C14C-51DE-4619-B0D6-DF32EB00476C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0830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CF5A570F-1403-44D2-B08F-803639FE12CC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890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EEA29CCB-0957-4A8E-B4AE-8AC07F66CFC5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9722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9FDB2FB6-F057-45C5-BC15-BF8513697E82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344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07D598AB-EA6A-4A9B-904F-4431CC047196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599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E27C5D66-B717-4047-BD2D-E240AD265EBC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41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62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E811E39-BE47-4ECA-B16D-B1BD630A3BB5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438400" y="6248400"/>
            <a:ext cx="5725886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48400"/>
            <a:ext cx="152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842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08000" y="1411552"/>
            <a:ext cx="11176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46461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1839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054149"/>
            <a:ext cx="8915400" cy="3965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97715875-6463-4843-98B4-567CE4254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213" y="6135808"/>
            <a:ext cx="5605553" cy="46616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CA"/>
              <a:t>Systems Analysis and Design in a Changing World, 7th Edition - Chapter 5   ©2016. Cengage Learning. All rights reserved</a:t>
            </a:r>
            <a:endParaRPr lang="en-US"/>
          </a:p>
        </p:txBody>
      </p:sp>
      <p:sp>
        <p:nvSpPr>
          <p:cNvPr id="37" name="Date Placeholder 3">
            <a:extLst>
              <a:ext uri="{FF2B5EF4-FFF2-40B4-BE49-F238E27FC236}">
                <a16:creationId xmlns:a16="http://schemas.microsoft.com/office/drawing/2014/main" id="{E7666366-4D39-48D8-9968-6B1EBFEAB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 sz="1200" baseline="0"/>
            </a:lvl1pPr>
          </a:lstStyle>
          <a:p>
            <a:fld id="{5D622BBC-E7F7-4F95-A7CE-E6D28050700F}" type="datetime1">
              <a:rPr lang="en-US" smtClean="0"/>
              <a:t>9/25/2025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3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rgbClr val="0070C0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Domain Modeling:</a:t>
            </a:r>
            <a:br>
              <a:rPr lang="en-US" dirty="0"/>
            </a:br>
            <a:r>
              <a:rPr lang="en-US" dirty="0"/>
              <a:t>Use Case Descriptions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…System Sequence Diagrams (SSD)</a:t>
            </a:r>
          </a:p>
          <a:p>
            <a:r>
              <a:rPr lang="en-US" dirty="0"/>
              <a:t>…Activity Diagrams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427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Overview (1)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idx="1"/>
          </p:nvPr>
        </p:nvSpPr>
        <p:spPr>
          <a:xfrm>
            <a:off x="2589212" y="1905000"/>
            <a:ext cx="8915400" cy="3867728"/>
          </a:xfrm>
        </p:spPr>
        <p:txBody>
          <a:bodyPr>
            <a:normAutofit fontScale="92500"/>
          </a:bodyPr>
          <a:lstStyle/>
          <a:p>
            <a:r>
              <a:rPr lang="en-GB" altLang="en-US" dirty="0"/>
              <a:t>We're going to continue our analysis, re-iterating &amp; expanding on the details of the Use Cases and Domain Class Models</a:t>
            </a:r>
          </a:p>
          <a:p>
            <a:r>
              <a:rPr lang="en-GB" altLang="en-US" dirty="0"/>
              <a:t>This chapter focuses on detail modelling for use cases to document the internal steps within a use case</a:t>
            </a:r>
          </a:p>
          <a:p>
            <a:r>
              <a:rPr lang="en-GB" altLang="en-US" dirty="0"/>
              <a:t>Fully developed use case descriptions provide information about each use case, including actors, stakeholders, preconditions, post conditions, the flow of activities and exceptions conditions </a:t>
            </a:r>
          </a:p>
          <a:p>
            <a:r>
              <a:rPr lang="en-GB" altLang="en-US" dirty="0"/>
              <a:t>Activity diagrams can diagrammatically show the flow of activities for a use case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Overview (2)</a:t>
            </a:r>
          </a:p>
        </p:txBody>
      </p:sp>
      <p:sp>
        <p:nvSpPr>
          <p:cNvPr id="3430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System sequence diagrams (SSDs) show the inputs and outputs for each use case as messages</a:t>
            </a:r>
          </a:p>
          <a:p>
            <a:r>
              <a:rPr lang="en-GB" altLang="en-US"/>
              <a:t>CRUD analysis, which correlates problem domain classes and use cases, is an effective technique to double check that all required use cases have been identified</a:t>
            </a:r>
          </a:p>
          <a:p>
            <a:r>
              <a:rPr lang="en-GB" altLang="en-US"/>
              <a:t>Not all use cases are modelled at this level of detail. Only model when there is complexity and a need to communicate details  </a:t>
            </a:r>
          </a:p>
          <a:p>
            <a:endParaRPr lang="en-GB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Use Case Descriptions</a:t>
            </a:r>
          </a:p>
        </p:txBody>
      </p:sp>
      <p:sp>
        <p:nvSpPr>
          <p:cNvPr id="282627" name="Rectangle 3"/>
          <p:cNvSpPr>
            <a:spLocks noGrp="1" noChangeArrowheads="1"/>
          </p:cNvSpPr>
          <p:nvPr>
            <p:ph idx="1"/>
          </p:nvPr>
        </p:nvSpPr>
        <p:spPr>
          <a:xfrm>
            <a:off x="2576945" y="1522227"/>
            <a:ext cx="8915400" cy="4225437"/>
          </a:xfrm>
        </p:spPr>
        <p:txBody>
          <a:bodyPr/>
          <a:lstStyle/>
          <a:p>
            <a:r>
              <a:rPr lang="en-US" altLang="en-US" dirty="0"/>
              <a:t>All Use Cases (simplex or complex) should have a brief description</a:t>
            </a:r>
          </a:p>
          <a:p>
            <a:pPr lvl="1"/>
            <a:r>
              <a:rPr lang="en-US" altLang="en-US" dirty="0"/>
              <a:t>Summary of intent</a:t>
            </a:r>
            <a:endParaRPr lang="en-GB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8263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945" y="2782455"/>
            <a:ext cx="9485388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 Case Descriptions</a:t>
            </a:r>
          </a:p>
        </p:txBody>
      </p:sp>
      <p:sp>
        <p:nvSpPr>
          <p:cNvPr id="345091" name="Rectangle 3"/>
          <p:cNvSpPr>
            <a:spLocks noGrp="1" noChangeArrowheads="1"/>
          </p:cNvSpPr>
          <p:nvPr>
            <p:ph idx="1"/>
          </p:nvPr>
        </p:nvSpPr>
        <p:spPr>
          <a:xfrm>
            <a:off x="2589212" y="1662545"/>
            <a:ext cx="8915400" cy="446789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en-US" dirty="0"/>
              <a:t>These are required for more complex use cases</a:t>
            </a:r>
          </a:p>
          <a:p>
            <a:pPr>
              <a:spcBef>
                <a:spcPts val="0"/>
              </a:spcBef>
            </a:pPr>
            <a:r>
              <a:rPr lang="en-US" altLang="en-US" dirty="0"/>
              <a:t>Typical use case description templates include:</a:t>
            </a:r>
          </a:p>
          <a:p>
            <a:pPr lvl="4">
              <a:spcBef>
                <a:spcPts val="0"/>
              </a:spcBef>
            </a:pPr>
            <a:endParaRPr lang="en-US" altLang="en-US" dirty="0"/>
          </a:p>
          <a:p>
            <a:pPr lvl="1">
              <a:spcBef>
                <a:spcPts val="0"/>
              </a:spcBef>
            </a:pPr>
            <a:r>
              <a:rPr lang="en-GB" altLang="en-US" dirty="0"/>
              <a:t>Use case name				</a:t>
            </a:r>
          </a:p>
          <a:p>
            <a:pPr lvl="1">
              <a:spcBef>
                <a:spcPts val="0"/>
              </a:spcBef>
            </a:pPr>
            <a:r>
              <a:rPr lang="en-GB" altLang="en-US" dirty="0"/>
              <a:t>Scenario (if needed)</a:t>
            </a:r>
          </a:p>
          <a:p>
            <a:pPr lvl="1">
              <a:spcBef>
                <a:spcPts val="0"/>
              </a:spcBef>
            </a:pPr>
            <a:r>
              <a:rPr lang="en-GB" altLang="en-US" dirty="0"/>
              <a:t>Triggering event</a:t>
            </a:r>
          </a:p>
          <a:p>
            <a:pPr lvl="1">
              <a:spcBef>
                <a:spcPts val="0"/>
              </a:spcBef>
            </a:pPr>
            <a:r>
              <a:rPr lang="en-GB" altLang="en-US" dirty="0"/>
              <a:t>Brief description</a:t>
            </a:r>
          </a:p>
          <a:p>
            <a:pPr lvl="1">
              <a:spcBef>
                <a:spcPts val="0"/>
              </a:spcBef>
            </a:pPr>
            <a:r>
              <a:rPr lang="en-GB" altLang="en-US" dirty="0"/>
              <a:t>Actors</a:t>
            </a:r>
          </a:p>
          <a:p>
            <a:pPr lvl="1">
              <a:spcBef>
                <a:spcPts val="0"/>
              </a:spcBef>
            </a:pPr>
            <a:r>
              <a:rPr lang="en-GB" altLang="en-US" dirty="0"/>
              <a:t>Related use cases (&lt;&lt;includes&gt;&gt;)</a:t>
            </a:r>
          </a:p>
          <a:p>
            <a:pPr lvl="1">
              <a:spcBef>
                <a:spcPts val="0"/>
              </a:spcBef>
            </a:pPr>
            <a:r>
              <a:rPr lang="en-GB" altLang="en-US" dirty="0"/>
              <a:t>Stakeholders</a:t>
            </a:r>
          </a:p>
          <a:p>
            <a:pPr lvl="1">
              <a:spcBef>
                <a:spcPts val="0"/>
              </a:spcBef>
            </a:pPr>
            <a:r>
              <a:rPr lang="en-GB" altLang="en-US" dirty="0"/>
              <a:t>Preconditions</a:t>
            </a:r>
          </a:p>
          <a:p>
            <a:pPr lvl="1">
              <a:spcBef>
                <a:spcPts val="0"/>
              </a:spcBef>
            </a:pPr>
            <a:r>
              <a:rPr lang="en-GB" altLang="en-US" dirty="0"/>
              <a:t>Postconditions</a:t>
            </a:r>
          </a:p>
          <a:p>
            <a:pPr lvl="1">
              <a:spcBef>
                <a:spcPts val="0"/>
              </a:spcBef>
            </a:pPr>
            <a:r>
              <a:rPr lang="en-GB" altLang="en-US" dirty="0"/>
              <a:t>Flow of activities</a:t>
            </a:r>
          </a:p>
          <a:p>
            <a:pPr lvl="1">
              <a:spcBef>
                <a:spcPts val="0"/>
              </a:spcBef>
            </a:pPr>
            <a:r>
              <a:rPr lang="en-GB" altLang="en-US" dirty="0"/>
              <a:t>Exception conditions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486" y="0"/>
            <a:ext cx="6559476" cy="6858000"/>
          </a:xfrm>
          <a:prstGeom prst="rect">
            <a:avLst/>
          </a:prstGeom>
        </p:spPr>
      </p:pic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228601"/>
            <a:ext cx="2667000" cy="391636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Fully Developed Use Case Description</a:t>
            </a:r>
            <a:br>
              <a:rPr lang="en-US" altLang="en-US" sz="3200" dirty="0"/>
            </a:br>
            <a:br>
              <a:rPr lang="en-US" altLang="en-US" sz="32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en-US" sz="2800" i="1" dirty="0">
                <a:solidFill>
                  <a:schemeClr val="accent1">
                    <a:lumMod val="75000"/>
                  </a:schemeClr>
                </a:solidFill>
              </a:rPr>
              <a:t>Create Customer Account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6115050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912277-4486-4B64-AB0C-DAC26A36B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592925" y="240145"/>
            <a:ext cx="8911687" cy="1664855"/>
          </a:xfrm>
        </p:spPr>
        <p:txBody>
          <a:bodyPr/>
          <a:lstStyle/>
          <a:p>
            <a:r>
              <a:rPr lang="en-US" altLang="en-US" sz="2400" dirty="0"/>
              <a:t>Fully Developed Use Case Description</a:t>
            </a:r>
            <a:r>
              <a:rPr lang="en-US" altLang="en-US" dirty="0"/>
              <a:t> </a:t>
            </a:r>
            <a:br>
              <a:rPr lang="en-US" altLang="en-US" dirty="0"/>
            </a:br>
            <a:r>
              <a:rPr lang="en-US" altLang="en-US" dirty="0"/>
              <a:t>Create customer account (part 1 )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734FCE-273E-4E79-88B1-737FE9CF4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F26019-83E7-42FC-87C8-A653F86F3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836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447800"/>
            <a:ext cx="8686800" cy="431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>
          <a:xfrm>
            <a:off x="2592925" y="249382"/>
            <a:ext cx="8911687" cy="1655618"/>
          </a:xfrm>
        </p:spPr>
        <p:txBody>
          <a:bodyPr/>
          <a:lstStyle/>
          <a:p>
            <a:r>
              <a:rPr lang="en-US" altLang="en-US" sz="2400" dirty="0"/>
              <a:t>Fully Developed Use Case Description</a:t>
            </a:r>
            <a:r>
              <a:rPr lang="en-US" altLang="en-US" dirty="0"/>
              <a:t> </a:t>
            </a:r>
            <a:br>
              <a:rPr lang="en-US" altLang="en-US" dirty="0"/>
            </a:br>
            <a:r>
              <a:rPr lang="en-US" altLang="en-US" dirty="0"/>
              <a:t>Create customer account (part 2 )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9FE2020-5CAF-4AC4-8245-92CD96B2B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86B50A-351F-463E-A3B2-5636FC9A4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471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672" y="1473201"/>
            <a:ext cx="8534400" cy="461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 Case Description Details</a:t>
            </a:r>
          </a:p>
        </p:txBody>
      </p:sp>
      <p:sp>
        <p:nvSpPr>
          <p:cNvPr id="288771" name="Rectangle 3"/>
          <p:cNvSpPr>
            <a:spLocks noGrp="1" noChangeArrowheads="1"/>
          </p:cNvSpPr>
          <p:nvPr>
            <p:ph idx="1"/>
          </p:nvPr>
        </p:nvSpPr>
        <p:spPr>
          <a:xfrm>
            <a:off x="2589212" y="1671783"/>
            <a:ext cx="8915400" cy="4458654"/>
          </a:xfrm>
        </p:spPr>
        <p:txBody>
          <a:bodyPr>
            <a:normAutofit fontScale="92500" lnSpcReduction="10000"/>
          </a:bodyPr>
          <a:lstStyle/>
          <a:p>
            <a:r>
              <a:rPr lang="en-GB" altLang="en-US" dirty="0"/>
              <a:t>Use case name</a:t>
            </a:r>
          </a:p>
          <a:p>
            <a:pPr lvl="1"/>
            <a:r>
              <a:rPr lang="en-GB" altLang="en-US" dirty="0"/>
              <a:t>Verb-noun</a:t>
            </a:r>
          </a:p>
          <a:p>
            <a:r>
              <a:rPr lang="en-GB" altLang="en-US" dirty="0"/>
              <a:t>Scenario (if needed)</a:t>
            </a:r>
          </a:p>
          <a:p>
            <a:pPr lvl="1"/>
            <a:r>
              <a:rPr lang="en-GB" altLang="en-US" dirty="0"/>
              <a:t>A use case can have more than one scenario (special case or more specific path)</a:t>
            </a:r>
          </a:p>
          <a:p>
            <a:r>
              <a:rPr lang="en-GB" altLang="en-US" dirty="0"/>
              <a:t>Triggering event</a:t>
            </a:r>
          </a:p>
          <a:p>
            <a:pPr lvl="1"/>
            <a:r>
              <a:rPr lang="en-GB" altLang="en-US" dirty="0"/>
              <a:t>Based on event decomposition technique</a:t>
            </a:r>
          </a:p>
          <a:p>
            <a:r>
              <a:rPr lang="en-GB" altLang="en-US" dirty="0"/>
              <a:t>Brief description</a:t>
            </a:r>
          </a:p>
          <a:p>
            <a:pPr lvl="1"/>
            <a:r>
              <a:rPr lang="en-GB" altLang="en-US" dirty="0"/>
              <a:t>Written previously when use case was identified</a:t>
            </a:r>
          </a:p>
          <a:p>
            <a:r>
              <a:rPr lang="en-GB" altLang="en-US" dirty="0"/>
              <a:t>Primary Actor(s)</a:t>
            </a:r>
          </a:p>
          <a:p>
            <a:pPr lvl="1"/>
            <a:r>
              <a:rPr lang="en-GB" altLang="en-US" dirty="0"/>
              <a:t>Usually there is only one primary actor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5   ©2016. Cengage Learning. All rights reserved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7A830-C71C-4188-953F-A3B44CB94184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 Case Description Details</a:t>
            </a:r>
          </a:p>
        </p:txBody>
      </p:sp>
      <p:sp>
        <p:nvSpPr>
          <p:cNvPr id="349187" name="Rectangle 3"/>
          <p:cNvSpPr>
            <a:spLocks noGrp="1" noChangeArrowheads="1"/>
          </p:cNvSpPr>
          <p:nvPr>
            <p:ph idx="1"/>
          </p:nvPr>
        </p:nvSpPr>
        <p:spPr>
          <a:xfrm>
            <a:off x="2589212" y="1514765"/>
            <a:ext cx="8915400" cy="4615672"/>
          </a:xfrm>
        </p:spPr>
        <p:txBody>
          <a:bodyPr>
            <a:normAutofit fontScale="85000" lnSpcReduction="20000"/>
          </a:bodyPr>
          <a:lstStyle/>
          <a:p>
            <a:r>
              <a:rPr lang="en-GB" altLang="en-US" dirty="0"/>
              <a:t>Related use cases &lt;&lt;includes&gt;&gt;</a:t>
            </a:r>
          </a:p>
          <a:p>
            <a:pPr lvl="1"/>
            <a:r>
              <a:rPr lang="en-GB" altLang="en-US" dirty="0"/>
              <a:t>If one use case invokes or includes another</a:t>
            </a:r>
          </a:p>
          <a:p>
            <a:r>
              <a:rPr lang="en-GB" altLang="en-US" dirty="0"/>
              <a:t>Stakeholders</a:t>
            </a:r>
          </a:p>
          <a:p>
            <a:pPr lvl="1"/>
            <a:r>
              <a:rPr lang="en-GB" altLang="en-US" dirty="0"/>
              <a:t>Anyone with an interest in the use case</a:t>
            </a:r>
          </a:p>
          <a:p>
            <a:r>
              <a:rPr lang="en-GB" altLang="en-US" dirty="0"/>
              <a:t>Preconditions</a:t>
            </a:r>
          </a:p>
          <a:p>
            <a:pPr lvl="1"/>
            <a:r>
              <a:rPr lang="en-GB" altLang="en-US" dirty="0"/>
              <a:t>What must be true (specially the data) before the use case begins</a:t>
            </a:r>
          </a:p>
          <a:p>
            <a:r>
              <a:rPr lang="en-GB" altLang="en-US" dirty="0"/>
              <a:t>Post conditions</a:t>
            </a:r>
          </a:p>
          <a:p>
            <a:pPr lvl="1"/>
            <a:r>
              <a:rPr lang="en-GB" altLang="en-US" dirty="0"/>
              <a:t>What must be true (specially the data) when the use case is completed</a:t>
            </a:r>
          </a:p>
          <a:p>
            <a:pPr lvl="1"/>
            <a:r>
              <a:rPr lang="en-GB" altLang="en-US" dirty="0"/>
              <a:t>Use for planning test case expected results </a:t>
            </a:r>
          </a:p>
          <a:p>
            <a:r>
              <a:rPr lang="en-GB" altLang="en-US" dirty="0"/>
              <a:t>Flow of activities</a:t>
            </a:r>
          </a:p>
          <a:p>
            <a:pPr lvl="1"/>
            <a:r>
              <a:rPr lang="en-GB" altLang="en-US" dirty="0"/>
              <a:t>The activities that go on between actor and the system</a:t>
            </a:r>
          </a:p>
          <a:p>
            <a:r>
              <a:rPr lang="en-GB" altLang="en-US" dirty="0"/>
              <a:t>Exception conditions</a:t>
            </a:r>
          </a:p>
          <a:p>
            <a:pPr lvl="1"/>
            <a:r>
              <a:rPr lang="en-GB" altLang="en-US" dirty="0"/>
              <a:t>Where and what can go wrong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5   ©2016. Cengage Learning. All rights reserved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7A830-C71C-4188-953F-A3B44CB94184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681019" y="624109"/>
            <a:ext cx="4267200" cy="1832011"/>
          </a:xfrm>
        </p:spPr>
        <p:txBody>
          <a:bodyPr>
            <a:normAutofit/>
          </a:bodyPr>
          <a:lstStyle/>
          <a:p>
            <a:r>
              <a:rPr lang="en-US" altLang="en-US" sz="2700" dirty="0"/>
              <a:t>Fully Developed Use Case Description:</a:t>
            </a:r>
            <a:br>
              <a:rPr lang="en-US" altLang="en-US" sz="2700" dirty="0"/>
            </a:br>
            <a:r>
              <a:rPr lang="en-US" altLang="en-US" sz="2700" dirty="0"/>
              <a:t>     </a:t>
            </a:r>
            <a:br>
              <a:rPr lang="en-US" altLang="en-US" sz="2700" dirty="0"/>
            </a:br>
            <a:r>
              <a:rPr lang="en-US" altLang="en-US" sz="3100" i="1" dirty="0">
                <a:solidFill>
                  <a:schemeClr val="accent1">
                    <a:lumMod val="75000"/>
                  </a:schemeClr>
                </a:solidFill>
              </a:rPr>
              <a:t>Ship items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72020" y="6226174"/>
            <a:ext cx="5757719" cy="365125"/>
          </a:xfrm>
        </p:spPr>
        <p:txBody>
          <a:bodyPr/>
          <a:lstStyle/>
          <a:p>
            <a:r>
              <a:rPr lang="en-CA" altLang="en-US" dirty="0"/>
              <a:t>Systems Analysis and Design in a Changing World, 7th Edition - Chapter 5  </a:t>
            </a:r>
          </a:p>
          <a:p>
            <a:r>
              <a:rPr lang="en-CA" altLang="en-US" dirty="0"/>
              <a:t>©2016. Cengage Learning. All rights reserved</a:t>
            </a:r>
            <a:endParaRPr lang="en-US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3DD11D-33FB-41EF-B781-20AD234B7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87752" name="Rectangle 8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3200400"/>
            <a:ext cx="5948219" cy="2971800"/>
          </a:xfrm>
          <a:noFill/>
          <a:ln/>
        </p:spPr>
        <p:txBody>
          <a:bodyPr/>
          <a:lstStyle/>
          <a:p>
            <a:endParaRPr lang="en-GB" altLang="en-US" sz="2600" dirty="0"/>
          </a:p>
          <a:p>
            <a:endParaRPr lang="en-GB" altLang="en-US" sz="2800" dirty="0"/>
          </a:p>
        </p:txBody>
      </p:sp>
      <p:sp>
        <p:nvSpPr>
          <p:cNvPr id="287753" name="Rectangle 9"/>
          <p:cNvSpPr>
            <a:spLocks noChangeArrowheads="1"/>
          </p:cNvSpPr>
          <p:nvPr/>
        </p:nvSpPr>
        <p:spPr bwMode="auto">
          <a:xfrm>
            <a:off x="2133600" y="1600200"/>
            <a:ext cx="80010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endParaRPr lang="en-GB" altLang="en-US" sz="28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739" y="0"/>
            <a:ext cx="616226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>
          <a:xfrm>
            <a:off x="2592925" y="166255"/>
            <a:ext cx="8911687" cy="1738745"/>
          </a:xfrm>
        </p:spPr>
        <p:txBody>
          <a:bodyPr/>
          <a:lstStyle/>
          <a:p>
            <a:r>
              <a:rPr lang="en-US" altLang="en-US" sz="2400" dirty="0"/>
              <a:t>Fully Developed Use Case Description</a:t>
            </a:r>
            <a:r>
              <a:rPr lang="en-US" altLang="en-US" dirty="0"/>
              <a:t>  </a:t>
            </a:r>
            <a:br>
              <a:rPr lang="en-US" altLang="en-US" dirty="0"/>
            </a:br>
            <a:r>
              <a:rPr lang="en-US" altLang="en-US" dirty="0"/>
              <a:t>Ship items (part 1 )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A3BCD1-99C0-4F09-85E6-68D57D38A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E9F5DA-F8D4-41DB-83EA-78B582F93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3502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371600"/>
            <a:ext cx="8610600" cy="436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>
          <a:xfrm>
            <a:off x="2592925" y="120073"/>
            <a:ext cx="8911687" cy="1784927"/>
          </a:xfrm>
        </p:spPr>
        <p:txBody>
          <a:bodyPr/>
          <a:lstStyle/>
          <a:p>
            <a:r>
              <a:rPr lang="en-US" altLang="en-US" sz="2400" dirty="0"/>
              <a:t>Fully Developed Use Case Description</a:t>
            </a:r>
            <a:r>
              <a:rPr lang="en-US" altLang="en-US" dirty="0"/>
              <a:t> </a:t>
            </a:r>
            <a:br>
              <a:rPr lang="en-US" altLang="en-US" dirty="0"/>
            </a:br>
            <a:r>
              <a:rPr lang="en-US" altLang="en-US" dirty="0"/>
              <a:t>Ship items (part 2 )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104EE9C-50B1-4FEA-ACBD-E3BFD7967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229FA3-D008-427B-B430-4C781EF47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3512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3473" y="1246909"/>
            <a:ext cx="83058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073" y="0"/>
            <a:ext cx="5975927" cy="6813593"/>
          </a:xfrm>
          <a:prstGeom prst="rect">
            <a:avLst/>
          </a:prstGeom>
        </p:spPr>
      </p:pic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1856" y="624110"/>
            <a:ext cx="4479636" cy="1703454"/>
          </a:xfrm>
        </p:spPr>
        <p:txBody>
          <a:bodyPr>
            <a:normAutofit fontScale="90000"/>
          </a:bodyPr>
          <a:lstStyle/>
          <a:p>
            <a:r>
              <a:rPr lang="en-US" altLang="en-US" sz="2700" dirty="0"/>
              <a:t>Activity Diagram:</a:t>
            </a:r>
            <a:br>
              <a:rPr lang="en-US" altLang="en-US" dirty="0"/>
            </a:br>
            <a:r>
              <a:rPr lang="en-US" altLang="en-US" i="1" dirty="0">
                <a:solidFill>
                  <a:schemeClr val="accent1">
                    <a:lumMod val="75000"/>
                  </a:schemeClr>
                </a:solidFill>
              </a:rPr>
              <a:t>Create customer account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04681" y="6231502"/>
            <a:ext cx="5866811" cy="466160"/>
          </a:xfrm>
        </p:spPr>
        <p:txBody>
          <a:bodyPr/>
          <a:lstStyle/>
          <a:p>
            <a:r>
              <a:rPr lang="en-CA" altLang="en-US"/>
              <a:t>Systems Analysis and Design in a Changing World, 7th Edition - Chapter 5   ©2016. </a:t>
            </a:r>
            <a:r>
              <a:rPr lang="en-CA" altLang="en-US" dirty="0"/>
              <a:t>Cengage Learning. All rights reserved</a:t>
            </a:r>
            <a:endParaRPr lang="en-US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222E8F-C41D-4B51-8645-D64CBEB5B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52260" name="Rectangle 4"/>
          <p:cNvSpPr>
            <a:spLocks noChangeArrowheads="1"/>
          </p:cNvSpPr>
          <p:nvPr/>
        </p:nvSpPr>
        <p:spPr bwMode="auto">
          <a:xfrm>
            <a:off x="2133600" y="1600200"/>
            <a:ext cx="80010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endParaRPr lang="en-GB" altLang="en-US"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020" y="-73890"/>
            <a:ext cx="6016980" cy="6931890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807858" y="512462"/>
            <a:ext cx="4849091" cy="1280890"/>
          </a:xfrm>
        </p:spPr>
        <p:txBody>
          <a:bodyPr/>
          <a:lstStyle/>
          <a:p>
            <a:r>
              <a:rPr lang="en-US" sz="2400" dirty="0"/>
              <a:t>Activity Diagram: </a:t>
            </a:r>
            <a:br>
              <a:rPr lang="en-US" dirty="0"/>
            </a:b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Ship Items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064917" y="1910371"/>
            <a:ext cx="5110103" cy="4225437"/>
          </a:xfrm>
        </p:spPr>
        <p:txBody>
          <a:bodyPr/>
          <a:lstStyle/>
          <a:p>
            <a:r>
              <a:rPr lang="en-US" dirty="0"/>
              <a:t>Synchronization bars for loop</a:t>
            </a:r>
          </a:p>
          <a:p>
            <a:r>
              <a:rPr lang="en-US" dirty="0"/>
              <a:t>Decision diamond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8209" y="6243016"/>
            <a:ext cx="5866811" cy="466160"/>
          </a:xfrm>
        </p:spPr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925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783" y="40217"/>
            <a:ext cx="5440218" cy="6817783"/>
          </a:xfrm>
          <a:prstGeom prst="rect">
            <a:avLst/>
          </a:prstGeom>
        </p:spPr>
      </p:pic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5819" y="624110"/>
            <a:ext cx="4821382" cy="1280890"/>
          </a:xfrm>
        </p:spPr>
        <p:txBody>
          <a:bodyPr>
            <a:normAutofit fontScale="90000"/>
          </a:bodyPr>
          <a:lstStyle/>
          <a:p>
            <a:r>
              <a:rPr lang="en-US" altLang="en-US" sz="2700" dirty="0"/>
              <a:t>Activity Diagram:</a:t>
            </a:r>
            <a:br>
              <a:rPr lang="en-US" altLang="en-US" dirty="0"/>
            </a:br>
            <a:r>
              <a:rPr lang="en-US" altLang="en-US" sz="4000" i="1" dirty="0">
                <a:solidFill>
                  <a:schemeClr val="accent1">
                    <a:lumMod val="75000"/>
                  </a:schemeClr>
                </a:solidFill>
              </a:rPr>
              <a:t>Fill shopping cart</a:t>
            </a:r>
            <a:br>
              <a:rPr lang="en-US" altLang="en-US" dirty="0">
                <a:solidFill>
                  <a:schemeClr val="accent1">
                    <a:lumMod val="75000"/>
                  </a:schemeClr>
                </a:solidFill>
              </a:rPr>
            </a:br>
            <a:endParaRPr lang="en-US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53283" name="Rectangle 3"/>
          <p:cNvSpPr>
            <a:spLocks noGrp="1" noChangeArrowheads="1"/>
          </p:cNvSpPr>
          <p:nvPr>
            <p:ph idx="1"/>
          </p:nvPr>
        </p:nvSpPr>
        <p:spPr>
          <a:xfrm>
            <a:off x="1570183" y="1622340"/>
            <a:ext cx="4969164" cy="3641544"/>
          </a:xfrm>
        </p:spPr>
        <p:txBody>
          <a:bodyPr/>
          <a:lstStyle/>
          <a:p>
            <a:endParaRPr lang="en-GB" altLang="en-US" dirty="0"/>
          </a:p>
          <a:p>
            <a:r>
              <a:rPr lang="en-GB" altLang="en-US" dirty="0"/>
              <a:t>This diagram shows use case with &lt;&lt;includes&gt;&gt; relationships</a:t>
            </a:r>
          </a:p>
          <a:p>
            <a:r>
              <a:rPr lang="en-GB" altLang="en-US" dirty="0"/>
              <a:t>Note shown: decision activity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672536" y="6202157"/>
            <a:ext cx="5866811" cy="466160"/>
          </a:xfrm>
        </p:spPr>
        <p:txBody>
          <a:bodyPr/>
          <a:lstStyle/>
          <a:p>
            <a:r>
              <a:rPr lang="en-CA" altLang="en-US" dirty="0"/>
              <a:t>Systems Analysis and Design in a Changing World, 7th Edition - Chapter 5   ©2016. Cengage Learning. All rights reserved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7A830-C71C-4188-953F-A3B44CB94184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353284" name="Rectangle 4"/>
          <p:cNvSpPr>
            <a:spLocks noChangeArrowheads="1"/>
          </p:cNvSpPr>
          <p:nvPr/>
        </p:nvSpPr>
        <p:spPr bwMode="auto">
          <a:xfrm>
            <a:off x="2133600" y="1600200"/>
            <a:ext cx="80010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endParaRPr lang="en-GB" altLang="en-US"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System Sequence Diagram (SSD)</a:t>
            </a:r>
          </a:p>
        </p:txBody>
      </p:sp>
      <p:sp>
        <p:nvSpPr>
          <p:cNvPr id="354307" name="Rectangle 3"/>
          <p:cNvSpPr>
            <a:spLocks noGrp="1" noChangeArrowheads="1"/>
          </p:cNvSpPr>
          <p:nvPr>
            <p:ph idx="1"/>
          </p:nvPr>
        </p:nvSpPr>
        <p:spPr>
          <a:xfrm>
            <a:off x="2589212" y="1662545"/>
            <a:ext cx="8915400" cy="4467891"/>
          </a:xfrm>
        </p:spPr>
        <p:txBody>
          <a:bodyPr>
            <a:normAutofit lnSpcReduction="10000"/>
          </a:bodyPr>
          <a:lstStyle/>
          <a:p>
            <a:r>
              <a:rPr lang="en-GB" altLang="en-US" dirty="0"/>
              <a:t>Special case for a UML sequence diagram</a:t>
            </a:r>
          </a:p>
          <a:p>
            <a:pPr lvl="1"/>
            <a:r>
              <a:rPr lang="en-US" altLang="en-US" dirty="0"/>
              <a:t>Only shows actor and 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</a:rPr>
              <a:t>one object</a:t>
            </a:r>
          </a:p>
          <a:p>
            <a:pPr lvl="1"/>
            <a:r>
              <a:rPr lang="en-US" altLang="en-US" dirty="0"/>
              <a:t>The 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</a:rPr>
              <a:t>one object </a:t>
            </a:r>
            <a:r>
              <a:rPr lang="en-US" altLang="en-US" dirty="0"/>
              <a:t>represents the complete system</a:t>
            </a:r>
          </a:p>
          <a:p>
            <a:pPr lvl="1"/>
            <a:r>
              <a:rPr lang="en-US" altLang="en-US" dirty="0"/>
              <a:t>Shows input &amp; output messaging requirements for a use case</a:t>
            </a:r>
          </a:p>
          <a:p>
            <a:r>
              <a:rPr lang="en-GB" altLang="en-US" dirty="0"/>
              <a:t>Actor, </a:t>
            </a:r>
            <a:r>
              <a:rPr lang="en-GB" altLang="en-US" dirty="0">
                <a:solidFill>
                  <a:schemeClr val="accent1">
                    <a:lumMod val="75000"/>
                  </a:schemeClr>
                </a:solidFill>
              </a:rPr>
              <a:t>:System</a:t>
            </a:r>
            <a:r>
              <a:rPr lang="en-GB" altLang="en-US" dirty="0"/>
              <a:t>, object lifeline</a:t>
            </a:r>
          </a:p>
          <a:p>
            <a:r>
              <a:rPr lang="en-GB" altLang="en-US" dirty="0"/>
              <a:t>Messages</a:t>
            </a:r>
          </a:p>
          <a:p>
            <a:endParaRPr lang="en-GB" altLang="en-US" dirty="0"/>
          </a:p>
          <a:p>
            <a:r>
              <a:rPr lang="en-GB" altLang="en-US" dirty="0"/>
              <a:t>In Systems Design, the Multi-layer Design Sequence Diagram will include a breakdown of </a:t>
            </a:r>
            <a:r>
              <a:rPr lang="en-GB" altLang="en-US" dirty="0">
                <a:solidFill>
                  <a:schemeClr val="accent1">
                    <a:lumMod val="75000"/>
                  </a:schemeClr>
                </a:solidFill>
              </a:rPr>
              <a:t>:System</a:t>
            </a:r>
          </a:p>
          <a:p>
            <a:pPr lvl="1"/>
            <a:r>
              <a:rPr lang="en-GB" altLang="en-US" dirty="0"/>
              <a:t>Boundary (screens), controllers, entities, data access layer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5   ©2016. Cengage Learning. All rights reserved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7A830-C71C-4188-953F-A3B44CB94184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System Sequence Diagram (SSD) Notation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579976" y="6339008"/>
            <a:ext cx="5594206" cy="365125"/>
          </a:xfrm>
        </p:spPr>
        <p:txBody>
          <a:bodyPr/>
          <a:lstStyle/>
          <a:p>
            <a:r>
              <a:rPr lang="en-CA" altLang="en-US" dirty="0"/>
              <a:t>Systems Analysis and Design in a Changing World, 7th Edition - Chapter 5   ©2016. Cengage Learning. All rights reserved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7A830-C71C-4188-953F-A3B44CB94184}" type="slidenum">
              <a:rPr lang="en-US" altLang="en-US" smtClean="0"/>
              <a:pPr/>
              <a:t>18</a:t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491" y="1182256"/>
            <a:ext cx="6343648" cy="507491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Grp="1" noChangeArrowheads="1"/>
          </p:cNvSpPr>
          <p:nvPr>
            <p:ph type="title"/>
          </p:nvPr>
        </p:nvSpPr>
        <p:spPr>
          <a:xfrm>
            <a:off x="2050473" y="624110"/>
            <a:ext cx="2724727" cy="128089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SSD Loop Examples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sp>
        <p:nvSpPr>
          <p:cNvPr id="357379" name="Rectangle 3"/>
          <p:cNvSpPr>
            <a:spLocks noGrp="1" noChangeArrowheads="1"/>
          </p:cNvSpPr>
          <p:nvPr>
            <p:ph idx="1"/>
          </p:nvPr>
        </p:nvSpPr>
        <p:spPr>
          <a:xfrm>
            <a:off x="1948873" y="1886526"/>
            <a:ext cx="3195782" cy="4225437"/>
          </a:xfrm>
        </p:spPr>
        <p:txBody>
          <a:bodyPr>
            <a:normAutofit fontScale="92500" lnSpcReduction="10000"/>
          </a:bodyPr>
          <a:lstStyle/>
          <a:p>
            <a:r>
              <a:rPr lang="en-GB" altLang="en-US" dirty="0"/>
              <a:t>Loop frame</a:t>
            </a:r>
          </a:p>
          <a:p>
            <a:pPr lvl="1"/>
            <a:r>
              <a:rPr lang="en-GB" altLang="en-US" dirty="0"/>
              <a:t>Better for multiple message/return interactions</a:t>
            </a:r>
          </a:p>
          <a:p>
            <a:pPr lvl="1"/>
            <a:r>
              <a:rPr lang="en-GB" altLang="en-US" dirty="0"/>
              <a:t>OK for single messages too.</a:t>
            </a:r>
          </a:p>
          <a:p>
            <a:pPr lvl="1"/>
            <a:endParaRPr lang="en-GB" altLang="en-US" dirty="0"/>
          </a:p>
          <a:p>
            <a:r>
              <a:rPr lang="en-GB" altLang="en-US" dirty="0"/>
              <a:t>Single-line loop</a:t>
            </a:r>
          </a:p>
          <a:p>
            <a:pPr lvl="1"/>
            <a:r>
              <a:rPr lang="en-GB" altLang="en-US" dirty="0"/>
              <a:t>Single message and return</a:t>
            </a:r>
          </a:p>
          <a:p>
            <a:pPr lvl="1"/>
            <a:r>
              <a:rPr lang="en-GB" altLang="en-US" dirty="0"/>
              <a:t>* (repeated for each item)</a:t>
            </a:r>
          </a:p>
          <a:p>
            <a:pPr lvl="1"/>
            <a:endParaRPr lang="en-GB" altLang="en-US" dirty="0"/>
          </a:p>
          <a:p>
            <a:endParaRPr lang="en-GB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5   ©2016. Cengage Learning. All rights reserved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7A830-C71C-4188-953F-A3B44CB94184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357380" name="Rectangle 4"/>
          <p:cNvSpPr>
            <a:spLocks noChangeArrowheads="1"/>
          </p:cNvSpPr>
          <p:nvPr/>
        </p:nvSpPr>
        <p:spPr bwMode="auto">
          <a:xfrm>
            <a:off x="2133600" y="1600200"/>
            <a:ext cx="80010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endParaRPr lang="en-GB" altLang="en-US" sz="28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52798"/>
            <a:ext cx="5075386" cy="591649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Message Notation for SSD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948873" y="1554017"/>
            <a:ext cx="10243127" cy="4514274"/>
          </a:xfrm>
        </p:spPr>
        <p:txBody>
          <a:bodyPr>
            <a:normAutofit fontScale="92500"/>
          </a:bodyPr>
          <a:lstStyle/>
          <a:p>
            <a:r>
              <a:rPr lang="en-US" dirty="0"/>
              <a:t>* [true/false condition] return-value := message-name (parameter-list)</a:t>
            </a:r>
          </a:p>
          <a:p>
            <a:pPr lvl="1"/>
            <a:r>
              <a:rPr lang="en-US" dirty="0"/>
              <a:t>An asterisk (*) indicates a repeating or looping message</a:t>
            </a:r>
          </a:p>
          <a:p>
            <a:pPr lvl="1"/>
            <a:r>
              <a:rPr lang="en-US" dirty="0"/>
              <a:t>Brackets [ ] indicate a true/false condition. </a:t>
            </a:r>
          </a:p>
          <a:p>
            <a:pPr lvl="2"/>
            <a:r>
              <a:rPr lang="en-US" dirty="0"/>
              <a:t>If true, the message is sent.  Otherwise, it isn't.</a:t>
            </a:r>
          </a:p>
          <a:p>
            <a:pPr lvl="1"/>
            <a:r>
              <a:rPr lang="en-US" dirty="0"/>
              <a:t>Message-name is the description of the requested service </a:t>
            </a:r>
          </a:p>
          <a:p>
            <a:pPr lvl="2"/>
            <a:r>
              <a:rPr lang="en-US" dirty="0"/>
              <a:t>written as a verb-noun (like a method call)</a:t>
            </a:r>
          </a:p>
          <a:p>
            <a:pPr lvl="1"/>
            <a:r>
              <a:rPr lang="en-US" dirty="0"/>
              <a:t>Parameter-list shows the data passed with the message.</a:t>
            </a:r>
          </a:p>
          <a:p>
            <a:pPr lvl="2"/>
            <a:r>
              <a:rPr lang="en-US" dirty="0"/>
              <a:t>The initiating message is in round brackets, the return-value isn't.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Return-value can be in the same line as the message, before the  :=</a:t>
            </a:r>
          </a:p>
          <a:p>
            <a:pPr lvl="2"/>
            <a:r>
              <a:rPr lang="en-US" dirty="0"/>
              <a:t>A one-line notation with containing both expected response-and-message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A1C178D-0281-435D-9A76-0A260794070A}"/>
              </a:ext>
            </a:extLst>
          </p:cNvPr>
          <p:cNvSpPr/>
          <p:nvPr/>
        </p:nvSpPr>
        <p:spPr>
          <a:xfrm>
            <a:off x="2142821" y="1736436"/>
            <a:ext cx="267869" cy="535709"/>
          </a:xfrm>
          <a:custGeom>
            <a:avLst/>
            <a:gdLst>
              <a:gd name="connsiteX0" fmla="*/ 240160 w 249396"/>
              <a:gd name="connsiteY0" fmla="*/ 471055 h 474999"/>
              <a:gd name="connsiteX1" fmla="*/ 14 w 249396"/>
              <a:gd name="connsiteY1" fmla="*/ 406400 h 474999"/>
              <a:gd name="connsiteX2" fmla="*/ 249396 w 249396"/>
              <a:gd name="connsiteY2" fmla="*/ 0 h 474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9396" h="474999">
                <a:moveTo>
                  <a:pt x="240160" y="471055"/>
                </a:moveTo>
                <a:cubicBezTo>
                  <a:pt x="119317" y="477982"/>
                  <a:pt x="-1525" y="484909"/>
                  <a:pt x="14" y="406400"/>
                </a:cubicBezTo>
                <a:cubicBezTo>
                  <a:pt x="1553" y="327891"/>
                  <a:pt x="125474" y="163945"/>
                  <a:pt x="249396" y="0"/>
                </a:cubicBezTo>
              </a:path>
            </a:pathLst>
          </a:custGeom>
          <a:noFill/>
          <a:ln w="38100"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0856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ChangeArrowheads="1"/>
          </p:cNvSpPr>
          <p:nvPr>
            <p:ph type="title"/>
          </p:nvPr>
        </p:nvSpPr>
        <p:spPr>
          <a:xfrm>
            <a:off x="2161309" y="624110"/>
            <a:ext cx="9343303" cy="128089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SSD Message Examples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sp>
        <p:nvSpPr>
          <p:cNvPr id="358403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1662546"/>
            <a:ext cx="5273964" cy="3722254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"</a:t>
            </a:r>
            <a:r>
              <a:rPr lang="en-US" altLang="en-US" dirty="0" err="1"/>
              <a:t>Opt</a:t>
            </a:r>
            <a:r>
              <a:rPr lang="en-US" altLang="en-US" dirty="0"/>
              <a:t>" Frame (optional message)</a:t>
            </a:r>
          </a:p>
          <a:p>
            <a:pPr lvl="1"/>
            <a:r>
              <a:rPr lang="en-US" altLang="en-US" dirty="0"/>
              <a:t>Whole frame executed if condition is true</a:t>
            </a:r>
          </a:p>
          <a:p>
            <a:pPr lvl="2"/>
            <a:r>
              <a:rPr lang="en-US" altLang="en-US" dirty="0"/>
              <a:t>Usually for one condition </a:t>
            </a:r>
            <a:r>
              <a:rPr lang="en-US" altLang="en-US" dirty="0">
                <a:sym typeface="Wingdings" panose="05000000000000000000" pitchFamily="2" charset="2"/>
              </a:rPr>
              <a:t></a:t>
            </a:r>
            <a:r>
              <a:rPr lang="en-US" altLang="en-US" dirty="0"/>
              <a:t> multiple messages</a:t>
            </a:r>
          </a:p>
          <a:p>
            <a:pPr lvl="1"/>
            <a:r>
              <a:rPr lang="en-US" altLang="en-US" dirty="0"/>
              <a:t>When there's just the one message:</a:t>
            </a:r>
          </a:p>
          <a:p>
            <a:pPr lvl="2"/>
            <a:r>
              <a:rPr lang="en-US" altLang="en-US" dirty="0"/>
              <a:t>Just attach the condition to the message</a:t>
            </a:r>
          </a:p>
          <a:p>
            <a:endParaRPr lang="en-US" altLang="en-US" dirty="0"/>
          </a:p>
          <a:p>
            <a:r>
              <a:rPr lang="en-US" altLang="en-US" dirty="0"/>
              <a:t>"Alt" Frame</a:t>
            </a:r>
          </a:p>
          <a:p>
            <a:pPr lvl="1"/>
            <a:r>
              <a:rPr lang="en-US" altLang="en-US" dirty="0"/>
              <a:t>For an if-else process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5   ©2016. Cengage Learning. All rights reserved</a:t>
            </a:r>
            <a:endParaRPr lang="en-US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78E43F-96D6-4BB7-A9CF-BB4C0C3F3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58404" name="Rectangle 4"/>
          <p:cNvSpPr>
            <a:spLocks noChangeArrowheads="1"/>
          </p:cNvSpPr>
          <p:nvPr/>
        </p:nvSpPr>
        <p:spPr bwMode="auto">
          <a:xfrm>
            <a:off x="2133600" y="1600200"/>
            <a:ext cx="80010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endParaRPr lang="en-GB" altLang="en-US" sz="28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037" y="-818"/>
            <a:ext cx="4396509" cy="685881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Steps for Developing SSD</a:t>
            </a:r>
          </a:p>
        </p:txBody>
      </p:sp>
      <p:sp>
        <p:nvSpPr>
          <p:cNvPr id="359429" name="Rectangle 5"/>
          <p:cNvSpPr>
            <a:spLocks noGrp="1" noChangeArrowheads="1"/>
          </p:cNvSpPr>
          <p:nvPr>
            <p:ph idx="1"/>
          </p:nvPr>
        </p:nvSpPr>
        <p:spPr>
          <a:xfrm>
            <a:off x="2589212" y="1644073"/>
            <a:ext cx="8915400" cy="4486364"/>
          </a:xfrm>
        </p:spPr>
        <p:txBody>
          <a:bodyPr>
            <a:normAutofit fontScale="92500" lnSpcReduction="20000"/>
          </a:bodyPr>
          <a:lstStyle/>
          <a:p>
            <a:r>
              <a:rPr lang="en-GB" altLang="en-US" dirty="0"/>
              <a:t>Identify the input message</a:t>
            </a:r>
          </a:p>
          <a:p>
            <a:pPr lvl="1"/>
            <a:r>
              <a:rPr lang="en-GB" altLang="en-US" dirty="0"/>
              <a:t>See use case flow of activities or activity diagram</a:t>
            </a:r>
          </a:p>
          <a:p>
            <a:r>
              <a:rPr lang="en-GB" altLang="en-US" dirty="0"/>
              <a:t>Describe the message from the external actor to the system using the message notation</a:t>
            </a:r>
            <a:endParaRPr lang="en-US" altLang="en-US" dirty="0"/>
          </a:p>
          <a:p>
            <a:pPr lvl="1"/>
            <a:r>
              <a:rPr lang="en-US" altLang="en-US" dirty="0"/>
              <a:t>Name it verb-noun: what the system is asked to do </a:t>
            </a:r>
          </a:p>
          <a:p>
            <a:pPr lvl="1"/>
            <a:r>
              <a:rPr lang="en-US" altLang="en-US" dirty="0"/>
              <a:t>Consider parameters the system will need</a:t>
            </a:r>
          </a:p>
          <a:p>
            <a:r>
              <a:rPr lang="en-GB" altLang="en-US" dirty="0"/>
              <a:t>Identify any special conditions on input messages</a:t>
            </a:r>
          </a:p>
          <a:p>
            <a:pPr lvl="1"/>
            <a:r>
              <a:rPr lang="en-GB" altLang="en-US" dirty="0"/>
              <a:t>Iteration/loop frame</a:t>
            </a:r>
          </a:p>
          <a:p>
            <a:pPr lvl="1"/>
            <a:r>
              <a:rPr lang="en-GB" altLang="en-US" dirty="0" err="1"/>
              <a:t>Opt</a:t>
            </a:r>
            <a:r>
              <a:rPr lang="en-GB" altLang="en-US" dirty="0"/>
              <a:t> or Alt frame</a:t>
            </a:r>
          </a:p>
          <a:p>
            <a:r>
              <a:rPr lang="en-GB" altLang="en-US" dirty="0"/>
              <a:t>Identify and add output return values</a:t>
            </a:r>
          </a:p>
          <a:p>
            <a:pPr lvl="1"/>
            <a:r>
              <a:rPr lang="en-GB" altLang="en-US" dirty="0"/>
              <a:t>On message itself: </a:t>
            </a:r>
            <a:r>
              <a:rPr lang="en-GB" altLang="en-US" dirty="0" err="1"/>
              <a:t>aValue</a:t>
            </a:r>
            <a:r>
              <a:rPr lang="en-GB" altLang="en-US" dirty="0"/>
              <a:t>:= </a:t>
            </a:r>
            <a:r>
              <a:rPr lang="en-GB" altLang="en-US" dirty="0" err="1"/>
              <a:t>getValue</a:t>
            </a:r>
            <a:r>
              <a:rPr lang="en-GB" altLang="en-US" dirty="0"/>
              <a:t>(</a:t>
            </a:r>
            <a:r>
              <a:rPr lang="en-GB" altLang="en-US" dirty="0" err="1"/>
              <a:t>valueID</a:t>
            </a:r>
            <a:r>
              <a:rPr lang="en-GB" altLang="en-US" dirty="0"/>
              <a:t>)</a:t>
            </a:r>
          </a:p>
          <a:p>
            <a:pPr lvl="1"/>
            <a:r>
              <a:rPr lang="en-GB" altLang="en-US" dirty="0"/>
              <a:t>As explicit return on separate dashed line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5   ©2016. Cengage Learning. All rights reserved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7A830-C71C-4188-953F-A3B44CB94184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SSD for </a:t>
            </a:r>
            <a:r>
              <a:rPr lang="en-US" altLang="en-US" i="1" dirty="0"/>
              <a:t>Create customer account</a:t>
            </a:r>
            <a:endParaRPr lang="en-US" alt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6115050" cy="365125"/>
          </a:xfrm>
          <a:prstGeom prst="rect">
            <a:avLst/>
          </a:prstGeom>
        </p:spPr>
        <p:txBody>
          <a:bodyPr/>
          <a:lstStyle/>
          <a:p>
            <a:r>
              <a:rPr lang="en-CA" altLang="en-US"/>
              <a:t>Systems Analysis and Design in a Changing World, 7th Edition - Chapter 5   ©2016. Cengage Learning. All rights reserved</a:t>
            </a:r>
            <a:endParaRPr lang="en-US" altLang="en-US"/>
          </a:p>
        </p:txBody>
      </p:sp>
      <p:pic>
        <p:nvPicPr>
          <p:cNvPr id="3604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8908" y="1243965"/>
            <a:ext cx="6059055" cy="5057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C2751-3664-4EBB-9CFB-6E1CE5C7B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SSD for Ship items</a:t>
            </a:r>
            <a:br>
              <a:rPr lang="en-US" altLang="en-US"/>
            </a:br>
            <a:br>
              <a:rPr lang="en-US" altLang="en-US"/>
            </a:b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536267" y="5988026"/>
            <a:ext cx="4735224" cy="365125"/>
          </a:xfrm>
        </p:spPr>
        <p:txBody>
          <a:bodyPr/>
          <a:lstStyle/>
          <a:p>
            <a:r>
              <a:rPr lang="en-CA" altLang="en-US" dirty="0"/>
              <a:t>Systems Analysis and Design in a Changing World, 7th Edition - Chapter 5   ©2016. Cengage Learning. All rights reserved</a:t>
            </a:r>
            <a:endParaRPr lang="en-US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198F71-34B5-4364-8966-EF71A6B61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61476" name="Rectangle 4"/>
          <p:cNvSpPr>
            <a:spLocks noChangeArrowheads="1"/>
          </p:cNvSpPr>
          <p:nvPr/>
        </p:nvSpPr>
        <p:spPr bwMode="auto">
          <a:xfrm>
            <a:off x="2133600" y="1600200"/>
            <a:ext cx="80010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endParaRPr lang="en-GB" altLang="en-US" sz="28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437" y="0"/>
            <a:ext cx="5347855" cy="68734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Cases and CRUD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699491"/>
            <a:ext cx="8915400" cy="4430945"/>
          </a:xfrm>
        </p:spPr>
        <p:txBody>
          <a:bodyPr/>
          <a:lstStyle/>
          <a:p>
            <a:r>
              <a:rPr lang="en-US" dirty="0"/>
              <a:t>CRUD technique – </a:t>
            </a:r>
          </a:p>
          <a:p>
            <a:pPr lvl="1"/>
            <a:r>
              <a:rPr lang="en-US" dirty="0"/>
              <a:t>Create</a:t>
            </a:r>
          </a:p>
          <a:p>
            <a:pPr lvl="1"/>
            <a:r>
              <a:rPr lang="en-US" dirty="0"/>
              <a:t>Retrieve</a:t>
            </a:r>
          </a:p>
          <a:p>
            <a:pPr lvl="1"/>
            <a:r>
              <a:rPr lang="en-US" dirty="0"/>
              <a:t>Update</a:t>
            </a:r>
          </a:p>
          <a:p>
            <a:pPr lvl="1"/>
            <a:r>
              <a:rPr lang="en-US" dirty="0"/>
              <a:t>Delete</a:t>
            </a:r>
          </a:p>
          <a:p>
            <a:r>
              <a:rPr lang="en-US" dirty="0"/>
              <a:t>A good cross-check against the existing set of use cases, in the context of the database</a:t>
            </a:r>
          </a:p>
          <a:p>
            <a:pPr lvl="1"/>
            <a:r>
              <a:rPr lang="en-US" dirty="0"/>
              <a:t>Ensure that all classes have a complete set of use cases</a:t>
            </a:r>
          </a:p>
          <a:p>
            <a:r>
              <a:rPr lang="en-US" dirty="0"/>
              <a:t>Not for primary identification of use cases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6298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Verifying use cases for Customer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399" y="2145146"/>
            <a:ext cx="9360111" cy="318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5765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CRUD Analysis:</a:t>
            </a:r>
            <a:br>
              <a:rPr lang="en-US" dirty="0"/>
            </a:br>
            <a:r>
              <a:rPr lang="en-US" dirty="0"/>
              <a:t>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Identify all domain classes</a:t>
            </a:r>
          </a:p>
          <a:p>
            <a:r>
              <a:rPr lang="en-US" dirty="0"/>
              <a:t>For each class verify that use cases exist to</a:t>
            </a:r>
          </a:p>
          <a:p>
            <a:pPr lvl="1"/>
            <a:r>
              <a:rPr lang="en-US" dirty="0"/>
              <a:t>Create a new instance</a:t>
            </a:r>
          </a:p>
          <a:p>
            <a:pPr lvl="1"/>
            <a:r>
              <a:rPr lang="en-US" dirty="0"/>
              <a:t>Update existing instances</a:t>
            </a:r>
          </a:p>
          <a:p>
            <a:pPr lvl="1"/>
            <a:r>
              <a:rPr lang="en-US" dirty="0"/>
              <a:t>Retrieve (read or report) information in the class</a:t>
            </a:r>
          </a:p>
          <a:p>
            <a:pPr lvl="1"/>
            <a:r>
              <a:rPr lang="en-US" dirty="0"/>
              <a:t>Delete or archive inactive instances</a:t>
            </a:r>
          </a:p>
          <a:p>
            <a:r>
              <a:rPr lang="en-US" dirty="0"/>
              <a:t>Add new use cases as required. </a:t>
            </a:r>
          </a:p>
          <a:p>
            <a:pPr lvl="1"/>
            <a:r>
              <a:rPr lang="en-US" dirty="0"/>
              <a:t>Identify responsible stakeholders</a:t>
            </a:r>
          </a:p>
          <a:p>
            <a:r>
              <a:rPr lang="en-US" dirty="0"/>
              <a:t>Identify which application (use case) has responsibility for each action: </a:t>
            </a:r>
          </a:p>
          <a:p>
            <a:pPr lvl="1"/>
            <a:r>
              <a:rPr lang="en-US" dirty="0"/>
              <a:t>which to create (C), which to update (U), which to use (R), …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4673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CRUD Matrix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053" y="2161959"/>
            <a:ext cx="9461898" cy="267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9204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Interrelated Proofing of Requirements Models</a:t>
            </a:r>
          </a:p>
        </p:txBody>
      </p:sp>
      <p:sp>
        <p:nvSpPr>
          <p:cNvPr id="375812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Use cases</a:t>
            </a:r>
          </a:p>
          <a:p>
            <a:pPr lvl="1"/>
            <a:r>
              <a:rPr lang="en-GB" altLang="en-US"/>
              <a:t>Use case diagram</a:t>
            </a:r>
          </a:p>
          <a:p>
            <a:pPr lvl="2"/>
            <a:r>
              <a:rPr lang="en-GB" altLang="en-US"/>
              <a:t>Use case description</a:t>
            </a:r>
          </a:p>
          <a:p>
            <a:pPr lvl="2"/>
            <a:r>
              <a:rPr lang="en-GB" altLang="en-US"/>
              <a:t>Activity diagram</a:t>
            </a:r>
          </a:p>
          <a:p>
            <a:pPr lvl="2"/>
            <a:r>
              <a:rPr lang="en-GB" altLang="en-US"/>
              <a:t>System sequence diagram (SSD)</a:t>
            </a:r>
          </a:p>
          <a:p>
            <a:r>
              <a:rPr lang="en-GB" altLang="en-US"/>
              <a:t>Domain Classes </a:t>
            </a:r>
          </a:p>
          <a:p>
            <a:pPr lvl="1"/>
            <a:r>
              <a:rPr lang="en-GB" altLang="en-US"/>
              <a:t>Domain model class diagram</a:t>
            </a:r>
          </a:p>
          <a:p>
            <a:pPr lvl="2"/>
            <a:r>
              <a:rPr lang="en-GB" altLang="en-US"/>
              <a:t>State machine diagram</a:t>
            </a:r>
          </a:p>
          <a:p>
            <a:pPr lvl="1"/>
            <a:endParaRPr lang="en-GB" altLang="en-US"/>
          </a:p>
          <a:p>
            <a:endParaRPr lang="en-GB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5   ©2016. Cengage Learning. All rights reserved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7A830-C71C-4188-953F-A3B44CB94184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Integrating Requirements Models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altLang="en-US"/>
              <a:t>Systems Analysis and Design in a Changing World, 7th Edition - Chapter 5   ©2016. Cengage Learning. All rights reserved</a:t>
            </a:r>
            <a:endParaRPr lang="en-US" altLang="en-US" dirty="0"/>
          </a:p>
        </p:txBody>
      </p:sp>
      <p:pic>
        <p:nvPicPr>
          <p:cNvPr id="3747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237" y="2255983"/>
            <a:ext cx="9526275" cy="2934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3AB8CA2-D2D5-4E95-93C7-2E6BF6215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Summary (1)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 dirty="0"/>
              <a:t>Prior chapters modelled two primary aspects of functional requirements: use cases and domain classes</a:t>
            </a:r>
          </a:p>
          <a:p>
            <a:r>
              <a:rPr lang="en-GB" altLang="en-US" dirty="0"/>
              <a:t>This chapter provided models with details of use cases</a:t>
            </a:r>
          </a:p>
          <a:p>
            <a:r>
              <a:rPr lang="en-GB" altLang="en-US" dirty="0"/>
              <a:t>Fully developed use case descriptions provide information about each use case:</a:t>
            </a:r>
          </a:p>
          <a:p>
            <a:pPr lvl="1"/>
            <a:r>
              <a:rPr lang="en-GB" altLang="en-US" dirty="0"/>
              <a:t>actors, stakeholders, preconditions, post conditions, the flow of activities and exceptions conditions </a:t>
            </a:r>
          </a:p>
          <a:p>
            <a:r>
              <a:rPr lang="en-GB" altLang="en-US" dirty="0"/>
              <a:t>Activity diagrams can also show the flow of activities for a use case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81957" name="Rectangle 5"/>
          <p:cNvSpPr>
            <a:spLocks noChangeArrowheads="1"/>
          </p:cNvSpPr>
          <p:nvPr/>
        </p:nvSpPr>
        <p:spPr bwMode="auto">
          <a:xfrm>
            <a:off x="2057400" y="1219200"/>
            <a:ext cx="80010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GB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Summary (2)</a:t>
            </a:r>
          </a:p>
        </p:txBody>
      </p:sp>
      <p:sp>
        <p:nvSpPr>
          <p:cNvPr id="342019" name="Rectangle 3"/>
          <p:cNvSpPr>
            <a:spLocks noGrp="1" noChangeArrowheads="1"/>
          </p:cNvSpPr>
          <p:nvPr>
            <p:ph idx="1"/>
          </p:nvPr>
        </p:nvSpPr>
        <p:spPr>
          <a:xfrm>
            <a:off x="2589212" y="1904999"/>
            <a:ext cx="9307224" cy="4225437"/>
          </a:xfrm>
        </p:spPr>
        <p:txBody>
          <a:bodyPr>
            <a:normAutofit fontScale="92500" lnSpcReduction="20000"/>
          </a:bodyPr>
          <a:lstStyle/>
          <a:p>
            <a:r>
              <a:rPr lang="en-GB" altLang="en-US" dirty="0"/>
              <a:t>System sequence diagrams (SSDs) show the inputs and outputs for each use case as messages</a:t>
            </a:r>
          </a:p>
          <a:p>
            <a:pPr lvl="1"/>
            <a:r>
              <a:rPr lang="en-GB" altLang="en-US" dirty="0"/>
              <a:t>With conditions, parameters required and expected results</a:t>
            </a:r>
          </a:p>
          <a:p>
            <a:r>
              <a:rPr lang="en-GB" altLang="en-US" dirty="0"/>
              <a:t>CRUD analysis verifies classes are fully supported by the system: </a:t>
            </a:r>
          </a:p>
          <a:p>
            <a:pPr lvl="1"/>
            <a:r>
              <a:rPr lang="en-GB" altLang="en-US" dirty="0"/>
              <a:t>Use cases fully process all required actions.</a:t>
            </a:r>
          </a:p>
          <a:p>
            <a:r>
              <a:rPr lang="en-GB" altLang="en-US" dirty="0"/>
              <a:t>Not all use cases and domain classes are modelled at a detailed level. </a:t>
            </a:r>
          </a:p>
          <a:p>
            <a:pPr lvl="1"/>
            <a:r>
              <a:rPr lang="en-GB" altLang="en-US" dirty="0"/>
              <a:t>Model only when there is complexity and there is a need to communicate details</a:t>
            </a:r>
          </a:p>
          <a:p>
            <a:r>
              <a:rPr lang="en-GB" altLang="en-US" dirty="0"/>
              <a:t>All of the models must be consistent and integrate together to provide a complete picture of the requirements and specification. </a:t>
            </a:r>
          </a:p>
          <a:p>
            <a:endParaRPr lang="en-GB" altLang="en-US" dirty="0"/>
          </a:p>
          <a:p>
            <a:endParaRPr lang="en-GB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Systems Analysis and Design in a Changing World, 7th Edition - Chapter 5   ©2016. Cengage Learning. All rights reserved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42021" name="Rectangle 5"/>
          <p:cNvSpPr>
            <a:spLocks noChangeArrowheads="1"/>
          </p:cNvSpPr>
          <p:nvPr/>
        </p:nvSpPr>
        <p:spPr bwMode="auto">
          <a:xfrm>
            <a:off x="2483716" y="2200564"/>
            <a:ext cx="80010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342022" name="Rectangle 6"/>
          <p:cNvSpPr>
            <a:spLocks noChangeArrowheads="1"/>
          </p:cNvSpPr>
          <p:nvPr/>
        </p:nvSpPr>
        <p:spPr bwMode="auto">
          <a:xfrm>
            <a:off x="2138218" y="2115271"/>
            <a:ext cx="82296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GB" altLang="en-US" sz="2400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spDef>
      <a:spPr>
        <a:noFill/>
        <a:ln w="38100">
          <a:tailEnd type="stealth" w="lg" len="lg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57150">
          <a:tailEnd type="stealth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03_UserStories_UseCases_ch3</Template>
  <TotalTime>1572</TotalTime>
  <Words>1975</Words>
  <Application>Microsoft Office PowerPoint</Application>
  <PresentationFormat>Widescreen</PresentationFormat>
  <Paragraphs>235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Century Gothic</vt:lpstr>
      <vt:lpstr>Wingdings</vt:lpstr>
      <vt:lpstr>Wingdings 3</vt:lpstr>
      <vt:lpstr>Wisp</vt:lpstr>
      <vt:lpstr>Domain Modeling: Use Case Descriptions</vt:lpstr>
      <vt:lpstr>Overview (1)</vt:lpstr>
      <vt:lpstr>Overview (2)</vt:lpstr>
      <vt:lpstr>Use Case Descriptions</vt:lpstr>
      <vt:lpstr>Use Case Descriptions</vt:lpstr>
      <vt:lpstr>Fully Developed Use Case Description  Create Customer Account</vt:lpstr>
      <vt:lpstr>Fully Developed Use Case Description  Create customer account (part 1 )</vt:lpstr>
      <vt:lpstr>Fully Developed Use Case Description  Create customer account (part 2 )</vt:lpstr>
      <vt:lpstr>Use Case Description Details</vt:lpstr>
      <vt:lpstr>Use Case Description Details</vt:lpstr>
      <vt:lpstr>Fully Developed Use Case Description:       Ship items</vt:lpstr>
      <vt:lpstr>Fully Developed Use Case Description   Ship items (part 1 )</vt:lpstr>
      <vt:lpstr>Fully Developed Use Case Description  Ship items (part 2 )</vt:lpstr>
      <vt:lpstr>Activity Diagram: Create customer account  </vt:lpstr>
      <vt:lpstr>Activity Diagram:  Ship Items</vt:lpstr>
      <vt:lpstr>Activity Diagram: Fill shopping cart </vt:lpstr>
      <vt:lpstr>System Sequence Diagram (SSD)</vt:lpstr>
      <vt:lpstr>System Sequence Diagram (SSD) Notation</vt:lpstr>
      <vt:lpstr>SSD Loop Examples  </vt:lpstr>
      <vt:lpstr>Message Notation for SSD</vt:lpstr>
      <vt:lpstr>SSD Message Examples    </vt:lpstr>
      <vt:lpstr>Steps for Developing SSD</vt:lpstr>
      <vt:lpstr>SSD for Create customer account</vt:lpstr>
      <vt:lpstr>SSD for Ship items  </vt:lpstr>
      <vt:lpstr>Use Cases and CRUD</vt:lpstr>
      <vt:lpstr>Verifying use cases for Customer</vt:lpstr>
      <vt:lpstr>CRUD Analysis: Steps</vt:lpstr>
      <vt:lpstr>Sample CRUD Matrix</vt:lpstr>
      <vt:lpstr>Interrelated Proofing of Requirements Models</vt:lpstr>
      <vt:lpstr>Integrating Requirements Models</vt:lpstr>
      <vt:lpstr>Summary (1)</vt:lpstr>
      <vt:lpstr>Summary (2)</vt:lpstr>
    </vt:vector>
  </TitlesOfParts>
  <Company>Conestoga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Stories &amp; Use Cases</dc:title>
  <dc:creator>Yasser Ebrahim</dc:creator>
  <cp:lastModifiedBy>Yasser Ebrahim</cp:lastModifiedBy>
  <cp:revision>124</cp:revision>
  <dcterms:created xsi:type="dcterms:W3CDTF">2018-09-03T12:56:08Z</dcterms:created>
  <dcterms:modified xsi:type="dcterms:W3CDTF">2025-09-26T02:55:02Z</dcterms:modified>
</cp:coreProperties>
</file>