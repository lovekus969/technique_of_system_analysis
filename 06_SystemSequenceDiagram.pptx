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9"/>
  </p:notesMasterIdLst>
  <p:sldIdLst>
    <p:sldId id="296" r:id="rId2"/>
    <p:sldId id="298" r:id="rId3"/>
    <p:sldId id="305" r:id="rId4"/>
    <p:sldId id="297" r:id="rId5"/>
    <p:sldId id="303" r:id="rId6"/>
    <p:sldId id="299" r:id="rId7"/>
    <p:sldId id="304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FA6BBB-23E0-4BB3-9A54-2A88BD805113}" type="datetimeFigureOut">
              <a:rPr lang="en-CA" smtClean="0"/>
              <a:t>2023-10-05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20D7F2-FE09-43F8-AA49-750A2F5F062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544501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20D7F2-FE09-43F8-AA49-750A2F5F0620}" type="slidenum">
              <a:rPr lang="en-CA" smtClean="0"/>
              <a:t>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097574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20D7F2-FE09-43F8-AA49-750A2F5F0620}" type="slidenum">
              <a:rPr lang="en-CA" smtClean="0"/>
              <a:t>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957687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/>
          <a:lstStyle>
            <a:lvl1pPr>
              <a:defRPr sz="1200" baseline="0"/>
            </a:lvl1pPr>
          </a:lstStyle>
          <a:p>
            <a:fld id="{9F62F1C3-5315-44B2-BBB1-3C25407EA826}" type="datetime1">
              <a:rPr lang="en-CA" smtClean="0"/>
              <a:t>2023-10-05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9213" y="6135808"/>
            <a:ext cx="5701348" cy="447872"/>
          </a:xfrm>
          <a:prstGeom prst="rect">
            <a:avLst/>
          </a:prstGeom>
        </p:spPr>
        <p:txBody>
          <a:bodyPr/>
          <a:lstStyle/>
          <a:p>
            <a:endParaRPr lang="en-CA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82041B31-A4F6-41B3-8E12-2F0FEDFD9CD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514478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1904999"/>
            <a:ext cx="8915400" cy="422543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4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/>
          <a:lstStyle/>
          <a:p>
            <a:fld id="{CC73E816-E904-46C6-B075-DBCC5B247258}" type="datetime1">
              <a:rPr lang="en-CA" smtClean="0"/>
              <a:t>2023-10-05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9212" y="6135808"/>
            <a:ext cx="5866811" cy="466160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endParaRPr lang="en-CA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2041B31-A4F6-41B3-8E12-2F0FEDFD9CD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865178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/>
          <a:lstStyle/>
          <a:p>
            <a:fld id="{4938A67D-2030-4A3D-B12D-697496B56396}" type="datetime1">
              <a:rPr lang="en-CA" smtClean="0"/>
              <a:t>2023-10-05</a:t>
            </a:fld>
            <a:endParaRPr lang="en-CA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82041B31-A4F6-41B3-8E12-2F0FEDFD9CDC}" type="slidenum">
              <a:rPr lang="en-CA" smtClean="0"/>
              <a:t>‹#›</a:t>
            </a:fld>
            <a:endParaRPr lang="en-CA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8D1C4824-63FE-4934-850C-1649171EE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89212" y="6135808"/>
            <a:ext cx="5683931" cy="466160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514949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/>
          <a:lstStyle/>
          <a:p>
            <a:fld id="{9B7C8F15-ED48-4394-87D8-8153853656CD}" type="datetime1">
              <a:rPr lang="en-CA" smtClean="0"/>
              <a:t>2023-10-05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589213" y="6135808"/>
            <a:ext cx="5762308" cy="365125"/>
          </a:xfrm>
          <a:prstGeom prst="rect">
            <a:avLst/>
          </a:prstGeom>
        </p:spPr>
        <p:txBody>
          <a:bodyPr/>
          <a:lstStyle/>
          <a:p>
            <a:endParaRPr lang="en-CA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82041B31-A4F6-41B3-8E12-2F0FEDFD9CD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196936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/>
          <a:lstStyle/>
          <a:p>
            <a:fld id="{7809B569-4356-4CAF-84EB-77398DE99ED3}" type="datetime1">
              <a:rPr lang="en-CA" smtClean="0"/>
              <a:t>2023-10-05</a:t>
            </a:fld>
            <a:endParaRPr lang="en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2589212" y="6135808"/>
            <a:ext cx="5718765" cy="365125"/>
          </a:xfrm>
          <a:prstGeom prst="rect">
            <a:avLst/>
          </a:prstGeom>
        </p:spPr>
        <p:txBody>
          <a:bodyPr/>
          <a:lstStyle/>
          <a:p>
            <a:endParaRPr lang="en-CA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82041B31-A4F6-41B3-8E12-2F0FEDFD9CD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071892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/>
          <a:lstStyle/>
          <a:p>
            <a:fld id="{5664172D-32F6-411D-866D-8BB56E7CF123}" type="datetime1">
              <a:rPr lang="en-CA" smtClean="0"/>
              <a:t>2023-10-05</a:t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/>
          <a:lstStyle/>
          <a:p>
            <a:endParaRPr lang="en-CA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41B31-A4F6-41B3-8E12-2F0FEDFD9CD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450693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/>
          <a:lstStyle/>
          <a:p>
            <a:fld id="{DB98DAC2-D668-42CD-B74A-EE6CD168F34B}" type="datetime1">
              <a:rPr lang="en-CA" smtClean="0"/>
              <a:t>2023-10-05</a:t>
            </a:fld>
            <a:endParaRPr lang="en-C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/>
          <a:lstStyle/>
          <a:p>
            <a:endParaRPr lang="en-CA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41B31-A4F6-41B3-8E12-2F0FEDFD9CD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392402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/>
          <a:lstStyle/>
          <a:p>
            <a:fld id="{D26E7CC1-A7B4-4561-8B8A-835BCBB14E4C}" type="datetime1">
              <a:rPr lang="en-CA" smtClean="0"/>
              <a:t>2023-10-05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/>
          <a:lstStyle/>
          <a:p>
            <a:endParaRPr lang="en-CA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41B31-A4F6-41B3-8E12-2F0FEDFD9CD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214301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/>
          <a:lstStyle/>
          <a:p>
            <a:fld id="{D72DB64D-2261-427A-AC99-82AF25AED80C}" type="datetime1">
              <a:rPr lang="en-CA" smtClean="0"/>
              <a:t>2023-10-05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/>
          <a:lstStyle/>
          <a:p>
            <a:endParaRPr lang="en-CA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82041B31-A4F6-41B3-8E12-2F0FEDFD9CD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61947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/>
          <a:lstStyle/>
          <a:p>
            <a:fld id="{D9FDA3D4-5836-44C8-9129-0B3901EE68DA}" type="datetime1">
              <a:rPr lang="en-CA" smtClean="0"/>
              <a:t>2023-10-05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/>
          <a:lstStyle/>
          <a:p>
            <a:endParaRPr lang="en-CA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82041B31-A4F6-41B3-8E12-2F0FEDFD9CD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76912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/>
          <a:lstStyle/>
          <a:p>
            <a:fld id="{F7D6A68A-C180-4E22-A3C2-1734D8A76BFE}" type="datetime1">
              <a:rPr lang="en-CA" smtClean="0"/>
              <a:t>2023-10-05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/>
          <a:lstStyle/>
          <a:p>
            <a:endParaRPr lang="en-CA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82041B31-A4F6-41B3-8E12-2F0FEDFD9CDC}" type="slidenum">
              <a:rPr lang="en-CA" smtClean="0"/>
              <a:t>‹#›</a:t>
            </a:fld>
            <a:endParaRPr lang="en-CA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7141241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/>
          <a:lstStyle/>
          <a:p>
            <a:fld id="{1094D7E3-3761-47BA-BCFE-4F0D677856B9}" type="datetime1">
              <a:rPr lang="en-CA" smtClean="0"/>
              <a:t>2023-10-05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/>
          <a:lstStyle/>
          <a:p>
            <a:endParaRPr lang="en-CA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82041B31-A4F6-41B3-8E12-2F0FEDFD9CD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4015672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/>
          <a:lstStyle/>
          <a:p>
            <a:fld id="{B27C9D83-0369-4987-BF50-A11E1C898C08}" type="datetime1">
              <a:rPr lang="en-CA" smtClean="0"/>
              <a:t>2023-10-05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/>
          <a:lstStyle/>
          <a:p>
            <a:endParaRPr lang="en-CA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82041B31-A4F6-41B3-8E12-2F0FEDFD9CDC}" type="slidenum">
              <a:rPr lang="en-CA" smtClean="0"/>
              <a:t>‹#›</a:t>
            </a:fld>
            <a:endParaRPr lang="en-CA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75524998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/>
          <a:lstStyle/>
          <a:p>
            <a:fld id="{EEE0B68B-4F9E-4054-AFD3-2953D66CA402}" type="datetime1">
              <a:rPr lang="en-CA" smtClean="0"/>
              <a:t>2023-10-05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/>
          <a:lstStyle/>
          <a:p>
            <a:endParaRPr lang="en-CA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82041B31-A4F6-41B3-8E12-2F0FEDFD9CD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5013643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/>
          <a:lstStyle/>
          <a:p>
            <a:fld id="{17624928-42D0-4FA6-AAFE-96285C6B3F58}" type="datetime1">
              <a:rPr lang="en-CA" smtClean="0"/>
              <a:t>2023-10-05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/>
          <a:lstStyle/>
          <a:p>
            <a:endParaRPr lang="en-CA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41B31-A4F6-41B3-8E12-2F0FEDFD9CD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9233538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/>
          <a:lstStyle/>
          <a:p>
            <a:fld id="{A2D9527E-0C21-4369-B03C-3E20A4A8E8BB}" type="datetime1">
              <a:rPr lang="en-CA" smtClean="0"/>
              <a:t>2023-10-05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/>
          <a:lstStyle/>
          <a:p>
            <a:endParaRPr lang="en-CA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41B31-A4F6-41B3-8E12-2F0FEDFD9CD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6528357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22238"/>
            <a:ext cx="10058400" cy="1295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719263"/>
            <a:ext cx="5384800" cy="441166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719263"/>
            <a:ext cx="5384800" cy="441166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248400"/>
            <a:ext cx="16256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F27D6154-431D-4B0D-A034-27E4C05FD680}" type="datetime1">
              <a:rPr lang="en-CA" smtClean="0"/>
              <a:t>2023-10-05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438400" y="6248400"/>
            <a:ext cx="5725886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058400" y="6248400"/>
            <a:ext cx="1524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82041B31-A4F6-41B3-8E12-2F0FEDFD9CD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6586540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18392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054149"/>
            <a:ext cx="8915400" cy="39656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82041B31-A4F6-41B3-8E12-2F0FEDFD9CDC}" type="slidenum">
              <a:rPr lang="en-CA" smtClean="0"/>
              <a:t>‹#›</a:t>
            </a:fld>
            <a:endParaRPr lang="en-CA"/>
          </a:p>
        </p:txBody>
      </p:sp>
      <p:sp>
        <p:nvSpPr>
          <p:cNvPr id="36" name="Footer Placeholder 4">
            <a:extLst>
              <a:ext uri="{FF2B5EF4-FFF2-40B4-BE49-F238E27FC236}">
                <a16:creationId xmlns:a16="http://schemas.microsoft.com/office/drawing/2014/main" id="{97715875-6463-4843-98B4-567CE42543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89213" y="6135808"/>
            <a:ext cx="5605553" cy="466160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endParaRPr lang="en-CA"/>
          </a:p>
        </p:txBody>
      </p:sp>
      <p:sp>
        <p:nvSpPr>
          <p:cNvPr id="37" name="Date Placeholder 3">
            <a:extLst>
              <a:ext uri="{FF2B5EF4-FFF2-40B4-BE49-F238E27FC236}">
                <a16:creationId xmlns:a16="http://schemas.microsoft.com/office/drawing/2014/main" id="{E7666366-4D39-48D8-9968-6B1EBFEABC0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/>
          <a:lstStyle>
            <a:lvl1pPr>
              <a:defRPr sz="1200" baseline="0"/>
            </a:lvl1pPr>
          </a:lstStyle>
          <a:p>
            <a:fld id="{896821A3-1C2A-45ED-9166-F72C7B83911E}" type="datetime1">
              <a:rPr lang="en-CA" smtClean="0"/>
              <a:t>2023-10-05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786198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rgbClr val="0070C0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78F4636-1860-45D0-8527-38AA8198D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System Sequence Diagram (SSD)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8FC4CF3-12F8-48F8-A78B-D57AFD0BBD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… using Visual Paradigm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119BB3-7EE3-4D49-8537-A6425C0028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41B31-A4F6-41B3-8E12-2F0FEDFD9CDC}" type="slidenum">
              <a:rPr lang="en-CA" smtClean="0"/>
              <a:t>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766344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47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/>
              <a:t>SSD for Ship items</a:t>
            </a:r>
            <a:br>
              <a:rPr lang="en-US" altLang="en-US"/>
            </a:br>
            <a:br>
              <a:rPr lang="en-US" altLang="en-US"/>
            </a:br>
            <a:endParaRPr lang="en-US" alt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xfrm>
            <a:off x="1536267" y="5988026"/>
            <a:ext cx="4735224" cy="365125"/>
          </a:xfrm>
        </p:spPr>
        <p:txBody>
          <a:bodyPr/>
          <a:lstStyle/>
          <a:p>
            <a:r>
              <a:rPr lang="en-CA" altLang="en-US" dirty="0"/>
              <a:t>Systems Analysis and Design in a Changing World, 7th Edition - Chapter 5   ©2016. Cengage Learning. All rights reserved</a:t>
            </a:r>
            <a:endParaRPr lang="en-US" alt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6198F71-34B5-4364-8966-EF71A6B61B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90C86-DB09-4CA5-9AE5-F173E2292E92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361476" name="Rectangle 4"/>
          <p:cNvSpPr>
            <a:spLocks noChangeArrowheads="1"/>
          </p:cNvSpPr>
          <p:nvPr/>
        </p:nvSpPr>
        <p:spPr bwMode="auto">
          <a:xfrm>
            <a:off x="2133600" y="1600200"/>
            <a:ext cx="8001000" cy="472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92150" indent="-347663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87425" indent="-293688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281113" indent="-2921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598613" indent="-315913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055813" indent="-315913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513013" indent="-315913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2970213" indent="-315913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427413" indent="-315913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</a:pPr>
            <a:endParaRPr lang="en-GB" altLang="en-US" sz="280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6437" y="0"/>
            <a:ext cx="5347855" cy="6873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85204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825" y="512462"/>
            <a:ext cx="8911687" cy="1280890"/>
          </a:xfrm>
        </p:spPr>
        <p:txBody>
          <a:bodyPr/>
          <a:lstStyle/>
          <a:p>
            <a:r>
              <a:rPr lang="en-US" dirty="0"/>
              <a:t>Individual Lab Instructions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46212" y="1676398"/>
            <a:ext cx="4716463" cy="4657727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Follow the </a:t>
            </a:r>
            <a:r>
              <a:rPr lang="en-US" b="1" dirty="0"/>
              <a:t>VP tutorial / lab </a:t>
            </a:r>
            <a:r>
              <a:rPr lang="en-US" dirty="0"/>
              <a:t>while the instructor is doing an in-class demo</a:t>
            </a:r>
          </a:p>
          <a:p>
            <a:pPr lvl="1"/>
            <a:r>
              <a:rPr lang="en-US" b="1" dirty="0"/>
              <a:t>Optional</a:t>
            </a:r>
            <a:r>
              <a:rPr lang="en-US" dirty="0"/>
              <a:t>: Review the steps using the pre-recorded video</a:t>
            </a:r>
          </a:p>
          <a:p>
            <a:r>
              <a:rPr lang="en-US" dirty="0"/>
              <a:t>When naming a modeling element, add your initials</a:t>
            </a:r>
          </a:p>
          <a:p>
            <a:pPr lvl="1"/>
            <a:r>
              <a:rPr lang="en-US" dirty="0"/>
              <a:t>E.g., </a:t>
            </a:r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MT Shipping Clerk</a:t>
            </a:r>
            <a:r>
              <a:rPr lang="en-US" dirty="0"/>
              <a:t>,</a:t>
            </a:r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 …</a:t>
            </a:r>
          </a:p>
          <a:p>
            <a:pPr lvl="1"/>
            <a:r>
              <a:rPr lang="en-US" dirty="0"/>
              <a:t>You can </a:t>
            </a:r>
            <a:r>
              <a:rPr lang="en-US" b="1" dirty="0"/>
              <a:t>skip</a:t>
            </a:r>
            <a:r>
              <a:rPr lang="en-US" dirty="0"/>
              <a:t> this rule for naming System and Operations</a:t>
            </a:r>
          </a:p>
          <a:p>
            <a:r>
              <a:rPr lang="en-US" dirty="0"/>
              <a:t>Save your individual work to </a:t>
            </a:r>
            <a:r>
              <a:rPr lang="en-US" b="1" dirty="0">
                <a:solidFill>
                  <a:schemeClr val="accent2">
                    <a:lumMod val="50000"/>
                  </a:schemeClr>
                </a:solidFill>
              </a:rPr>
              <a:t>A</a:t>
            </a:r>
            <a:r>
              <a:rPr lang="ar-EG" b="1" dirty="0">
                <a:solidFill>
                  <a:schemeClr val="accent2">
                    <a:lumMod val="50000"/>
                  </a:schemeClr>
                </a:solidFill>
              </a:rPr>
              <a:t>4</a:t>
            </a:r>
            <a:r>
              <a:rPr lang="en-US" b="1" dirty="0">
                <a:solidFill>
                  <a:schemeClr val="accent2">
                    <a:lumMod val="50000"/>
                  </a:schemeClr>
                </a:solidFill>
              </a:rPr>
              <a:t>_Lab_&lt;student name&gt;.</a:t>
            </a:r>
            <a:r>
              <a:rPr lang="en-US" b="1" dirty="0" err="1">
                <a:solidFill>
                  <a:schemeClr val="accent2">
                    <a:lumMod val="50000"/>
                  </a:schemeClr>
                </a:solidFill>
              </a:rPr>
              <a:t>vpp</a:t>
            </a:r>
            <a:r>
              <a:rPr lang="en-US" b="1" dirty="0">
                <a:solidFill>
                  <a:schemeClr val="accent2">
                    <a:lumMod val="50000"/>
                  </a:schemeClr>
                </a:solidFill>
              </a:rPr>
              <a:t> </a:t>
            </a:r>
            <a:r>
              <a:rPr lang="en-US" dirty="0"/>
              <a:t>and make a copy to </a:t>
            </a:r>
            <a:r>
              <a:rPr lang="en-US" b="1" dirty="0"/>
              <a:t>General\A</a:t>
            </a:r>
            <a:r>
              <a:rPr lang="ar-EG" b="1" dirty="0"/>
              <a:t>4</a:t>
            </a:r>
            <a:r>
              <a:rPr lang="en-US" b="1" dirty="0"/>
              <a:t> </a:t>
            </a:r>
            <a:r>
              <a:rPr lang="en-US" dirty="0"/>
              <a:t>folder on your </a:t>
            </a:r>
            <a:r>
              <a:rPr lang="en-US" b="1" dirty="0"/>
              <a:t>MS Teams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41B31-A4F6-41B3-8E12-2F0FEDFD9CDC}" type="slidenum">
              <a:rPr lang="en-CA" smtClean="0"/>
              <a:t>3</a:t>
            </a:fld>
            <a:endParaRPr lang="en-CA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0566" y="1549277"/>
            <a:ext cx="4552002" cy="4631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65028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5334A4E-9581-4C65-BED1-22DA14CB7C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150" y="624107"/>
            <a:ext cx="8911687" cy="1280890"/>
          </a:xfrm>
        </p:spPr>
        <p:txBody>
          <a:bodyPr/>
          <a:lstStyle/>
          <a:p>
            <a:r>
              <a:rPr lang="en-CA" dirty="0"/>
              <a:t>SSD using Visual Paradigm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51ED829-B5CA-4BEE-A6BF-28E272A40A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28150" y="1905000"/>
            <a:ext cx="9104024" cy="4225437"/>
          </a:xfrm>
        </p:spPr>
        <p:txBody>
          <a:bodyPr/>
          <a:lstStyle/>
          <a:p>
            <a:r>
              <a:rPr lang="en-US" dirty="0"/>
              <a:t>Create a new </a:t>
            </a:r>
            <a:r>
              <a:rPr lang="en-US" dirty="0">
                <a:solidFill>
                  <a:srgbClr val="FF0000"/>
                </a:solidFill>
              </a:rPr>
              <a:t>Sequence Diagram</a:t>
            </a:r>
          </a:p>
          <a:p>
            <a:r>
              <a:rPr lang="en-US" dirty="0"/>
              <a:t>Add </a:t>
            </a:r>
            <a:r>
              <a:rPr lang="en-US" dirty="0">
                <a:solidFill>
                  <a:srgbClr val="FF0000"/>
                </a:solidFill>
              </a:rPr>
              <a:t>Actor</a:t>
            </a:r>
            <a:r>
              <a:rPr lang="en-US" dirty="0"/>
              <a:t> (Shipping Clerk)</a:t>
            </a:r>
          </a:p>
          <a:p>
            <a:r>
              <a:rPr lang="en-US" dirty="0"/>
              <a:t>Add </a:t>
            </a:r>
            <a:r>
              <a:rPr lang="en-US" dirty="0">
                <a:solidFill>
                  <a:srgbClr val="FF0000"/>
                </a:solidFill>
              </a:rPr>
              <a:t>Lifeline</a:t>
            </a:r>
            <a:r>
              <a:rPr lang="en-US" dirty="0"/>
              <a:t> (:System)</a:t>
            </a:r>
          </a:p>
          <a:p>
            <a:r>
              <a:rPr lang="en-US" dirty="0"/>
              <a:t>Add </a:t>
            </a:r>
            <a:r>
              <a:rPr lang="en-US" dirty="0">
                <a:solidFill>
                  <a:srgbClr val="FF0000"/>
                </a:solidFill>
              </a:rPr>
              <a:t>Message</a:t>
            </a:r>
          </a:p>
          <a:p>
            <a:pPr lvl="1"/>
            <a:r>
              <a:rPr lang="en-US" dirty="0"/>
              <a:t>Create Reply message</a:t>
            </a:r>
          </a:p>
          <a:p>
            <a:r>
              <a:rPr lang="en-US" dirty="0"/>
              <a:t>Add </a:t>
            </a:r>
            <a:r>
              <a:rPr lang="en-US" dirty="0">
                <a:solidFill>
                  <a:srgbClr val="FF0000"/>
                </a:solidFill>
              </a:rPr>
              <a:t>Combined Fragment</a:t>
            </a:r>
          </a:p>
          <a:p>
            <a:pPr lvl="1"/>
            <a:r>
              <a:rPr lang="en-US" dirty="0"/>
              <a:t>E.g., Loop, Alt</a:t>
            </a:r>
          </a:p>
          <a:p>
            <a:pPr lvl="1"/>
            <a:r>
              <a:rPr lang="en-US" dirty="0"/>
              <a:t>Interaction Operands</a:t>
            </a:r>
          </a:p>
          <a:p>
            <a:pPr lvl="2"/>
            <a:r>
              <a:rPr lang="en-US" dirty="0"/>
              <a:t>Guard condition</a:t>
            </a:r>
          </a:p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1C872D-9E3C-41CE-9735-9D24CD1551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41B31-A4F6-41B3-8E12-2F0FEDFD9CDC}" type="slidenum">
              <a:rPr lang="en-CA" smtClean="0"/>
              <a:t>4</a:t>
            </a:fld>
            <a:endParaRPr lang="en-CA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4791" y="1470657"/>
            <a:ext cx="3790950" cy="30099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65458" y="4570167"/>
            <a:ext cx="4133850" cy="190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73824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5334A4E-9581-4C65-BED1-22DA14CB7C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150" y="624107"/>
            <a:ext cx="10119340" cy="1280890"/>
          </a:xfrm>
        </p:spPr>
        <p:txBody>
          <a:bodyPr/>
          <a:lstStyle/>
          <a:p>
            <a:r>
              <a:rPr lang="en-CA" dirty="0"/>
              <a:t>SSD: Add guard to operand (Option 1)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51ED829-B5CA-4BEE-A6BF-28E272A40A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28149" y="1905000"/>
            <a:ext cx="4562603" cy="4225437"/>
          </a:xfrm>
        </p:spPr>
        <p:txBody>
          <a:bodyPr/>
          <a:lstStyle/>
          <a:p>
            <a:r>
              <a:rPr lang="en-US" dirty="0"/>
              <a:t>Fragment: </a:t>
            </a:r>
            <a:r>
              <a:rPr lang="en-US" b="1" dirty="0"/>
              <a:t>Loop</a:t>
            </a:r>
          </a:p>
          <a:p>
            <a:r>
              <a:rPr lang="en-US" b="1" dirty="0"/>
              <a:t>Interaction Operands </a:t>
            </a:r>
            <a:r>
              <a:rPr lang="en-US" dirty="0"/>
              <a:t>tab</a:t>
            </a:r>
          </a:p>
          <a:p>
            <a:pPr lvl="1"/>
            <a:r>
              <a:rPr lang="en-US" dirty="0"/>
              <a:t>Open Specification…</a:t>
            </a:r>
          </a:p>
          <a:p>
            <a:r>
              <a:rPr lang="en-US" b="1" dirty="0"/>
              <a:t>Guard</a:t>
            </a:r>
            <a:r>
              <a:rPr lang="en-US" dirty="0"/>
              <a:t> tab</a:t>
            </a:r>
          </a:p>
          <a:p>
            <a:pPr lvl="1"/>
            <a:r>
              <a:rPr lang="en-US" dirty="0"/>
              <a:t>Edit </a:t>
            </a:r>
            <a:r>
              <a:rPr lang="en-US" b="1" dirty="0"/>
              <a:t>Constraint</a:t>
            </a:r>
            <a:endParaRPr lang="en-CA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1C872D-9E3C-41CE-9735-9D24CD1551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41B31-A4F6-41B3-8E12-2F0FEDFD9CDC}" type="slidenum">
              <a:rPr lang="en-CA" smtClean="0"/>
              <a:t>5</a:t>
            </a:fld>
            <a:endParaRPr lang="en-CA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7331" y="1884118"/>
            <a:ext cx="4610100" cy="213360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56742" y="4425828"/>
            <a:ext cx="4429125" cy="2019300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97331" y="4425828"/>
            <a:ext cx="4485323" cy="2040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98836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5334A4E-9581-4C65-BED1-22DA14CB7C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7115" y="382393"/>
            <a:ext cx="8911687" cy="1280890"/>
          </a:xfrm>
        </p:spPr>
        <p:txBody>
          <a:bodyPr/>
          <a:lstStyle/>
          <a:p>
            <a:r>
              <a:rPr lang="en-US" dirty="0"/>
              <a:t>SSD: </a:t>
            </a:r>
            <a:r>
              <a:rPr lang="en-CA" dirty="0"/>
              <a:t>Add guard to operand (Option 2)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1C872D-9E3C-41CE-9735-9D24CD1551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41B31-A4F6-41B3-8E12-2F0FEDFD9CDC}" type="slidenum">
              <a:rPr lang="en-CA" smtClean="0"/>
              <a:t>6</a:t>
            </a:fld>
            <a:endParaRPr lang="en-CA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940262" y="1744225"/>
            <a:ext cx="4697191" cy="4225437"/>
          </a:xfrm>
        </p:spPr>
        <p:txBody>
          <a:bodyPr/>
          <a:lstStyle/>
          <a:p>
            <a:r>
              <a:rPr lang="en-US" b="1" dirty="0"/>
              <a:t>Operand</a:t>
            </a:r>
          </a:p>
          <a:p>
            <a:pPr lvl="1"/>
            <a:r>
              <a:rPr lang="en-US" b="1" dirty="0"/>
              <a:t>Manage Operands</a:t>
            </a:r>
            <a:r>
              <a:rPr lang="en-US" dirty="0"/>
              <a:t>…</a:t>
            </a:r>
          </a:p>
          <a:p>
            <a:r>
              <a:rPr lang="en-US" dirty="0"/>
              <a:t>Short-cut to access:</a:t>
            </a:r>
          </a:p>
          <a:p>
            <a:pPr lvl="1"/>
            <a:r>
              <a:rPr lang="en-US" b="1" dirty="0"/>
              <a:t>Interaction Operands </a:t>
            </a:r>
          </a:p>
          <a:p>
            <a:pPr lvl="2"/>
            <a:r>
              <a:rPr lang="en-US" dirty="0"/>
              <a:t>Operand 1, 2, 3</a:t>
            </a:r>
          </a:p>
          <a:p>
            <a:pPr lvl="1"/>
            <a:r>
              <a:rPr lang="en-US" b="1" dirty="0"/>
              <a:t>Constraints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4046" y="4515175"/>
            <a:ext cx="4610100" cy="1952625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27353" y="4515175"/>
            <a:ext cx="4610100" cy="195262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23421" y="1744225"/>
            <a:ext cx="5800725" cy="2447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54156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5334A4E-9581-4C65-BED1-22DA14CB7C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7115" y="382393"/>
            <a:ext cx="9852267" cy="1280890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Putting it together… </a:t>
            </a:r>
            <a:r>
              <a:rPr lang="en-US" dirty="0"/>
              <a:t>(06_VP_SSD.mp4)</a:t>
            </a:r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1C872D-9E3C-41CE-9735-9D24CD1551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41B31-A4F6-41B3-8E12-2F0FEDFD9CDC}" type="slidenum">
              <a:rPr lang="en-CA" smtClean="0"/>
              <a:t>7</a:t>
            </a:fld>
            <a:endParaRPr lang="en-CA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CA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7115" y="1301139"/>
            <a:ext cx="5340149" cy="5433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0886018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>
    <a:spDef>
      <a:spPr>
        <a:noFill/>
        <a:ln w="38100">
          <a:tailEnd type="stealth" w="lg" len="lg"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57150">
          <a:tailEnd type="stealth" w="lg" len="lg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04_DomainClassDiagram</Template>
  <TotalTime>2441</TotalTime>
  <Words>232</Words>
  <Application>Microsoft Office PowerPoint</Application>
  <PresentationFormat>Widescreen</PresentationFormat>
  <Paragraphs>44</Paragraphs>
  <Slides>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Calibri</vt:lpstr>
      <vt:lpstr>Century Gothic</vt:lpstr>
      <vt:lpstr>Wingdings</vt:lpstr>
      <vt:lpstr>Wingdings 3</vt:lpstr>
      <vt:lpstr>Wisp</vt:lpstr>
      <vt:lpstr>System Sequence Diagram (SSD)</vt:lpstr>
      <vt:lpstr>SSD for Ship items  </vt:lpstr>
      <vt:lpstr>Individual Lab Instructions</vt:lpstr>
      <vt:lpstr>SSD using Visual Paradigm</vt:lpstr>
      <vt:lpstr>SSD: Add guard to operand (Option 1)</vt:lpstr>
      <vt:lpstr>SSD: Add guard to operand (Option 2)</vt:lpstr>
      <vt:lpstr>Putting it together… (06_VP_SSD.mp4)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Adam Ebrahim</cp:lastModifiedBy>
  <cp:revision>131</cp:revision>
  <dcterms:created xsi:type="dcterms:W3CDTF">2018-09-17T15:56:44Z</dcterms:created>
  <dcterms:modified xsi:type="dcterms:W3CDTF">2023-10-05T12:14:10Z</dcterms:modified>
</cp:coreProperties>
</file>