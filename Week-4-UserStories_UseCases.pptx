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30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97" r:id="rId28"/>
    <p:sldId id="298" r:id="rId29"/>
    <p:sldId id="299" r:id="rId30"/>
    <p:sldId id="281" r:id="rId31"/>
    <p:sldId id="282" r:id="rId32"/>
    <p:sldId id="283" r:id="rId33"/>
    <p:sldId id="284" r:id="rId34"/>
    <p:sldId id="285" r:id="rId35"/>
    <p:sldId id="293" r:id="rId36"/>
    <p:sldId id="286" r:id="rId37"/>
    <p:sldId id="294" r:id="rId38"/>
    <p:sldId id="295" r:id="rId39"/>
    <p:sldId id="296" r:id="rId40"/>
    <p:sldId id="287" r:id="rId41"/>
    <p:sldId id="288" r:id="rId42"/>
    <p:sldId id="28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38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22:48:17.2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0 172,'161'1,"186"-3,-88-23,0-22,-169 29,6-1,145-24,-172 34,106-1,323 12,-471-1,0 2,36 8,-22-3,13 3,-30-6,0 0,39 1,306-5,-167-3,-192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22:48:19.6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0 146,'464'-17,"0"-23,-154 12,354-18,7 31,-115 16,-516 1,53 9,-53-5,48 1,-61-5,-1 1,0 1,40 12,-5 4,-37-12,45 10,-31-10,41 15,-37-10,-22-5,-5-1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22:48:22.4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1 197,'167'1,"185"-3,-273-2,1-4,132-31,54-18,-126 29,-45 8,0 4,188-6,952 24,-787-3,-401 4,50 7,32 3,-108-13,1 0,-1 2,0 1,0 0,-1 1,40 15,74 22,-100-30,0-2,39 6,-49-10,23 1,1-2,0-2,48-4,-11 0,87 3,166-3,-209-10,31 0,-92 9,-1-2,0-3,72-18,-25 4,-68 14,-1-1,45-16,-76 21,1 0,0 0,0 2,28-2,63 5,-40 1,-22-1,-44-1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22:48:25.5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95,'382'-1,"427"2,-230 36,-280-26,-61-5,-77 11,161 39,-186-35,-35-7,16-2,-14-2,-16-1,161-7,-122-4,278 2,-368 2,50 8,21 2,222-10,-170-3,-14-12,-12 0,-28 15,55-4,-87-9,-46 7,42-4,-36 7,-1-2,0-1,59-16,-19 4,-46 11,0-1,44-17,-31 8,1 1,1 2,0 2,55-6,20-10,-27 5,59-5,-136 23,0 0,0 0,22-10,16-5,-30 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22:50:34.2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22:51:57.4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85EAF-15A8-4824-8602-B0688E4B35B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818EF-E24B-45C2-8BDA-A43363402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4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818EF-E24B-45C2-8BDA-A433634024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89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7075" indent="-279400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19188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66863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14538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4717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289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3861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433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CB4C94-54CB-4F72-8E62-2283641BBC6C}" type="slidenum">
              <a:rPr kumimoji="0" lang="en-GB" altLang="en-US" smtClean="0">
                <a:solidFill>
                  <a:srgbClr val="000000"/>
                </a:solidFill>
                <a:ea typeface="MS Gothic" panose="020B0609070205080204" pitchFamily="49" charset="-128"/>
              </a:rPr>
              <a:pPr>
                <a:spcBef>
                  <a:spcPct val="0"/>
                </a:spcBef>
              </a:pPr>
              <a:t>27</a:t>
            </a:fld>
            <a:endParaRPr kumimoji="0" lang="en-GB" altLang="en-US">
              <a:solidFill>
                <a:srgbClr val="000000"/>
              </a:solidFill>
              <a:ea typeface="MS Gothic" panose="020B0609070205080204" pitchFamily="49" charset="-128"/>
            </a:endParaRPr>
          </a:p>
        </p:txBody>
      </p:sp>
      <p:sp>
        <p:nvSpPr>
          <p:cNvPr id="5123" name="Text Box 1"/>
          <p:cNvSpPr txBox="1">
            <a:spLocks noChangeArrowheads="1"/>
          </p:cNvSpPr>
          <p:nvPr/>
        </p:nvSpPr>
        <p:spPr bwMode="auto">
          <a:xfrm>
            <a:off x="1157288" y="685800"/>
            <a:ext cx="4541837" cy="34274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9538" tIns="44769" rIns="89538" bIns="44769" anchor="ctr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kumimoji="0" lang="en-US" altLang="en-US" sz="2400">
              <a:solidFill>
                <a:schemeClr val="bg1"/>
              </a:solidFill>
              <a:latin typeface="Times New Roman" panose="02020603050405020304" pitchFamily="18" charset="0"/>
              <a:ea typeface="MS Gothic" panose="020B0609070205080204" pitchFamily="49" charset="-128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1813"/>
            <a:ext cx="5024438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62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7075" indent="-279400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19188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66863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14538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4717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289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3861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433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996DA-D8C7-44E8-938B-D4242B87F929}" type="slidenum">
              <a:rPr kumimoji="0" lang="en-GB" altLang="en-US" smtClean="0">
                <a:solidFill>
                  <a:srgbClr val="000000"/>
                </a:solidFill>
                <a:ea typeface="MS Gothic" panose="020B0609070205080204" pitchFamily="49" charset="-128"/>
              </a:rPr>
              <a:pPr>
                <a:spcBef>
                  <a:spcPct val="0"/>
                </a:spcBef>
              </a:pPr>
              <a:t>28</a:t>
            </a:fld>
            <a:endParaRPr kumimoji="0" lang="en-GB" altLang="en-US">
              <a:solidFill>
                <a:srgbClr val="000000"/>
              </a:solidFill>
              <a:ea typeface="MS Gothic" panose="020B0609070205080204" pitchFamily="49" charset="-128"/>
            </a:endParaRPr>
          </a:p>
        </p:txBody>
      </p:sp>
      <p:sp>
        <p:nvSpPr>
          <p:cNvPr id="7171" name="Text Box 1"/>
          <p:cNvSpPr txBox="1">
            <a:spLocks noChangeArrowheads="1"/>
          </p:cNvSpPr>
          <p:nvPr/>
        </p:nvSpPr>
        <p:spPr bwMode="auto">
          <a:xfrm>
            <a:off x="1157288" y="685800"/>
            <a:ext cx="454342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9538" tIns="44769" rIns="89538" bIns="44769" anchor="ctr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kumimoji="0" lang="en-US" altLang="en-US" sz="2400">
              <a:solidFill>
                <a:schemeClr val="bg1"/>
              </a:solidFill>
              <a:latin typeface="Times New Roman" panose="02020603050405020304" pitchFamily="18" charset="0"/>
              <a:ea typeface="MS Gothic" panose="020B0609070205080204" pitchFamily="49" charset="-128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1813"/>
            <a:ext cx="5024438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864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7075" indent="-279400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19188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66863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14538" indent="-223838">
              <a:spcBef>
                <a:spcPct val="30000"/>
              </a:spcBef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4717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289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3861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43338" indent="-223838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447675" algn="l"/>
                <a:tab pos="895350" algn="l"/>
                <a:tab pos="1343025" algn="l"/>
                <a:tab pos="1790700" algn="l"/>
                <a:tab pos="2238375" algn="l"/>
                <a:tab pos="2686050" algn="l"/>
                <a:tab pos="3133725" algn="l"/>
                <a:tab pos="3581400" algn="l"/>
                <a:tab pos="4029075" algn="l"/>
                <a:tab pos="4476750" algn="l"/>
                <a:tab pos="4924425" algn="l"/>
                <a:tab pos="5372100" algn="l"/>
                <a:tab pos="5819775" algn="l"/>
                <a:tab pos="6267450" algn="l"/>
                <a:tab pos="6715125" algn="l"/>
                <a:tab pos="7162800" algn="l"/>
                <a:tab pos="7610475" algn="l"/>
                <a:tab pos="8058150" algn="l"/>
                <a:tab pos="8505825" algn="l"/>
                <a:tab pos="8953500" algn="l"/>
              </a:tabLs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B825853-E034-47D3-AB61-5B230906BD07}" type="slidenum">
              <a:rPr kumimoji="0" lang="en-GB" altLang="en-US" smtClean="0">
                <a:solidFill>
                  <a:srgbClr val="000000"/>
                </a:solidFill>
                <a:ea typeface="MS Gothic" panose="020B0609070205080204" pitchFamily="49" charset="-128"/>
              </a:rPr>
              <a:pPr>
                <a:spcBef>
                  <a:spcPct val="0"/>
                </a:spcBef>
              </a:pPr>
              <a:t>29</a:t>
            </a:fld>
            <a:endParaRPr kumimoji="0" lang="en-GB" altLang="en-US">
              <a:solidFill>
                <a:srgbClr val="000000"/>
              </a:solidFill>
              <a:ea typeface="MS Gothic" panose="020B0609070205080204" pitchFamily="49" charset="-128"/>
            </a:endParaRPr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1157288" y="685800"/>
            <a:ext cx="454342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9538" tIns="44769" rIns="89538" bIns="44769" anchor="ctr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kumimoji="0" lang="en-US" altLang="en-US" sz="2400">
              <a:solidFill>
                <a:schemeClr val="bg1"/>
              </a:solidFill>
              <a:latin typeface="Times New Roman" panose="02020603050405020304" pitchFamily="18" charset="0"/>
              <a:ea typeface="MS Gothic" panose="020B0609070205080204" pitchFamily="49" charset="-128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body"/>
          </p:nvPr>
        </p:nvSpPr>
        <p:spPr>
          <a:xfrm>
            <a:off x="914400" y="4341813"/>
            <a:ext cx="5024438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074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4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763588"/>
            <a:endParaRPr lang="de-AT" altLang="de-DE" dirty="0"/>
          </a:p>
        </p:txBody>
      </p:sp>
    </p:spTree>
    <p:extLst>
      <p:ext uri="{BB962C8B-B14F-4D97-AF65-F5344CB8AC3E}">
        <p14:creationId xmlns:p14="http://schemas.microsoft.com/office/powerpoint/2010/main" val="3985976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  <p:extLst>
      <p:ext uri="{BB962C8B-B14F-4D97-AF65-F5344CB8AC3E}">
        <p14:creationId xmlns:p14="http://schemas.microsoft.com/office/powerpoint/2010/main" val="888703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  <p:extLst>
      <p:ext uri="{BB962C8B-B14F-4D97-AF65-F5344CB8AC3E}">
        <p14:creationId xmlns:p14="http://schemas.microsoft.com/office/powerpoint/2010/main" val="767912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9" tIns="43928" rIns="87859" bIns="43928"/>
          <a:lstStyle/>
          <a:p>
            <a:pPr defTabSz="763588"/>
            <a:endParaRPr lang="de-AT" altLang="de-DE" dirty="0"/>
          </a:p>
        </p:txBody>
      </p:sp>
    </p:spTree>
    <p:extLst>
      <p:ext uri="{BB962C8B-B14F-4D97-AF65-F5344CB8AC3E}">
        <p14:creationId xmlns:p14="http://schemas.microsoft.com/office/powerpoint/2010/main" val="2836368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58251E93-E529-4B98-A3AF-E3A347A5BF34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01348" cy="4478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0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2254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07BDB396-0B67-4A38-BD3C-3E81C15CD764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86681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8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2FA717ED-4DCF-4011-B2B0-D7249D3A6FC8}" type="datetime1">
              <a:rPr lang="en-US" smtClean="0"/>
              <a:t>1/27/2026</a:t>
            </a:fld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1C4824-63FE-4934-850C-1649171EE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83931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08745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EF8D858-D795-4749-88B3-A2A926894DC0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76230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0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77D096C-E033-4944-9142-D65EE9245E18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71876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6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133164C-8781-45BF-9300-7E529BC44BC0}" type="datetime1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6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7C8F589E-9235-471D-A2C2-59661A5AE727}" type="datetime1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ABA14A5-EBD0-41E6-849B-3C6D66603102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85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F91110DB-42F0-490F-B8E1-82C44CFCA045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06845AD7-22F2-48F8-A27A-B27FA46563DC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1B6C49A2-0A4B-4A9E-AAE1-713F768DB3AA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5398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9D28C325-7A38-4BF9-80BD-F1AE73D963BE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4958438E-88E4-4FD3-AD80-93701BAF6EB2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17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5FAD8B89-7A09-4331-9732-C59F4B1DEB87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56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BA4BC893-36A0-437C-BDE5-8B35990CF422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09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/>
          <a:p>
            <a:fld id="{A34ACEB9-69B2-47A2-97B7-7B20A3D20169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19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62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0ED35B2-658A-4AF3-97C9-0AEEA604829A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8400" y="6248400"/>
            <a:ext cx="5725886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48400"/>
            <a:ext cx="1524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19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1840" y="152400"/>
            <a:ext cx="113792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144800"/>
            <a:ext cx="1137904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7CFE6440-8179-46ED-B032-0F05C77A2437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0702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Untertitel und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1840" y="152400"/>
            <a:ext cx="11379200" cy="41908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32000" y="571480"/>
            <a:ext cx="11379040" cy="357208"/>
          </a:xfrm>
        </p:spPr>
        <p:txBody>
          <a:bodyPr/>
          <a:lstStyle>
            <a:lvl1pPr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144800"/>
            <a:ext cx="1137904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686C37-B7F3-4E7E-A624-401BE8AEA9F5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151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183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054149"/>
            <a:ext cx="8915400" cy="396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D990C86-DB09-4CA5-9AE5-F173E2292E92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97715875-6463-4843-98B4-567CE4254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808"/>
            <a:ext cx="5605553" cy="46616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7" name="Date Placeholder 3">
            <a:extLst>
              <a:ext uri="{FF2B5EF4-FFF2-40B4-BE49-F238E27FC236}">
                <a16:creationId xmlns:a16="http://schemas.microsoft.com/office/drawing/2014/main" id="{E7666366-4D39-48D8-9968-6B1EBFEAB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/>
          <a:lstStyle>
            <a:lvl1pPr>
              <a:defRPr sz="1200" baseline="0"/>
            </a:lvl1pPr>
          </a:lstStyle>
          <a:p>
            <a:fld id="{A1B5B6AD-5B32-4547-A838-D4F5F1048595}" type="datetime1">
              <a:rPr lang="en-US" smtClean="0"/>
              <a:t>1/27/2026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4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70C0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://www.agilemodeling.com/artifacts/useCaseDiagram.htm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39767"/>
            <a:ext cx="8915399" cy="2262781"/>
          </a:xfrm>
        </p:spPr>
        <p:txBody>
          <a:bodyPr/>
          <a:lstStyle/>
          <a:p>
            <a:r>
              <a:rPr lang="en-US" dirty="0"/>
              <a:t>User Stories &amp; 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2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  <a:endParaRPr lang="en-US" altLang="en-US" dirty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435607"/>
            <a:ext cx="8915400" cy="4582015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dirty="0"/>
              <a:t>Chapter 2 provided an overview of: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systems analysis activities,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functional and non-functional requirements,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modelling,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information gathering techniques</a:t>
            </a:r>
          </a:p>
          <a:p>
            <a:r>
              <a:rPr lang="en-GB" altLang="en-US" dirty="0"/>
              <a:t>This chapter focuses on Use Cases, a key aspect of functional requirements</a:t>
            </a:r>
          </a:p>
          <a:p>
            <a:r>
              <a:rPr lang="en-GB" altLang="en-US" dirty="0"/>
              <a:t>Earlier chapters identified some use cases: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Look up supplier,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Enter/update product information,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Enter/Update contact information</a:t>
            </a:r>
          </a:p>
          <a:p>
            <a:r>
              <a:rPr lang="en-GB" altLang="en-US" dirty="0"/>
              <a:t>This chapter’s opening case, Waiters on Call, has use cases: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Record an order, Record delivery, Update an order,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Sign in driver, Reconcile driver receipts, </a:t>
            </a:r>
          </a:p>
          <a:p>
            <a:pPr lvl="1">
              <a:spcBef>
                <a:spcPts val="600"/>
              </a:spcBef>
            </a:pPr>
            <a:r>
              <a:rPr lang="en-GB" altLang="en-US" dirty="0"/>
              <a:t>Produce end of day deposit slip, Produce weekly sales reports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9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904999"/>
            <a:ext cx="9271862" cy="42254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User Story is a one-sentence description: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...of a work-related task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…done by a user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…to achieve some goal or result</a:t>
            </a:r>
          </a:p>
          <a:p>
            <a:r>
              <a:rPr lang="en-US" dirty="0"/>
              <a:t>Acceptance Criteria:</a:t>
            </a:r>
          </a:p>
          <a:p>
            <a:pPr lvl="1"/>
            <a:r>
              <a:rPr lang="en-US" dirty="0"/>
              <a:t>Identify features that must be present at the completion of the task</a:t>
            </a:r>
          </a:p>
          <a:p>
            <a:r>
              <a:rPr lang="en-US" dirty="0"/>
              <a:t>The template for a user story description is:</a:t>
            </a:r>
          </a:p>
          <a:p>
            <a:pPr lvl="1"/>
            <a:r>
              <a:rPr lang="en-US" i="1" dirty="0"/>
              <a:t>As a </a:t>
            </a:r>
            <a:r>
              <a:rPr lang="en-US" i="1" dirty="0">
                <a:solidFill>
                  <a:srgbClr val="FF0000"/>
                </a:solidFill>
              </a:rPr>
              <a:t>&lt;role&gt;</a:t>
            </a:r>
            <a:r>
              <a:rPr lang="en-US" i="1" dirty="0"/>
              <a:t> I want to </a:t>
            </a:r>
            <a:r>
              <a:rPr lang="en-US" i="1" dirty="0">
                <a:solidFill>
                  <a:srgbClr val="FF0000"/>
                </a:solidFill>
              </a:rPr>
              <a:t>&lt;goal&gt;</a:t>
            </a:r>
            <a:r>
              <a:rPr lang="en-US" i="1" dirty="0"/>
              <a:t> so that </a:t>
            </a:r>
            <a:r>
              <a:rPr lang="en-US" i="1" dirty="0">
                <a:solidFill>
                  <a:srgbClr val="FF0000"/>
                </a:solidFill>
              </a:rPr>
              <a:t>&lt;benefit&gt;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As a barber I want to have new  shop system . 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As a  </a:t>
            </a:r>
            <a:r>
              <a:rPr lang="en-US" i="1" dirty="0" err="1">
                <a:solidFill>
                  <a:srgbClr val="FF0000"/>
                </a:solidFill>
              </a:rPr>
              <a:t>coustmer</a:t>
            </a:r>
            <a:r>
              <a:rPr lang="en-US" i="1" dirty="0">
                <a:solidFill>
                  <a:srgbClr val="FF0000"/>
                </a:solidFill>
              </a:rPr>
              <a:t> I want to track my order delivery so I know when it </a:t>
            </a:r>
            <a:r>
              <a:rPr lang="en-US" i="1" dirty="0" err="1">
                <a:solidFill>
                  <a:srgbClr val="FF0000"/>
                </a:solidFill>
              </a:rPr>
              <a:t>gonna</a:t>
            </a:r>
            <a:r>
              <a:rPr lang="en-US" i="1" dirty="0">
                <a:solidFill>
                  <a:srgbClr val="FF0000"/>
                </a:solidFill>
              </a:rPr>
              <a:t> happen.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0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User Story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591067" y="1704512"/>
            <a:ext cx="9331301" cy="429275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User Story:</a:t>
            </a:r>
          </a:p>
          <a:p>
            <a:pPr lvl="1"/>
            <a:r>
              <a:rPr lang="en-US" dirty="0"/>
              <a:t>As a </a:t>
            </a:r>
            <a:r>
              <a:rPr lang="en-US" i="1" dirty="0">
                <a:solidFill>
                  <a:srgbClr val="FF0000"/>
                </a:solidFill>
              </a:rPr>
              <a:t>customer</a:t>
            </a:r>
            <a:r>
              <a:rPr lang="en-US" dirty="0"/>
              <a:t>, I want to </a:t>
            </a:r>
            <a:r>
              <a:rPr lang="en-US" i="1" dirty="0">
                <a:solidFill>
                  <a:srgbClr val="FF0000"/>
                </a:solidFill>
              </a:rPr>
              <a:t>track my order status in real time </a:t>
            </a:r>
            <a:r>
              <a:rPr lang="en-US" dirty="0"/>
              <a:t>so that </a:t>
            </a:r>
            <a:r>
              <a:rPr lang="en-US" i="1" dirty="0">
                <a:solidFill>
                  <a:srgbClr val="FF0000"/>
                </a:solidFill>
              </a:rPr>
              <a:t>I know when to expect delivery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What is user story for a guy who want to send email .or a guy who want to update his  address   ( exam  question ) </a:t>
            </a:r>
          </a:p>
          <a:p>
            <a:r>
              <a:rPr lang="en-US" b="1" dirty="0"/>
              <a:t>User Acceptance Criteria:</a:t>
            </a:r>
          </a:p>
          <a:p>
            <a:pPr lvl="1"/>
            <a:r>
              <a:rPr lang="en-US" dirty="0"/>
              <a:t>Customers must be able to view current order status (Processing, Shipped, Delivered, etc.).</a:t>
            </a:r>
          </a:p>
          <a:p>
            <a:pPr lvl="1"/>
            <a:r>
              <a:rPr lang="en-US" dirty="0"/>
              <a:t>The tracking information must automatically update when the carrier updates their system.</a:t>
            </a:r>
          </a:p>
          <a:p>
            <a:pPr lvl="1"/>
            <a:r>
              <a:rPr lang="en-US" dirty="0"/>
              <a:t>Delivered orders must show the delivery date and time.</a:t>
            </a:r>
          </a:p>
          <a:p>
            <a:pPr lvl="1"/>
            <a:r>
              <a:rPr lang="en-US" dirty="0"/>
              <a:t>Tracking page must display estimated delivery date if available.</a:t>
            </a:r>
          </a:p>
          <a:p>
            <a:pPr lvl="1"/>
            <a:r>
              <a:rPr lang="en-US" dirty="0"/>
              <a:t>Customers must receive a notification when the order status changes.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83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20348" y="1014856"/>
            <a:ext cx="8911687" cy="1280890"/>
          </a:xfrm>
        </p:spPr>
        <p:txBody>
          <a:bodyPr/>
          <a:lstStyle/>
          <a:p>
            <a:r>
              <a:rPr lang="en-US"/>
              <a:t>Sample User Story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591067" y="1704512"/>
            <a:ext cx="9331301" cy="433287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User Story:</a:t>
            </a:r>
          </a:p>
          <a:p>
            <a:pPr lvl="1"/>
            <a:r>
              <a:rPr lang="en-US" dirty="0"/>
              <a:t>As a </a:t>
            </a:r>
            <a:r>
              <a:rPr lang="en-US" i="1" dirty="0">
                <a:solidFill>
                  <a:srgbClr val="FF0000"/>
                </a:solidFill>
              </a:rPr>
              <a:t>system administrator</a:t>
            </a:r>
            <a:r>
              <a:rPr lang="en-US" dirty="0"/>
              <a:t>, I want to </a:t>
            </a:r>
            <a:r>
              <a:rPr lang="en-US" i="1" dirty="0">
                <a:solidFill>
                  <a:srgbClr val="FF0000"/>
                </a:solidFill>
              </a:rPr>
              <a:t>set user access levels</a:t>
            </a:r>
            <a:r>
              <a:rPr lang="en-US" dirty="0"/>
              <a:t> so that </a:t>
            </a:r>
            <a:r>
              <a:rPr lang="en-US" i="1" dirty="0">
                <a:solidFill>
                  <a:srgbClr val="FF0000"/>
                </a:solidFill>
              </a:rPr>
              <a:t>sensitive data is protected. </a:t>
            </a:r>
          </a:p>
          <a:p>
            <a:r>
              <a:rPr lang="en-US" b="1" dirty="0"/>
              <a:t>User Acceptance Criteria:</a:t>
            </a:r>
          </a:p>
          <a:p>
            <a:pPr lvl="1"/>
            <a:r>
              <a:rPr lang="en-US" dirty="0"/>
              <a:t>Administrators must be able to assign roles (Admin, Editor, Viewer) from a dashboard.</a:t>
            </a:r>
          </a:p>
          <a:p>
            <a:pPr lvl="1"/>
            <a:r>
              <a:rPr lang="en-US" dirty="0"/>
              <a:t>Role changes must take effect immediately.</a:t>
            </a:r>
          </a:p>
          <a:p>
            <a:pPr lvl="1"/>
            <a:r>
              <a:rPr lang="en-US" dirty="0"/>
              <a:t>Users with restricted roles must be blocked from accessing unauthorized pages.</a:t>
            </a:r>
          </a:p>
          <a:p>
            <a:pPr lvl="1"/>
            <a:r>
              <a:rPr lang="en-US" dirty="0"/>
              <a:t>An error message must appear when access is denied.</a:t>
            </a:r>
          </a:p>
          <a:p>
            <a:pPr lvl="1"/>
            <a:r>
              <a:rPr lang="en-US" dirty="0"/>
              <a:t>New users must default to the lowest access level until explicitly changed.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70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Describing Use Cases as feature…..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8915400" cy="3874364"/>
          </a:xfrm>
        </p:spPr>
        <p:txBody>
          <a:bodyPr>
            <a:normAutofit fontScale="77500" lnSpcReduction="20000"/>
          </a:bodyPr>
          <a:lstStyle/>
          <a:p>
            <a:r>
              <a:rPr lang="en-GB" altLang="en-US" dirty="0"/>
              <a:t>Use case— </a:t>
            </a:r>
            <a:r>
              <a:rPr lang="en-GB" altLang="en-US" dirty="0">
                <a:highlight>
                  <a:srgbClr val="FFFF00"/>
                </a:highlight>
              </a:rPr>
              <a:t>an activity that the system performs or feature of system …</a:t>
            </a:r>
          </a:p>
          <a:p>
            <a:pPr lvl="1"/>
            <a:r>
              <a:rPr lang="en-GB" altLang="en-US" dirty="0"/>
              <a:t>…usually in response to an </a:t>
            </a:r>
            <a:r>
              <a:rPr lang="en-GB" altLang="en-US" i="1" dirty="0"/>
              <a:t>event</a:t>
            </a:r>
            <a:r>
              <a:rPr lang="en-GB" altLang="en-US" dirty="0"/>
              <a:t>: a request </a:t>
            </a:r>
            <a:r>
              <a:rPr lang="en-GB" altLang="en-US" i="1" dirty="0"/>
              <a:t>from a user</a:t>
            </a:r>
          </a:p>
          <a:p>
            <a:r>
              <a:rPr lang="en-GB" altLang="en-US" dirty="0"/>
              <a:t>Use cases define </a:t>
            </a:r>
            <a:r>
              <a:rPr lang="en-GB" altLang="en-US" u="sng" dirty="0"/>
              <a:t>functional</a:t>
            </a:r>
            <a:r>
              <a:rPr lang="en-GB" altLang="en-US" dirty="0"/>
              <a:t> requirements</a:t>
            </a:r>
          </a:p>
          <a:p>
            <a:r>
              <a:rPr lang="en-GB" altLang="en-US" dirty="0"/>
              <a:t>Analysis decomposes the system into a set of use cases</a:t>
            </a:r>
          </a:p>
          <a:p>
            <a:pPr lvl="1"/>
            <a:r>
              <a:rPr lang="en-GB" altLang="en-US" dirty="0"/>
              <a:t>(functional decomposition)</a:t>
            </a:r>
          </a:p>
          <a:p>
            <a:r>
              <a:rPr lang="en-GB" altLang="en-US" dirty="0"/>
              <a:t>So analysis going to come with list of feature or requirement or use cases or things the system can </a:t>
            </a:r>
            <a:r>
              <a:rPr lang="en-GB" altLang="en-US" dirty="0" err="1"/>
              <a:t>perfome</a:t>
            </a:r>
            <a:r>
              <a:rPr lang="en-GB" altLang="en-US" dirty="0"/>
              <a:t> and how the technique . </a:t>
            </a:r>
          </a:p>
          <a:p>
            <a:r>
              <a:rPr lang="en-GB" altLang="en-US" dirty="0"/>
              <a:t>There are </a:t>
            </a:r>
            <a:r>
              <a:rPr lang="en-GB" altLang="en-US" b="1" dirty="0"/>
              <a:t>two techniques</a:t>
            </a:r>
            <a:r>
              <a:rPr lang="en-GB" altLang="en-US" dirty="0"/>
              <a:t> for Identifying use cases:</a:t>
            </a:r>
          </a:p>
          <a:p>
            <a:pPr lvl="1"/>
            <a:r>
              <a:rPr lang="en-GB" altLang="en-US" b="1" dirty="0"/>
              <a:t>User goal technique</a:t>
            </a:r>
          </a:p>
          <a:p>
            <a:pPr lvl="1"/>
            <a:r>
              <a:rPr lang="en-GB" altLang="en-US" b="1" dirty="0"/>
              <a:t>Event decomposition technique</a:t>
            </a:r>
          </a:p>
          <a:p>
            <a:r>
              <a:rPr lang="en-GB" altLang="en-US" dirty="0"/>
              <a:t>Use Cases are named using Verb-Noun notation</a:t>
            </a:r>
          </a:p>
          <a:p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3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Goal Technique</a:t>
            </a:r>
            <a:endParaRPr lang="en-US" altLang="en-US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2589211" y="1904999"/>
            <a:ext cx="9123817" cy="4225437"/>
          </a:xfrm>
        </p:spPr>
        <p:txBody>
          <a:bodyPr/>
          <a:lstStyle/>
          <a:p>
            <a:r>
              <a:rPr lang="en-US" altLang="en-US" dirty="0"/>
              <a:t>Simple and effective:</a:t>
            </a:r>
          </a:p>
          <a:p>
            <a:pPr lvl="1"/>
            <a:r>
              <a:rPr lang="en-US" altLang="en-US" dirty="0"/>
              <a:t>Identify all potential categories of users of the system</a:t>
            </a:r>
          </a:p>
          <a:p>
            <a:pPr lvl="1"/>
            <a:r>
              <a:rPr lang="en-US" altLang="en-US" dirty="0"/>
              <a:t>Ask them to describe the tasks the computer can help them with </a:t>
            </a:r>
          </a:p>
          <a:p>
            <a:pPr lvl="1"/>
            <a:r>
              <a:rPr lang="en-US" altLang="en-US" dirty="0"/>
              <a:t>Probe further to refine the tasks into specific user goals:</a:t>
            </a:r>
          </a:p>
          <a:p>
            <a:pPr lvl="2"/>
            <a:r>
              <a:rPr lang="en-US" altLang="en-US" dirty="0"/>
              <a:t>I need to </a:t>
            </a:r>
            <a:r>
              <a:rPr lang="en-US" altLang="en-US" i="1" dirty="0">
                <a:solidFill>
                  <a:srgbClr val="FF0000"/>
                </a:solidFill>
              </a:rPr>
              <a:t>Ship items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rgbClr val="FF0000"/>
                </a:solidFill>
              </a:rPr>
              <a:t>Track a shipment</a:t>
            </a:r>
            <a:r>
              <a:rPr lang="en-US" altLang="en-US" dirty="0"/>
              <a:t>, and </a:t>
            </a:r>
            <a:r>
              <a:rPr lang="en-US" altLang="en-US" i="1" dirty="0">
                <a:solidFill>
                  <a:srgbClr val="FF0000"/>
                </a:solidFill>
              </a:rPr>
              <a:t>Create a return</a:t>
            </a:r>
            <a:r>
              <a:rPr lang="en-US" altLang="en-US" dirty="0"/>
              <a:t>.</a:t>
            </a:r>
          </a:p>
          <a:p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06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0835" y="624110"/>
            <a:ext cx="8911687" cy="1280890"/>
          </a:xfrm>
        </p:spPr>
        <p:txBody>
          <a:bodyPr/>
          <a:lstStyle/>
          <a:p>
            <a:r>
              <a:rPr lang="en-US" altLang="en-US" sz="2400" dirty="0"/>
              <a:t>User Goal Technique:</a:t>
            </a:r>
            <a:br>
              <a:rPr lang="en-US" altLang="en-US" dirty="0"/>
            </a:br>
            <a:r>
              <a:rPr lang="en-US" altLang="en-US" dirty="0"/>
              <a:t>Some RMO CSMS Users and Goals</a:t>
            </a:r>
          </a:p>
        </p:txBody>
      </p:sp>
      <p:pic>
        <p:nvPicPr>
          <p:cNvPr id="24269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0835" y="1905000"/>
            <a:ext cx="9610717" cy="3677194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2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User Goal Technique:</a:t>
            </a:r>
            <a:br>
              <a:rPr lang="en-US" altLang="en-US" dirty="0"/>
            </a:br>
            <a:r>
              <a:rPr lang="en-US" altLang="en-US" dirty="0"/>
              <a:t>Specific Steps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Identify all potential users of the new system</a:t>
            </a:r>
          </a:p>
          <a:p>
            <a:pPr lvl="1"/>
            <a:r>
              <a:rPr lang="en-US" altLang="en-US" dirty="0"/>
              <a:t>Classify them in terms of their functional role </a:t>
            </a:r>
          </a:p>
          <a:p>
            <a:pPr lvl="2"/>
            <a:r>
              <a:rPr lang="en-US" altLang="en-US" dirty="0"/>
              <a:t>…shipping, marketing, sales, customer</a:t>
            </a:r>
          </a:p>
          <a:p>
            <a:pPr lvl="1"/>
            <a:r>
              <a:rPr lang="en-US" altLang="en-US" dirty="0"/>
              <a:t>Further classify potential users by organizational level </a:t>
            </a:r>
          </a:p>
          <a:p>
            <a:pPr lvl="2"/>
            <a:r>
              <a:rPr lang="en-US" altLang="en-US" dirty="0"/>
              <a:t>…operational, management, executive</a:t>
            </a:r>
          </a:p>
          <a:p>
            <a:r>
              <a:rPr lang="en-US" altLang="en-US" dirty="0"/>
              <a:t>Interview each type of user:</a:t>
            </a:r>
          </a:p>
          <a:p>
            <a:pPr lvl="1"/>
            <a:r>
              <a:rPr lang="en-US" altLang="en-US" dirty="0"/>
              <a:t>List specific goals they will have when using the new system </a:t>
            </a:r>
          </a:p>
          <a:p>
            <a:pPr lvl="2"/>
            <a:r>
              <a:rPr lang="en-US" altLang="en-US" dirty="0"/>
              <a:t>Current goals, plus innovative functions to add value</a:t>
            </a: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89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User Goal Technique:</a:t>
            </a:r>
            <a:br>
              <a:rPr lang="en-US" altLang="en-US" dirty="0"/>
            </a:br>
            <a:r>
              <a:rPr lang="en-US" altLang="en-US" dirty="0"/>
              <a:t>Specific Steps </a:t>
            </a:r>
            <a:r>
              <a:rPr lang="en-US" altLang="en-US" sz="2000" dirty="0"/>
              <a:t>cont'd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2589211" y="1904999"/>
            <a:ext cx="5522943" cy="4225437"/>
          </a:xfrm>
        </p:spPr>
        <p:txBody>
          <a:bodyPr/>
          <a:lstStyle/>
          <a:p>
            <a:r>
              <a:rPr lang="en-US" altLang="en-US" dirty="0"/>
              <a:t>List preliminary Use Cases by type of user</a:t>
            </a:r>
          </a:p>
          <a:p>
            <a:pPr lvl="1"/>
            <a:r>
              <a:rPr lang="en-US" altLang="en-US" dirty="0"/>
              <a:t>Look for duplicate or similar use case names</a:t>
            </a:r>
          </a:p>
          <a:p>
            <a:pPr lvl="2"/>
            <a:r>
              <a:rPr lang="en-US" altLang="en-US" dirty="0"/>
              <a:t>Resolve inconsistencies</a:t>
            </a:r>
          </a:p>
          <a:p>
            <a:r>
              <a:rPr lang="en-US" altLang="en-US" dirty="0"/>
              <a:t>Identify where different users have the same use cases</a:t>
            </a:r>
            <a:endParaRPr lang="en-US" altLang="en-US" i="1" dirty="0"/>
          </a:p>
          <a:p>
            <a:r>
              <a:rPr lang="en-US" altLang="en-US" dirty="0"/>
              <a:t>Review the completed list with each type of user </a:t>
            </a:r>
          </a:p>
          <a:p>
            <a:pPr lvl="1"/>
            <a:r>
              <a:rPr lang="en-US" altLang="en-US" dirty="0"/>
              <a:t>…and with stakeholders</a:t>
            </a:r>
          </a:p>
          <a:p>
            <a:pPr lvl="1"/>
            <a:endParaRPr lang="en-US" altLang="en-US" dirty="0"/>
          </a:p>
          <a:p>
            <a:pPr marL="457200" lvl="1" indent="0">
              <a:buNone/>
            </a:pP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BFC0C-3F6E-D901-A624-BF31E8A1F852}"/>
              </a:ext>
            </a:extLst>
          </p:cNvPr>
          <p:cNvSpPr txBox="1"/>
          <p:nvPr/>
        </p:nvSpPr>
        <p:spPr>
          <a:xfrm>
            <a:off x="8212822" y="411061"/>
            <a:ext cx="43874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notes : </a:t>
            </a:r>
          </a:p>
          <a:p>
            <a:r>
              <a:rPr lang="en-US" dirty="0"/>
              <a:t>First approach go &amp; ask the goal and </a:t>
            </a:r>
            <a:r>
              <a:rPr lang="en-US" dirty="0" err="1"/>
              <a:t>feture</a:t>
            </a:r>
            <a:r>
              <a:rPr lang="en-US" dirty="0"/>
              <a:t> .. </a:t>
            </a:r>
          </a:p>
          <a:p>
            <a:endParaRPr lang="en-US" dirty="0"/>
          </a:p>
          <a:p>
            <a:r>
              <a:rPr lang="en-US" dirty="0"/>
              <a:t>As a  analysist have to look at all those  system user </a:t>
            </a:r>
            <a:r>
              <a:rPr lang="en-US" dirty="0" err="1"/>
              <a:t>rewiremnt</a:t>
            </a:r>
            <a:r>
              <a:rPr lang="en-US" dirty="0"/>
              <a:t> </a:t>
            </a:r>
            <a:r>
              <a:rPr lang="en-US" dirty="0" err="1"/>
              <a:t>sn</a:t>
            </a:r>
            <a:r>
              <a:rPr lang="en-US" dirty="0"/>
              <a:t> </a:t>
            </a:r>
            <a:r>
              <a:rPr lang="en-US" dirty="0" err="1"/>
              <a:t>dhtne</a:t>
            </a:r>
            <a:r>
              <a:rPr lang="en-US" dirty="0"/>
              <a:t> see what things </a:t>
            </a:r>
            <a:r>
              <a:rPr lang="en-US" dirty="0" err="1"/>
              <a:t>sre</a:t>
            </a:r>
            <a:r>
              <a:rPr lang="en-US" dirty="0"/>
              <a:t> needed and what not </a:t>
            </a:r>
          </a:p>
          <a:p>
            <a:r>
              <a:rPr lang="en-US" dirty="0"/>
              <a:t>Last word always be user they are the one  who use the system and who paid the system and see . </a:t>
            </a:r>
          </a:p>
          <a:p>
            <a:endParaRPr lang="en-US" dirty="0"/>
          </a:p>
          <a:p>
            <a:r>
              <a:rPr lang="en-US" dirty="0"/>
              <a:t>Lets example </a:t>
            </a:r>
            <a:r>
              <a:rPr lang="en-US" dirty="0" err="1"/>
              <a:t>buld</a:t>
            </a:r>
            <a:r>
              <a:rPr lang="en-US" dirty="0"/>
              <a:t> a house or </a:t>
            </a:r>
            <a:r>
              <a:rPr lang="en-US" dirty="0" err="1"/>
              <a:t>artirech</a:t>
            </a:r>
            <a:r>
              <a:rPr lang="en-US" dirty="0"/>
              <a:t> and you know everything and  see </a:t>
            </a:r>
          </a:p>
          <a:p>
            <a:r>
              <a:rPr lang="en-US" dirty="0"/>
              <a:t>We always go back </a:t>
            </a:r>
            <a:r>
              <a:rPr lang="en-US" dirty="0" err="1"/>
              <a:t>fo</a:t>
            </a:r>
            <a:r>
              <a:rPr lang="en-US" dirty="0"/>
              <a:t> the user said to refuse the  user side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3528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89212" y="624110"/>
            <a:ext cx="8014472" cy="1280890"/>
          </a:xfrm>
        </p:spPr>
        <p:txBody>
          <a:bodyPr/>
          <a:lstStyle/>
          <a:p>
            <a:r>
              <a:rPr lang="en-US" altLang="en-US" dirty="0"/>
              <a:t>Event Decomposition Technique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687388" y="1904999"/>
            <a:ext cx="6342586" cy="4225437"/>
          </a:xfrm>
        </p:spPr>
        <p:txBody>
          <a:bodyPr>
            <a:normAutofit fontScale="92500" lnSpcReduction="20000"/>
          </a:bodyPr>
          <a:lstStyle/>
          <a:p>
            <a:r>
              <a:rPr lang="en-GB" altLang="en-US" dirty="0"/>
              <a:t>A more Comprehensive and Complete Technique:</a:t>
            </a:r>
          </a:p>
          <a:p>
            <a:pPr lvl="1"/>
            <a:r>
              <a:rPr lang="en-GB" altLang="en-US" dirty="0"/>
              <a:t>Identify the events that occur, to which the system must respond. </a:t>
            </a:r>
          </a:p>
          <a:p>
            <a:pPr lvl="1"/>
            <a:r>
              <a:rPr lang="en-GB" altLang="en-US" dirty="0"/>
              <a:t>For each event, name a use case (verb + noun) </a:t>
            </a:r>
          </a:p>
          <a:p>
            <a:pPr lvl="2"/>
            <a:r>
              <a:rPr lang="en-GB" altLang="en-US" dirty="0"/>
              <a:t>…describing what the system does when the event occurs</a:t>
            </a:r>
          </a:p>
          <a:p>
            <a:r>
              <a:rPr lang="en-GB" altLang="en-US" dirty="0"/>
              <a:t>Event</a:t>
            </a:r>
          </a:p>
          <a:p>
            <a:pPr lvl="1"/>
            <a:r>
              <a:rPr lang="en-GB" altLang="en-US" dirty="0"/>
              <a:t>Something that occurs at a specific time and place,</a:t>
            </a:r>
          </a:p>
          <a:p>
            <a:pPr lvl="1"/>
            <a:r>
              <a:rPr lang="en-GB" altLang="en-US" dirty="0"/>
              <a:t>Can be described,</a:t>
            </a:r>
          </a:p>
          <a:p>
            <a:pPr lvl="1"/>
            <a:r>
              <a:rPr lang="en-GB" altLang="en-US" dirty="0"/>
              <a:t>Should be remembered by the system.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67323-4926-3227-721A-44AF077E9A8E}"/>
              </a:ext>
            </a:extLst>
          </p:cNvPr>
          <p:cNvSpPr txBox="1"/>
          <p:nvPr/>
        </p:nvSpPr>
        <p:spPr>
          <a:xfrm>
            <a:off x="6727971" y="1266738"/>
            <a:ext cx="54640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notes:</a:t>
            </a:r>
          </a:p>
          <a:p>
            <a:r>
              <a:rPr lang="en-US" dirty="0"/>
              <a:t>Start grabbing all the info we have and </a:t>
            </a:r>
            <a:r>
              <a:rPr lang="en-US" dirty="0" err="1"/>
              <a:t>loook</a:t>
            </a:r>
            <a:r>
              <a:rPr lang="en-US" dirty="0"/>
              <a:t> at each even and then you find the use case in each . ( System need to solve) </a:t>
            </a:r>
          </a:p>
          <a:p>
            <a:r>
              <a:rPr lang="en-US" dirty="0"/>
              <a:t>Identify the use case all we have .</a:t>
            </a:r>
          </a:p>
          <a:p>
            <a:endParaRPr lang="en-US" dirty="0"/>
          </a:p>
          <a:p>
            <a:r>
              <a:rPr lang="en-US" dirty="0"/>
              <a:t>We care about the even thar have to do something for the system </a:t>
            </a:r>
          </a:p>
          <a:p>
            <a:r>
              <a:rPr lang="en-US" dirty="0"/>
              <a:t> look at image on next slide : </a:t>
            </a:r>
          </a:p>
          <a:p>
            <a:endParaRPr lang="en-US" dirty="0"/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982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664797"/>
          </a:xfrm>
        </p:spPr>
        <p:txBody>
          <a:bodyPr/>
          <a:lstStyle/>
          <a:p>
            <a:pPr algn="ctr"/>
            <a:r>
              <a:rPr lang="en-US" altLang="en-US" dirty="0"/>
              <a:t>Events and Use Cases</a:t>
            </a:r>
          </a:p>
        </p:txBody>
      </p:sp>
      <p:pic>
        <p:nvPicPr>
          <p:cNvPr id="249863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00" y="679795"/>
            <a:ext cx="7476821" cy="5511109"/>
          </a:xfrm>
          <a:noFill/>
          <a:ln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685211" y="1924594"/>
            <a:ext cx="1837509" cy="618309"/>
          </a:xfrm>
          <a:prstGeom prst="ellipse">
            <a:avLst/>
          </a:prstGeom>
          <a:noFill/>
          <a:ln w="381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683725" y="975360"/>
            <a:ext cx="1384663" cy="818605"/>
          </a:xfrm>
          <a:prstGeom prst="ellipse">
            <a:avLst/>
          </a:prstGeom>
          <a:noFill/>
          <a:ln w="381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54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89212" y="624110"/>
            <a:ext cx="8911687" cy="1280890"/>
          </a:xfrm>
        </p:spPr>
        <p:txBody>
          <a:bodyPr/>
          <a:lstStyle/>
          <a:p>
            <a:r>
              <a:rPr lang="en-US" altLang="en-US" sz="2000" dirty="0"/>
              <a:t>Event Decomposition Technique</a:t>
            </a:r>
            <a:br>
              <a:rPr lang="en-US" altLang="en-US" dirty="0"/>
            </a:br>
            <a:r>
              <a:rPr lang="en-US" altLang="en-US" dirty="0"/>
              <a:t>Types of Events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5779725" cy="3964577"/>
          </a:xfrm>
        </p:spPr>
        <p:txBody>
          <a:bodyPr>
            <a:normAutofit fontScale="62500" lnSpcReduction="20000"/>
          </a:bodyPr>
          <a:lstStyle/>
          <a:p>
            <a:r>
              <a:rPr lang="en-GB" altLang="en-US" dirty="0"/>
              <a:t>External Event</a:t>
            </a:r>
          </a:p>
          <a:p>
            <a:pPr lvl="1"/>
            <a:r>
              <a:rPr lang="en-GB" altLang="en-US" dirty="0"/>
              <a:t>An event that occurs outside the system</a:t>
            </a:r>
          </a:p>
          <a:p>
            <a:pPr lvl="2"/>
            <a:r>
              <a:rPr lang="en-GB" altLang="en-US" dirty="0"/>
              <a:t>Usually initiated by an external agent (actor)</a:t>
            </a:r>
          </a:p>
          <a:p>
            <a:r>
              <a:rPr lang="en-GB" altLang="en-US" dirty="0"/>
              <a:t>Temporal Event</a:t>
            </a:r>
          </a:p>
          <a:p>
            <a:pPr lvl="1"/>
            <a:r>
              <a:rPr lang="en-GB" altLang="en-US" dirty="0"/>
              <a:t>An event that occurs as a result of reaching a point in time</a:t>
            </a:r>
          </a:p>
          <a:p>
            <a:pPr lvl="2"/>
            <a:r>
              <a:rPr lang="en-GB" altLang="en-US" dirty="0"/>
              <a:t>It's the first of the month … time to generate end-of-month report</a:t>
            </a:r>
          </a:p>
          <a:p>
            <a:r>
              <a:rPr lang="en-GB" altLang="en-US" dirty="0"/>
              <a:t>State Event</a:t>
            </a:r>
          </a:p>
          <a:p>
            <a:pPr lvl="1"/>
            <a:r>
              <a:rPr lang="en-GB" altLang="en-US" dirty="0"/>
              <a:t>An event or state change inside the system triggering a process</a:t>
            </a:r>
          </a:p>
          <a:p>
            <a:pPr lvl="2"/>
            <a:r>
              <a:rPr lang="en-GB" altLang="en-US" dirty="0"/>
              <a:t>An order reduces an item to its reorder point</a:t>
            </a:r>
          </a:p>
          <a:p>
            <a:pPr lvl="2"/>
            <a:endParaRPr lang="en-GB" altLang="en-US" dirty="0"/>
          </a:p>
          <a:p>
            <a:r>
              <a:rPr lang="en-GB" altLang="en-US" u="sng" dirty="0"/>
              <a:t>All</a:t>
            </a:r>
            <a:r>
              <a:rPr lang="en-GB" altLang="en-US" dirty="0"/>
              <a:t> event types </a:t>
            </a:r>
            <a:r>
              <a:rPr lang="en-GB" altLang="en-US" u="sng" dirty="0"/>
              <a:t>must have an actor</a:t>
            </a:r>
          </a:p>
          <a:p>
            <a:pPr lvl="1"/>
            <a:r>
              <a:rPr lang="en-GB" altLang="en-US" dirty="0"/>
              <a:t>The user initiating the event or requiring the result of the event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D32CB-8FEB-9522-1324-29E73F2E8AF8}"/>
              </a:ext>
            </a:extLst>
          </p:cNvPr>
          <p:cNvSpPr txBox="1"/>
          <p:nvPr/>
        </p:nvSpPr>
        <p:spPr>
          <a:xfrm>
            <a:off x="8186058" y="931817"/>
            <a:ext cx="40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notes : </a:t>
            </a:r>
          </a:p>
          <a:p>
            <a:r>
              <a:rPr lang="en-US" dirty="0"/>
              <a:t>What is state  event ?</a:t>
            </a:r>
          </a:p>
          <a:p>
            <a:r>
              <a:rPr lang="en-US" dirty="0"/>
              <a:t>An </a:t>
            </a:r>
            <a:r>
              <a:rPr lang="en-US" b="1" dirty="0"/>
              <a:t>event causes the system to move from one state to another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7511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 dirty="0"/>
              <a:t>Event Decomposition Technique</a:t>
            </a:r>
            <a:br>
              <a:rPr lang="en-US" altLang="en-US" dirty="0"/>
            </a:br>
            <a:r>
              <a:rPr lang="en-US" altLang="en-US" dirty="0"/>
              <a:t>External Event Checklist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5000"/>
            <a:ext cx="9176068" cy="3990704"/>
          </a:xfrm>
        </p:spPr>
        <p:txBody>
          <a:bodyPr>
            <a:normAutofit/>
          </a:bodyPr>
          <a:lstStyle/>
          <a:p>
            <a:r>
              <a:rPr lang="en-US" altLang="zh-CN" dirty="0"/>
              <a:t>External actor wants something, resulting in a transaction</a:t>
            </a:r>
          </a:p>
          <a:p>
            <a:pPr lvl="1"/>
            <a:r>
              <a:rPr lang="en-US" altLang="zh-CN" dirty="0"/>
              <a:t>Customer buys a product</a:t>
            </a:r>
          </a:p>
          <a:p>
            <a:r>
              <a:rPr lang="en-US" altLang="zh-CN" dirty="0"/>
              <a:t>External agent or actor requests information</a:t>
            </a:r>
          </a:p>
          <a:p>
            <a:pPr lvl="1"/>
            <a:r>
              <a:rPr lang="en-US" altLang="zh-CN" dirty="0"/>
              <a:t>Customer wants to know product details</a:t>
            </a:r>
          </a:p>
          <a:p>
            <a:r>
              <a:rPr lang="en-US" altLang="zh-CN" dirty="0"/>
              <a:t>External information changes, needs to be updated</a:t>
            </a:r>
          </a:p>
          <a:p>
            <a:pPr lvl="1"/>
            <a:r>
              <a:rPr lang="en-US" altLang="zh-CN" dirty="0"/>
              <a:t>Customer has new address and phone</a:t>
            </a:r>
          </a:p>
          <a:p>
            <a:r>
              <a:rPr lang="en-US" altLang="zh-CN" dirty="0"/>
              <a:t>Management wants some information</a:t>
            </a:r>
          </a:p>
          <a:p>
            <a:pPr lvl="1"/>
            <a:r>
              <a:rPr lang="en-GB" altLang="en-US" dirty="0"/>
              <a:t>Sales manager needs update on production plans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68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Event Decomposition Technique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Temporal Event Checklist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Internal outputs are needed at </a:t>
            </a:r>
            <a:r>
              <a:rPr lang="en-US" altLang="zh-CN" u="sng" dirty="0"/>
              <a:t>points in time</a:t>
            </a:r>
          </a:p>
          <a:p>
            <a:pPr lvl="1"/>
            <a:r>
              <a:rPr lang="en-US" altLang="zh-CN" dirty="0"/>
              <a:t>Management reports (summary or exception)</a:t>
            </a:r>
          </a:p>
          <a:p>
            <a:pPr lvl="1"/>
            <a:r>
              <a:rPr lang="en-US" altLang="zh-CN" dirty="0"/>
              <a:t>Operational reports (detailed transactions)</a:t>
            </a:r>
          </a:p>
          <a:p>
            <a:pPr lvl="1"/>
            <a:r>
              <a:rPr lang="en-US" altLang="zh-CN" dirty="0"/>
              <a:t>Internal statements and documents (including payroll)</a:t>
            </a:r>
          </a:p>
          <a:p>
            <a:r>
              <a:rPr lang="en-US" altLang="zh-CN" dirty="0"/>
              <a:t>External outputs needed at </a:t>
            </a:r>
            <a:r>
              <a:rPr lang="en-US" altLang="zh-CN" u="sng" dirty="0"/>
              <a:t>points of time</a:t>
            </a:r>
          </a:p>
          <a:p>
            <a:pPr lvl="1"/>
            <a:r>
              <a:rPr lang="en-US" altLang="zh-CN" dirty="0"/>
              <a:t>Statements, status reports, bills, reminders</a:t>
            </a:r>
          </a:p>
          <a:p>
            <a:r>
              <a:rPr lang="en-US" altLang="en-US" dirty="0"/>
              <a:t>Can be combined with state events:</a:t>
            </a:r>
          </a:p>
          <a:p>
            <a:pPr lvl="1"/>
            <a:r>
              <a:rPr lang="en-US" altLang="en-US" dirty="0"/>
              <a:t>IF</a:t>
            </a:r>
            <a:r>
              <a:rPr lang="en-US" altLang="en-US" dirty="0">
                <a:solidFill>
                  <a:srgbClr val="00B0F0"/>
                </a:solidFill>
              </a:rPr>
              <a:t> end-of-month </a:t>
            </a:r>
            <a:r>
              <a:rPr lang="en-US" altLang="en-US" dirty="0"/>
              <a:t>AND </a:t>
            </a:r>
            <a:r>
              <a:rPr lang="en-US" altLang="en-US" dirty="0">
                <a:solidFill>
                  <a:srgbClr val="00B0F0"/>
                </a:solidFill>
              </a:rPr>
              <a:t>product at reorder point </a:t>
            </a:r>
            <a:r>
              <a:rPr lang="en-US" altLang="en-US" dirty="0">
                <a:sym typeface="Wingdings" panose="05000000000000000000" pitchFamily="2" charset="2"/>
              </a:rPr>
              <a:t> Place Order</a:t>
            </a: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5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2925" y="624110"/>
            <a:ext cx="9337818" cy="1280890"/>
          </a:xfrm>
        </p:spPr>
        <p:txBody>
          <a:bodyPr/>
          <a:lstStyle/>
          <a:p>
            <a:r>
              <a:rPr lang="en-US" altLang="en-US" sz="2000" dirty="0"/>
              <a:t>Event Decomposition Technique </a:t>
            </a:r>
            <a:br>
              <a:rPr lang="en-US" altLang="en-US" sz="2000" dirty="0"/>
            </a:br>
            <a:r>
              <a:rPr lang="en-US" altLang="en-US" dirty="0"/>
              <a:t>Finding the event that affects the system</a:t>
            </a:r>
          </a:p>
        </p:txBody>
      </p:sp>
      <p:pic>
        <p:nvPicPr>
          <p:cNvPr id="247815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9212" y="1800497"/>
            <a:ext cx="6575851" cy="4225925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79771" y="5408023"/>
            <a:ext cx="2220686" cy="452846"/>
          </a:xfrm>
          <a:prstGeom prst="ellipse">
            <a:avLst/>
          </a:prstGeom>
          <a:noFill/>
          <a:ln w="3810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51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000" dirty="0"/>
              <a:t>Event Decomposition Technique </a:t>
            </a:r>
            <a:br>
              <a:rPr lang="en-US" altLang="en-US" sz="2000" dirty="0"/>
            </a:br>
            <a:r>
              <a:rPr lang="en-US" altLang="en-US" dirty="0"/>
              <a:t>Tracing a sequence of transactions </a:t>
            </a:r>
            <a:br>
              <a:rPr lang="en-US" altLang="en-US" dirty="0"/>
            </a:br>
            <a:r>
              <a:rPr lang="en-US" altLang="en-US" sz="2700" dirty="0"/>
              <a:t>- resulting in several events</a:t>
            </a:r>
            <a:endParaRPr lang="en-US" altLang="en-US" dirty="0"/>
          </a:p>
        </p:txBody>
      </p:sp>
      <p:pic>
        <p:nvPicPr>
          <p:cNvPr id="28365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9212" y="1905000"/>
            <a:ext cx="9268967" cy="4070648"/>
          </a:xfr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7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373307" y="624110"/>
            <a:ext cx="10018990" cy="1280890"/>
          </a:xfrm>
        </p:spPr>
        <p:txBody>
          <a:bodyPr/>
          <a:lstStyle/>
          <a:p>
            <a:r>
              <a:rPr lang="en-US" altLang="en-US" dirty="0"/>
              <a:t>Analytical Assumption: </a:t>
            </a:r>
            <a:r>
              <a:rPr lang="en-US" altLang="en-US" i="1" dirty="0"/>
              <a:t>Perfect Technology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373307" y="1600200"/>
            <a:ext cx="8915400" cy="914401"/>
          </a:xfrm>
        </p:spPr>
        <p:txBody>
          <a:bodyPr/>
          <a:lstStyle/>
          <a:p>
            <a:r>
              <a:rPr lang="en-GB" altLang="en-US" dirty="0"/>
              <a:t>Analysis assumes no limits in technology or people </a:t>
            </a:r>
          </a:p>
          <a:p>
            <a:pPr lvl="1"/>
            <a:r>
              <a:rPr lang="en-GB" altLang="en-US" dirty="0"/>
              <a:t>The Design process will address these later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56008" name="Rectangle 8"/>
          <p:cNvSpPr>
            <a:spLocks noChangeArrowheads="1"/>
          </p:cNvSpPr>
          <p:nvPr/>
        </p:nvSpPr>
        <p:spPr bwMode="auto">
          <a:xfrm>
            <a:off x="1981200" y="16002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 sz="26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307" y="2535960"/>
            <a:ext cx="8259859" cy="350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74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Event Decomposition Technique: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Specific Steps </a:t>
            </a:r>
            <a:r>
              <a:rPr lang="en-US" altLang="en-US" sz="2000" dirty="0"/>
              <a:t>(continued)</a:t>
            </a:r>
            <a:endParaRPr lang="en-US" altLang="en-US" dirty="0"/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2072640"/>
            <a:ext cx="8915400" cy="4057796"/>
          </a:xfrm>
        </p:spPr>
        <p:txBody>
          <a:bodyPr>
            <a:normAutofit/>
          </a:bodyPr>
          <a:lstStyle/>
          <a:p>
            <a:r>
              <a:rPr lang="en-US" altLang="en-US" dirty="0"/>
              <a:t>List external events that will require a response from the system</a:t>
            </a:r>
          </a:p>
          <a:p>
            <a:pPr lvl="1"/>
            <a:r>
              <a:rPr lang="en-US" altLang="en-US" dirty="0"/>
              <a:t>Identify and name the use case that the system requires</a:t>
            </a:r>
          </a:p>
          <a:p>
            <a:pPr lvl="1"/>
            <a:r>
              <a:rPr lang="en-US" altLang="en-US" dirty="0"/>
              <a:t>Describe the event in a sentence</a:t>
            </a:r>
          </a:p>
          <a:p>
            <a:r>
              <a:rPr lang="en-US" altLang="en-US" dirty="0"/>
              <a:t>List temporal events that require a response from the system</a:t>
            </a:r>
          </a:p>
          <a:p>
            <a:pPr lvl="1"/>
            <a:r>
              <a:rPr lang="en-US" altLang="en-US" dirty="0"/>
              <a:t>Identify and name the use case that the system requires </a:t>
            </a:r>
          </a:p>
          <a:p>
            <a:pPr lvl="1"/>
            <a:r>
              <a:rPr lang="en-US" altLang="en-US" dirty="0"/>
              <a:t>Establish the point of time that will trigger the use case</a:t>
            </a: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8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Event Decomposition Technique: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Specific Steps </a:t>
            </a:r>
            <a:r>
              <a:rPr lang="en-US" altLang="en-US" sz="2000" dirty="0"/>
              <a:t>(continued)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904999"/>
            <a:ext cx="9454742" cy="422543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List state events that the system might respond to</a:t>
            </a:r>
          </a:p>
          <a:p>
            <a:pPr lvl="1"/>
            <a:r>
              <a:rPr lang="en-US" altLang="en-US" dirty="0"/>
              <a:t>Particularly if it is a real-time system, where devices or internal state changes trigger use cases.</a:t>
            </a:r>
          </a:p>
          <a:p>
            <a:pPr lvl="1"/>
            <a:r>
              <a:rPr lang="en-US" altLang="en-US" dirty="0"/>
              <a:t>Name the use case that the system requires</a:t>
            </a:r>
          </a:p>
          <a:p>
            <a:pPr lvl="1"/>
            <a:r>
              <a:rPr lang="en-US" altLang="en-US" dirty="0"/>
              <a:t>Define the state change</a:t>
            </a:r>
          </a:p>
          <a:p>
            <a:endParaRPr lang="en-US" altLang="en-US" dirty="0"/>
          </a:p>
          <a:p>
            <a:r>
              <a:rPr lang="en-US" altLang="en-US" dirty="0"/>
              <a:t>When events and use cases are defined:</a:t>
            </a:r>
          </a:p>
          <a:p>
            <a:pPr lvl="1"/>
            <a:r>
              <a:rPr lang="en-US" altLang="en-US" dirty="0"/>
              <a:t>Confirm they are required, assuming perfect technology</a:t>
            </a:r>
          </a:p>
          <a:p>
            <a:pPr lvl="1"/>
            <a:r>
              <a:rPr lang="en-US" altLang="en-US" dirty="0"/>
              <a:t>Do not include events for non-functional requirements:</a:t>
            </a:r>
          </a:p>
          <a:p>
            <a:pPr lvl="2"/>
            <a:r>
              <a:rPr lang="en-US" altLang="en-US" dirty="0"/>
              <a:t>Login, logout, change password, backup and restore the database</a:t>
            </a:r>
          </a:p>
          <a:p>
            <a:pPr lvl="2"/>
            <a:r>
              <a:rPr lang="en-US" altLang="en-US" dirty="0"/>
              <a:t>These are added later.</a:t>
            </a: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1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Event Decomposition Technique: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Benefits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altLang="en-US" dirty="0"/>
              <a:t>Events are broader than the user goal technique: </a:t>
            </a:r>
          </a:p>
          <a:p>
            <a:pPr lvl="1"/>
            <a:r>
              <a:rPr lang="en-GB" altLang="en-US" dirty="0"/>
              <a:t>…includes temporal and state events</a:t>
            </a:r>
          </a:p>
          <a:p>
            <a:r>
              <a:rPr lang="en-GB" altLang="en-US" dirty="0"/>
              <a:t>Decomposes to the right analytical level: </a:t>
            </a:r>
          </a:p>
          <a:p>
            <a:pPr lvl="1"/>
            <a:r>
              <a:rPr lang="en-GB" altLang="en-US" dirty="0"/>
              <a:t>The </a:t>
            </a:r>
            <a:r>
              <a:rPr lang="en-GB" altLang="en-US" b="1" dirty="0">
                <a:highlight>
                  <a:srgbClr val="FFFF00"/>
                </a:highlight>
              </a:rPr>
              <a:t>Elementary Business Process </a:t>
            </a:r>
            <a:r>
              <a:rPr lang="en-GB" altLang="en-US" dirty="0">
                <a:highlight>
                  <a:srgbClr val="FFFF00"/>
                </a:highlight>
              </a:rPr>
              <a:t>(EBP)</a:t>
            </a:r>
          </a:p>
          <a:p>
            <a:pPr lvl="1"/>
            <a:r>
              <a:rPr lang="en-GB" altLang="en-US" b="1" dirty="0"/>
              <a:t>…a fundamental business process performed </a:t>
            </a:r>
          </a:p>
          <a:p>
            <a:pPr lvl="2">
              <a:spcBef>
                <a:spcPts val="600"/>
              </a:spcBef>
            </a:pPr>
            <a:r>
              <a:rPr lang="en-GB" altLang="en-US" b="1" dirty="0"/>
              <a:t>by one person, </a:t>
            </a:r>
          </a:p>
          <a:p>
            <a:pPr lvl="2">
              <a:spcBef>
                <a:spcPts val="600"/>
              </a:spcBef>
            </a:pPr>
            <a:r>
              <a:rPr lang="en-GB" altLang="en-US" b="1" dirty="0"/>
              <a:t>in one place, </a:t>
            </a:r>
          </a:p>
          <a:p>
            <a:pPr lvl="2">
              <a:spcBef>
                <a:spcPts val="600"/>
              </a:spcBef>
            </a:pPr>
            <a:r>
              <a:rPr lang="en-GB" altLang="en-US" b="1" dirty="0"/>
              <a:t>in response to a business event</a:t>
            </a:r>
          </a:p>
          <a:p>
            <a:r>
              <a:rPr lang="en-GB" altLang="en-US" dirty="0"/>
              <a:t>Assumes perfect technology</a:t>
            </a:r>
          </a:p>
          <a:p>
            <a:pPr lvl="1"/>
            <a:r>
              <a:rPr lang="en-GB" altLang="en-US" dirty="0"/>
              <a:t>Ensuring all functions that support the users' work are identified </a:t>
            </a:r>
          </a:p>
          <a:p>
            <a:pPr lvl="1"/>
            <a:r>
              <a:rPr lang="en-GB" altLang="en-US" dirty="0"/>
              <a:t>…and not additional functions for security and system controls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30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u="sng" dirty="0"/>
              <a:t>Brief</a:t>
            </a:r>
            <a:r>
              <a:rPr lang="en-US" altLang="en-US" dirty="0"/>
              <a:t> Use Case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1" y="1550126"/>
            <a:ext cx="9498286" cy="1524000"/>
          </a:xfrm>
        </p:spPr>
        <p:txBody>
          <a:bodyPr>
            <a:normAutofit fontScale="85000" lnSpcReduction="10000"/>
          </a:bodyPr>
          <a:lstStyle/>
          <a:p>
            <a:r>
              <a:rPr lang="en-GB" altLang="en-US" dirty="0"/>
              <a:t>A one-sentence description describing the main steps in a use case</a:t>
            </a:r>
          </a:p>
          <a:p>
            <a:pPr lvl="1"/>
            <a:r>
              <a:rPr lang="en-GB" altLang="en-US" dirty="0"/>
              <a:t>If you need more, you perhaps have a compound use case</a:t>
            </a:r>
          </a:p>
          <a:p>
            <a:r>
              <a:rPr lang="en-GB" altLang="en-US" b="1" dirty="0"/>
              <a:t>Ends with the system in a stable state</a:t>
            </a:r>
          </a:p>
          <a:p>
            <a:pPr lvl="1"/>
            <a:r>
              <a:rPr lang="en-GB" altLang="en-US" dirty="0"/>
              <a:t>no unsaved data, no immediate follow-on action required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973" y="2997147"/>
            <a:ext cx="8990639" cy="30501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28EF79-7BAE-9FF1-A05F-D3C4AD17C0DA}"/>
              </a:ext>
            </a:extLst>
          </p:cNvPr>
          <p:cNvSpPr txBox="1"/>
          <p:nvPr/>
        </p:nvSpPr>
        <p:spPr>
          <a:xfrm>
            <a:off x="278674" y="1445623"/>
            <a:ext cx="2116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Last slide  by 27 January </a:t>
            </a:r>
          </a:p>
          <a:p>
            <a:endParaRPr lang="en-C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C2381F-9A02-B169-EE00-877D260043EE}"/>
                  </a:ext>
                </a:extLst>
              </p14:cNvPr>
              <p14:cNvContentPartPr/>
              <p14:nvPr/>
            </p14:nvContentPartPr>
            <p14:xfrm>
              <a:off x="7262966" y="3656691"/>
              <a:ext cx="1116000" cy="62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C2381F-9A02-B169-EE00-877D260043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8966" y="3548691"/>
                <a:ext cx="122364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AEE6DDE-E828-DF8E-2B3E-3DC3E2435078}"/>
                  </a:ext>
                </a:extLst>
              </p14:cNvPr>
              <p14:cNvContentPartPr/>
              <p14:nvPr/>
            </p14:nvContentPartPr>
            <p14:xfrm>
              <a:off x="6270086" y="3848571"/>
              <a:ext cx="1398240" cy="56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AEE6DDE-E828-DF8E-2B3E-3DC3E24350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6086" y="3740571"/>
                <a:ext cx="15058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71AE8C-043F-A492-8471-491F1BAFBBD0}"/>
                  </a:ext>
                </a:extLst>
              </p14:cNvPr>
              <p14:cNvContentPartPr/>
              <p14:nvPr/>
            </p14:nvContentPartPr>
            <p14:xfrm>
              <a:off x="7907006" y="3900051"/>
              <a:ext cx="2263680" cy="71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71AE8C-043F-A492-8471-491F1BAFBB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53366" y="3792051"/>
                <a:ext cx="23713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EC58E0-4854-9A36-4F41-ED969CAAEB57}"/>
                  </a:ext>
                </a:extLst>
              </p14:cNvPr>
              <p14:cNvContentPartPr/>
              <p14:nvPr/>
            </p14:nvContentPartPr>
            <p14:xfrm>
              <a:off x="5503646" y="4154571"/>
              <a:ext cx="2403000" cy="113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EC58E0-4854-9A36-4F41-ED969CAAEB5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006" y="4046931"/>
                <a:ext cx="25106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BA8DBD4-268C-1BE1-BE15-380CF2133F60}"/>
                  </a:ext>
                </a:extLst>
              </p14:cNvPr>
              <p14:cNvContentPartPr/>
              <p14:nvPr/>
            </p14:nvContentPartPr>
            <p14:xfrm>
              <a:off x="8499566" y="1811331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BA8DBD4-268C-1BE1-BE15-380CF2133F6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45926" y="1703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0AC3D58-D092-024A-02D9-5D4BDF2E7492}"/>
                  </a:ext>
                </a:extLst>
              </p14:cNvPr>
              <p14:cNvContentPartPr/>
              <p14:nvPr/>
            </p14:nvContentPartPr>
            <p14:xfrm>
              <a:off x="9753446" y="2098611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0AC3D58-D092-024A-02D9-5D4BDF2E749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99806" y="1990611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4976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RMO CSMS Project's Use Cases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92925" y="6359576"/>
            <a:ext cx="5671510" cy="498424"/>
          </a:xfrm>
        </p:spPr>
        <p:txBody>
          <a:bodyPr/>
          <a:lstStyle/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163" y="1216070"/>
            <a:ext cx="6342499" cy="514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577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RMO CSMS Project's Use Cases</a:t>
            </a:r>
            <a:r>
              <a:rPr lang="en-US" altLang="en-US" sz="2000" dirty="0"/>
              <a:t> cont'd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89213" y="6135808"/>
            <a:ext cx="5640388" cy="365125"/>
          </a:xfr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173" y="1305584"/>
            <a:ext cx="7242764" cy="471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36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RMO CSMS Project's Use Cases</a:t>
            </a:r>
            <a:r>
              <a:rPr lang="en-US" altLang="en-US" sz="2000" dirty="0"/>
              <a:t> cont'd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1486283"/>
            <a:ext cx="6955382" cy="46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53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26</a:t>
            </a:fld>
            <a:endParaRPr lang="en-US" dirty="0"/>
          </a:p>
        </p:txBody>
      </p:sp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30188"/>
            <a:ext cx="8382000" cy="49859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RMO CSMS Project's Use Cases</a:t>
            </a:r>
            <a:r>
              <a:rPr lang="en-US" altLang="en-US" sz="2000" dirty="0"/>
              <a:t> cont'd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" y="1152907"/>
            <a:ext cx="7108889" cy="25479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851" y="2190543"/>
            <a:ext cx="6958149" cy="386880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89212" y="6135808"/>
            <a:ext cx="5657805" cy="365125"/>
          </a:xfrm>
        </p:spPr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833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1" y="780536"/>
            <a:ext cx="7923213" cy="1052513"/>
          </a:xfrm>
        </p:spPr>
        <p:txBody>
          <a:bodyPr vert="horz" lIns="0" tIns="0" rIns="0" bIns="0" rtlCol="0" anchor="t">
            <a:normAutofit/>
          </a:bodyPr>
          <a:lstStyle/>
          <a:p>
            <a:pPr>
              <a:lnSpc>
                <a:spcPct val="87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dirty="0"/>
              <a:t>Events and Use Cases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1201" y="1833049"/>
            <a:ext cx="9695934" cy="4158179"/>
          </a:xfr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8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 sz="2800" b="1" dirty="0"/>
              <a:t>Event Table </a:t>
            </a:r>
            <a:r>
              <a:rPr lang="en-GB" altLang="en-US" sz="2800" dirty="0"/>
              <a:t>– a </a:t>
            </a:r>
            <a:r>
              <a:rPr lang="en-GB" altLang="en-US" sz="2800" dirty="0" err="1"/>
              <a:t>catalog</a:t>
            </a:r>
            <a:r>
              <a:rPr lang="en-GB" altLang="en-US" sz="2800" dirty="0"/>
              <a:t> of use cases listed by event. Contains detailed information</a:t>
            </a:r>
          </a:p>
          <a:p>
            <a:pPr lvl="1">
              <a:lnSpc>
                <a:spcPct val="8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 sz="2800" dirty="0"/>
              <a:t>Trigger – a signal that indicates an event has occurred (</a:t>
            </a:r>
            <a:r>
              <a:rPr lang="en-GB" altLang="en-US" sz="2800" dirty="0">
                <a:solidFill>
                  <a:srgbClr val="0000FF"/>
                </a:solidFill>
              </a:rPr>
              <a:t>optional</a:t>
            </a:r>
            <a:r>
              <a:rPr lang="en-GB" altLang="en-US" sz="2800" dirty="0"/>
              <a:t>: implied from event)</a:t>
            </a:r>
          </a:p>
          <a:p>
            <a:pPr lvl="1">
              <a:lnSpc>
                <a:spcPct val="8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 sz="2800" dirty="0"/>
              <a:t>Source – an external agent that initiates event and supplies data for the event</a:t>
            </a:r>
          </a:p>
          <a:p>
            <a:pPr lvl="1">
              <a:lnSpc>
                <a:spcPct val="8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 sz="2800" dirty="0"/>
              <a:t>Response – an output produced by the system</a:t>
            </a:r>
          </a:p>
          <a:p>
            <a:pPr lvl="1">
              <a:lnSpc>
                <a:spcPct val="8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altLang="en-US" sz="2800" dirty="0"/>
              <a:t>Destination – an external agent that receives the response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4000" y="6477000"/>
            <a:ext cx="6929438" cy="300038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>
                <a:solidFill>
                  <a:srgbClr val="0000FF"/>
                </a:solidFill>
              </a:rPr>
              <a:t>Systems Analysis and Design in a Changing World, 5th Edition</a:t>
            </a:r>
          </a:p>
        </p:txBody>
      </p:sp>
    </p:spTree>
    <p:extLst>
      <p:ext uri="{BB962C8B-B14F-4D97-AF65-F5344CB8AC3E}">
        <p14:creationId xmlns:p14="http://schemas.microsoft.com/office/powerpoint/2010/main" val="29367312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1676400" y="605481"/>
            <a:ext cx="8839200" cy="1070920"/>
          </a:xfrm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2800" dirty="0"/>
              <a:t>Information about Each Event in an Event Table</a:t>
            </a:r>
          </a:p>
        </p:txBody>
      </p:sp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76401"/>
            <a:ext cx="8839200" cy="398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4000" y="6477000"/>
            <a:ext cx="6929438" cy="300038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>
                <a:solidFill>
                  <a:srgbClr val="0000FF"/>
                </a:solidFill>
              </a:rPr>
              <a:t>Systems Analysis and Design in a Changing World, 5th Edition</a:t>
            </a:r>
          </a:p>
        </p:txBody>
      </p:sp>
      <p:sp>
        <p:nvSpPr>
          <p:cNvPr id="6149" name="Text Box 1"/>
          <p:cNvSpPr txBox="1">
            <a:spLocks noChangeArrowheads="1"/>
          </p:cNvSpPr>
          <p:nvPr/>
        </p:nvSpPr>
        <p:spPr bwMode="auto">
          <a:xfrm>
            <a:off x="1524000" y="6096001"/>
            <a:ext cx="17526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solidFill>
                  <a:srgbClr val="000000"/>
                </a:solidFill>
                <a:latin typeface="Times New Roman" panose="02020603050405020304" pitchFamily="18" charset="0"/>
                <a:ea typeface="MS Gothic" panose="020B0609070205080204" pitchFamily="49" charset="-128"/>
              </a:rPr>
              <a:t>Figure 5-11</a:t>
            </a:r>
          </a:p>
        </p:txBody>
      </p:sp>
    </p:spTree>
    <p:extLst>
      <p:ext uri="{BB962C8B-B14F-4D97-AF65-F5344CB8AC3E}">
        <p14:creationId xmlns:p14="http://schemas.microsoft.com/office/powerpoint/2010/main" val="30942079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7924800" cy="685800"/>
          </a:xfrm>
        </p:spPr>
        <p:txBody>
          <a:bodyPr/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dirty="0"/>
              <a:t>Sample Event Table</a:t>
            </a:r>
            <a:r>
              <a:rPr lang="ar-SA" altLang="en-US" sz="2400" dirty="0"/>
              <a:t>‏</a:t>
            </a:r>
            <a:endParaRPr lang="en-GB" altLang="en-US" sz="2400" dirty="0"/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3">
            <a:lum bright="-12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14400"/>
            <a:ext cx="883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524000" y="6477000"/>
            <a:ext cx="6929438" cy="300038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>
                <a:solidFill>
                  <a:srgbClr val="0000FF"/>
                </a:solidFill>
              </a:rPr>
              <a:t>Systems Analysis and Design in a Changing World, 5th Edition</a:t>
            </a:r>
          </a:p>
        </p:txBody>
      </p:sp>
      <p:sp>
        <p:nvSpPr>
          <p:cNvPr id="8197" name="Text Box 1"/>
          <p:cNvSpPr txBox="1">
            <a:spLocks noChangeArrowheads="1"/>
          </p:cNvSpPr>
          <p:nvPr/>
        </p:nvSpPr>
        <p:spPr bwMode="auto">
          <a:xfrm>
            <a:off x="1524000" y="6096001"/>
            <a:ext cx="17526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solidFill>
                  <a:srgbClr val="000000"/>
                </a:solidFill>
                <a:latin typeface="Times New Roman" panose="02020603050405020304" pitchFamily="18" charset="0"/>
                <a:ea typeface="MS Gothic" panose="020B0609070205080204" pitchFamily="49" charset="-128"/>
              </a:rPr>
              <a:t>Figure 5-12</a:t>
            </a:r>
          </a:p>
        </p:txBody>
      </p:sp>
    </p:spTree>
    <p:extLst>
      <p:ext uri="{BB962C8B-B14F-4D97-AF65-F5344CB8AC3E}">
        <p14:creationId xmlns:p14="http://schemas.microsoft.com/office/powerpoint/2010/main" val="5508187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 Case Diagrams</a:t>
            </a:r>
            <a:endParaRPr lang="en-US" altLang="en-US" dirty="0"/>
          </a:p>
        </p:txBody>
      </p:sp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63337"/>
            <a:ext cx="8915400" cy="4467099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/>
              <a:t>A graphical UML model used to show Use Cases 	</a:t>
            </a:r>
          </a:p>
          <a:p>
            <a:pPr lvl="1"/>
            <a:r>
              <a:rPr lang="en-GB" altLang="en-US" dirty="0"/>
              <a:t>…and their relationships to actors</a:t>
            </a:r>
          </a:p>
          <a:p>
            <a:r>
              <a:rPr lang="en-GB" altLang="en-US" i="1" dirty="0"/>
              <a:t>UML</a:t>
            </a:r>
            <a:r>
              <a:rPr lang="en-GB" altLang="en-US" dirty="0"/>
              <a:t> is the </a:t>
            </a:r>
            <a:r>
              <a:rPr lang="en-GB" altLang="en-US" i="1" dirty="0"/>
              <a:t>Unified Modelling Language</a:t>
            </a:r>
            <a:endParaRPr lang="en-GB" altLang="en-US" dirty="0"/>
          </a:p>
          <a:p>
            <a:pPr lvl="1"/>
            <a:r>
              <a:rPr lang="en-GB" altLang="en-US" dirty="0"/>
              <a:t>The standard for diagrams and terminology when developing information systems</a:t>
            </a:r>
          </a:p>
          <a:p>
            <a:r>
              <a:rPr lang="en-GB" altLang="en-US" dirty="0"/>
              <a:t>Actor </a:t>
            </a:r>
          </a:p>
          <a:p>
            <a:pPr lvl="1"/>
            <a:r>
              <a:rPr lang="en-GB" altLang="en-US" dirty="0"/>
              <a:t>The UML name for an end user </a:t>
            </a:r>
          </a:p>
          <a:p>
            <a:pPr lvl="2"/>
            <a:r>
              <a:rPr lang="en-GB" altLang="en-US" dirty="0"/>
              <a:t>Or a separate system initiating events</a:t>
            </a:r>
          </a:p>
          <a:p>
            <a:r>
              <a:rPr lang="en-GB" altLang="en-US" dirty="0"/>
              <a:t>Automation boundary: the boundary between</a:t>
            </a:r>
          </a:p>
          <a:p>
            <a:pPr lvl="1"/>
            <a:r>
              <a:rPr lang="en-GB" altLang="en-US" dirty="0"/>
              <a:t>The computerized portion of the application </a:t>
            </a:r>
          </a:p>
          <a:p>
            <a:pPr lvl="1"/>
            <a:r>
              <a:rPr lang="en-GB" altLang="en-US" dirty="0"/>
              <a:t>And the users who operate the application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72388" name="Rectangle 4"/>
          <p:cNvSpPr>
            <a:spLocks noChangeArrowheads="1"/>
          </p:cNvSpPr>
          <p:nvPr/>
        </p:nvSpPr>
        <p:spPr bwMode="auto">
          <a:xfrm>
            <a:off x="2133600" y="15240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1500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2239"/>
            <a:ext cx="7543800" cy="664797"/>
          </a:xfrm>
        </p:spPr>
        <p:txBody>
          <a:bodyPr/>
          <a:lstStyle/>
          <a:p>
            <a:pPr algn="ctr"/>
            <a:r>
              <a:rPr lang="en-US" altLang="en-US" dirty="0"/>
              <a:t>Use Case Diagrams Symbols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71500" indent="-571500"/>
            <a:endParaRPr lang="en-GB" altLang="en-US" sz="2400"/>
          </a:p>
          <a:p>
            <a:pPr marL="571500" indent="-571500"/>
            <a:endParaRPr lang="en-GB" altLang="en-US" sz="2800"/>
          </a:p>
        </p:txBody>
      </p:sp>
      <p:pic>
        <p:nvPicPr>
          <p:cNvPr id="27341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1219201"/>
            <a:ext cx="7620000" cy="4329113"/>
          </a:xfrm>
          <a:noFill/>
          <a:ln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438400" y="6248400"/>
            <a:ext cx="5869577" cy="457200"/>
          </a:xfrm>
        </p:spPr>
        <p:txBody>
          <a:bodyPr/>
          <a:lstStyle/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35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23034" y="550551"/>
            <a:ext cx="4992242" cy="1380543"/>
          </a:xfrm>
        </p:spPr>
        <p:txBody>
          <a:bodyPr>
            <a:normAutofit/>
          </a:bodyPr>
          <a:lstStyle/>
          <a:p>
            <a:r>
              <a:rPr lang="en-US" altLang="en-US" dirty="0"/>
              <a:t>Use Case Diagrams</a:t>
            </a:r>
            <a:br>
              <a:rPr lang="en-US" altLang="en-US" dirty="0"/>
            </a:br>
            <a:r>
              <a:rPr lang="en-US" altLang="en-US" sz="2400" dirty="0"/>
              <a:t>- Can be drawn for a whole subsystem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7898" y="6326188"/>
            <a:ext cx="5701348" cy="517302"/>
          </a:xfrm>
        </p:spPr>
        <p:txBody>
          <a:bodyPr/>
          <a:lstStyle/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719263"/>
            <a:ext cx="5384800" cy="4411662"/>
          </a:xfrm>
        </p:spPr>
        <p:txBody>
          <a:bodyPr/>
          <a:lstStyle/>
          <a:p>
            <a:endParaRPr lang="en-GB" altLang="en-US"/>
          </a:p>
          <a:p>
            <a:endParaRPr lang="en-GB" altLang="en-US" dirty="0"/>
          </a:p>
        </p:txBody>
      </p:sp>
      <p:pic>
        <p:nvPicPr>
          <p:cNvPr id="276487" name="Picture 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04709" y="16783"/>
            <a:ext cx="6087291" cy="6826707"/>
          </a:xfrm>
        </p:spPr>
      </p:pic>
      <p:sp>
        <p:nvSpPr>
          <p:cNvPr id="276484" name="Rectangle 4"/>
          <p:cNvSpPr>
            <a:spLocks noChangeArrowheads="1"/>
          </p:cNvSpPr>
          <p:nvPr/>
        </p:nvSpPr>
        <p:spPr bwMode="auto">
          <a:xfrm>
            <a:off x="2133600" y="15240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GB" altLang="en-US" sz="2400"/>
          </a:p>
        </p:txBody>
      </p:sp>
    </p:spTree>
    <p:extLst>
      <p:ext uri="{BB962C8B-B14F-4D97-AF65-F5344CB8AC3E}">
        <p14:creationId xmlns:p14="http://schemas.microsoft.com/office/powerpoint/2010/main" val="733726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3034" y="550551"/>
            <a:ext cx="5054213" cy="1565632"/>
          </a:xfrm>
        </p:spPr>
        <p:txBody>
          <a:bodyPr>
            <a:normAutofit/>
          </a:bodyPr>
          <a:lstStyle/>
          <a:p>
            <a:r>
              <a:rPr lang="en-US" altLang="en-US" dirty="0"/>
              <a:t>Use Case Diagrams</a:t>
            </a:r>
            <a:br>
              <a:rPr lang="en-US" altLang="en-US" dirty="0"/>
            </a:br>
            <a:r>
              <a:rPr lang="en-US" altLang="en-US" sz="2400" dirty="0"/>
              <a:t>- Can be drawn for a single actor, such as customer</a:t>
            </a:r>
            <a:endParaRPr lang="en-US" altLang="en-US" sz="27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023628" y="6298828"/>
            <a:ext cx="5605554" cy="465289"/>
          </a:xfrm>
        </p:spPr>
        <p:txBody>
          <a:bodyPr/>
          <a:lstStyle/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t>33</a:t>
            </a:fld>
            <a:endParaRPr lang="en-US"/>
          </a:p>
        </p:txBody>
      </p:sp>
      <p:pic>
        <p:nvPicPr>
          <p:cNvPr id="275468" name="Picture 1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77862" y="156754"/>
            <a:ext cx="5527350" cy="6213566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243156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52105" y="378384"/>
            <a:ext cx="9965129" cy="1183920"/>
          </a:xfrm>
        </p:spPr>
        <p:txBody>
          <a:bodyPr>
            <a:normAutofit/>
          </a:bodyPr>
          <a:lstStyle/>
          <a:p>
            <a:r>
              <a:rPr lang="en-US" altLang="en-US" dirty="0"/>
              <a:t>Use Case Diagrams</a:t>
            </a:r>
            <a:br>
              <a:rPr lang="en-US" altLang="en-US" dirty="0"/>
            </a:br>
            <a:r>
              <a:rPr lang="en-US" altLang="en-US" sz="2400" dirty="0"/>
              <a:t>- Can be drawn for a related subset of actors, such as RMO staff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97920" y="6318370"/>
            <a:ext cx="5649097" cy="365125"/>
          </a:xfrm>
        </p:spPr>
        <p:txBody>
          <a:bodyPr/>
          <a:lstStyle/>
          <a:p>
            <a:r>
              <a:rPr lang="en-US" dirty="0"/>
              <a:t>Systems Analysis and Design in a Changing World, 7th Edition - Chapter 3   ©2016. Cengage Learning.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77508" name="Rectangle 4"/>
          <p:cNvSpPr>
            <a:spLocks noChangeArrowheads="1"/>
          </p:cNvSpPr>
          <p:nvPr/>
        </p:nvSpPr>
        <p:spPr bwMode="auto">
          <a:xfrm>
            <a:off x="2133600" y="15240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39788" indent="-4953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31888" indent="-43815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013" indent="-3810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63700" indent="-3810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1209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781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0353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92500" indent="-3810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GB" alt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651" y="1608802"/>
            <a:ext cx="6858594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68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el 1"/>
          <p:cNvSpPr>
            <a:spLocks noGrp="1"/>
          </p:cNvSpPr>
          <p:nvPr>
            <p:ph type="title"/>
          </p:nvPr>
        </p:nvSpPr>
        <p:spPr>
          <a:xfrm>
            <a:off x="1847849" y="152400"/>
            <a:ext cx="9592783" cy="776288"/>
          </a:xfrm>
        </p:spPr>
        <p:txBody>
          <a:bodyPr>
            <a:normAutofit fontScale="90000"/>
          </a:bodyPr>
          <a:lstStyle/>
          <a:p>
            <a:r>
              <a:rPr lang="en-US" altLang="de-DE" dirty="0"/>
              <a:t>Relationships between Use Cases and Actors </a:t>
            </a:r>
          </a:p>
        </p:txBody>
      </p:sp>
      <p:pic>
        <p:nvPicPr>
          <p:cNvPr id="43011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220" y="1332367"/>
            <a:ext cx="5008054" cy="281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847850" y="1144590"/>
            <a:ext cx="4808370" cy="4587540"/>
          </a:xfrm>
        </p:spPr>
        <p:txBody>
          <a:bodyPr>
            <a:normAutofit/>
          </a:bodyPr>
          <a:lstStyle/>
          <a:p>
            <a:r>
              <a:rPr lang="en-US" altLang="de-DE" sz="2400" dirty="0"/>
              <a:t>Actors are connected with use cases via solid lines (</a:t>
            </a:r>
            <a:r>
              <a:rPr lang="en-US" altLang="de-DE" sz="2400" i="1" dirty="0"/>
              <a:t>associations</a:t>
            </a:r>
            <a:r>
              <a:rPr lang="en-US" altLang="de-DE" sz="2400" dirty="0"/>
              <a:t>).</a:t>
            </a:r>
          </a:p>
          <a:p>
            <a:r>
              <a:rPr lang="en-US" altLang="de-DE" sz="2400" dirty="0"/>
              <a:t>Every actor must communicate with at least one use case.</a:t>
            </a:r>
          </a:p>
          <a:p>
            <a:r>
              <a:rPr lang="en-US" altLang="de-DE" sz="2400" dirty="0"/>
              <a:t>An association is always binary.</a:t>
            </a:r>
          </a:p>
          <a:p>
            <a:r>
              <a:rPr lang="en-US" altLang="de-DE" sz="2400" dirty="0"/>
              <a:t>Multiplicities may be specified.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5"/>
          </p:nvPr>
        </p:nvSpPr>
        <p:spPr>
          <a:xfrm>
            <a:off x="9096375" y="6215063"/>
            <a:ext cx="1066800" cy="457200"/>
          </a:xfrm>
        </p:spPr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9</a:t>
            </a:r>
          </a:p>
        </p:txBody>
      </p:sp>
      <p:sp>
        <p:nvSpPr>
          <p:cNvPr id="8" name="Footer Placeholder 1"/>
          <p:cNvSpPr txBox="1">
            <a:spLocks/>
          </p:cNvSpPr>
          <p:nvPr/>
        </p:nvSpPr>
        <p:spPr>
          <a:xfrm>
            <a:off x="1907177" y="6291765"/>
            <a:ext cx="8255998" cy="4661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Slide source: </a:t>
            </a:r>
            <a:r>
              <a:rPr lang="en-US" altLang="de-DE" sz="1400" b="1" i="1" dirty="0">
                <a:solidFill>
                  <a:schemeClr val="accent2">
                    <a:lumMod val="50000"/>
                  </a:schemeClr>
                </a:solidFill>
              </a:rPr>
              <a:t>Slides accompanying </a:t>
            </a:r>
            <a:r>
              <a:rPr lang="en-US" altLang="de-DE" sz="1400" b="1" i="1" dirty="0" err="1">
                <a:solidFill>
                  <a:schemeClr val="accent2">
                    <a:lumMod val="50000"/>
                  </a:schemeClr>
                </a:solidFill>
              </a:rPr>
              <a:t>UML@Classroom</a:t>
            </a:r>
            <a:endParaRPr lang="en-US" altLang="de-DE" sz="1400" b="1" i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By: Martina </a:t>
            </a:r>
            <a:r>
              <a:rPr lang="en-US" sz="1400" i="1" dirty="0" err="1">
                <a:solidFill>
                  <a:schemeClr val="accent2">
                    <a:lumMod val="50000"/>
                  </a:schemeClr>
                </a:solidFill>
              </a:rPr>
              <a:t>Seidl</a:t>
            </a:r>
            <a:endParaRPr lang="en-US" sz="14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1847849" y="5575752"/>
            <a:ext cx="9095970" cy="466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Additional Reference: </a:t>
            </a:r>
            <a:r>
              <a:rPr lang="en-US" b="1" dirty="0"/>
              <a:t>Agile Modeling </a:t>
            </a:r>
            <a:r>
              <a:rPr lang="en-US" dirty="0"/>
              <a:t>by Scott Ambler (</a:t>
            </a:r>
            <a:r>
              <a:rPr lang="en-US" dirty="0">
                <a:hlinkClick r:id="rId4"/>
              </a:rPr>
              <a:t>http://www.agilemodeling.com/artifacts/useCaseDiagram.htm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3328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339" y="312524"/>
            <a:ext cx="8911687" cy="1280890"/>
          </a:xfrm>
        </p:spPr>
        <p:txBody>
          <a:bodyPr/>
          <a:lstStyle/>
          <a:p>
            <a:r>
              <a:rPr lang="en-US" altLang="en-US" sz="2400" dirty="0"/>
              <a:t>Use Case Diagrams:</a:t>
            </a:r>
            <a:br>
              <a:rPr lang="en-US" altLang="en-US" dirty="0"/>
            </a:br>
            <a:r>
              <a:rPr lang="en-US" altLang="en-US" sz="3200" dirty="0"/>
              <a:t>&lt;&lt;Include&gt;&gt; relationships</a:t>
            </a:r>
            <a:endParaRPr lang="en-US" altLang="en-US" dirty="0"/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>
          <a:xfrm>
            <a:off x="6696890" y="1905000"/>
            <a:ext cx="5495110" cy="4038600"/>
          </a:xfrm>
        </p:spPr>
        <p:txBody>
          <a:bodyPr>
            <a:normAutofit fontScale="92500"/>
          </a:bodyPr>
          <a:lstStyle/>
          <a:p>
            <a:r>
              <a:rPr lang="en-GB" altLang="en-US" dirty="0">
                <a:solidFill>
                  <a:srgbClr val="3C50E4"/>
                </a:solidFill>
              </a:rPr>
              <a:t>&lt;&lt;includes&gt;&gt; </a:t>
            </a:r>
            <a:r>
              <a:rPr lang="en-GB" altLang="en-US" dirty="0"/>
              <a:t>is a relationship between use cases: </a:t>
            </a:r>
          </a:p>
          <a:p>
            <a:pPr lvl="1"/>
            <a:r>
              <a:rPr lang="en-GB" altLang="en-US" dirty="0"/>
              <a:t>One use case </a:t>
            </a:r>
            <a:r>
              <a:rPr lang="en-GB" altLang="en-US" b="1" dirty="0"/>
              <a:t>requires</a:t>
            </a:r>
            <a:r>
              <a:rPr lang="en-GB" altLang="en-US" dirty="0"/>
              <a:t> a function already provided by another use case</a:t>
            </a:r>
          </a:p>
          <a:p>
            <a:pPr lvl="1"/>
            <a:r>
              <a:rPr lang="en-US" dirty="0"/>
              <a:t>The included use case is </a:t>
            </a:r>
            <a:r>
              <a:rPr lang="en-US" b="1" dirty="0"/>
              <a:t>always executed</a:t>
            </a:r>
            <a:r>
              <a:rPr lang="en-US" dirty="0"/>
              <a:t> as part of the base use case.</a:t>
            </a:r>
            <a:endParaRPr lang="en-GB" altLang="en-US" dirty="0"/>
          </a:p>
          <a:p>
            <a:r>
              <a:rPr lang="en-GB" altLang="en-US" dirty="0"/>
              <a:t>The arrow points toward the subroutine</a:t>
            </a:r>
          </a:p>
          <a:p>
            <a:pPr lvl="1"/>
            <a:r>
              <a:rPr lang="en-GB" altLang="en-US" dirty="0"/>
              <a:t>Implying the use case </a:t>
            </a:r>
            <a:r>
              <a:rPr lang="en-GB" altLang="en-US" i="1" dirty="0"/>
              <a:t>includes</a:t>
            </a:r>
            <a:r>
              <a:rPr lang="en-GB" altLang="en-US" dirty="0"/>
              <a:t>, </a:t>
            </a:r>
            <a:r>
              <a:rPr lang="en-GB" altLang="en-US" i="1" dirty="0"/>
              <a:t>uses</a:t>
            </a:r>
            <a:r>
              <a:rPr lang="en-GB" altLang="en-US" dirty="0"/>
              <a:t>, or </a:t>
            </a:r>
            <a:r>
              <a:rPr lang="en-GB" altLang="en-US" i="1" dirty="0"/>
              <a:t>depends on</a:t>
            </a:r>
            <a:r>
              <a:rPr lang="en-GB" altLang="en-US" dirty="0"/>
              <a:t> the subroutine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10A95-AB8E-4A8E-A585-254E3C6D9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88" y="1915833"/>
            <a:ext cx="6204413" cy="276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42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>
          <a:xfrm>
            <a:off x="1411391" y="1016416"/>
            <a:ext cx="10399649" cy="4713092"/>
          </a:xfrm>
        </p:spPr>
        <p:txBody>
          <a:bodyPr/>
          <a:lstStyle/>
          <a:p>
            <a:r>
              <a:rPr lang="en-US" altLang="de-DE" dirty="0"/>
              <a:t>The behavior of one use case (included use case) is integrated in the behavior of another use case (base use case)</a:t>
            </a:r>
          </a:p>
          <a:p>
            <a:endParaRPr lang="de-AT" altLang="de-DE" b="1" dirty="0"/>
          </a:p>
          <a:p>
            <a:endParaRPr lang="de-AT" altLang="de-DE" b="1" dirty="0"/>
          </a:p>
          <a:p>
            <a:endParaRPr lang="de-AT" altLang="de-DE" b="1" dirty="0"/>
          </a:p>
          <a:p>
            <a:endParaRPr lang="de-AT" altLang="de-DE" b="1" dirty="0"/>
          </a:p>
          <a:p>
            <a:pPr marL="0" indent="0">
              <a:buNone/>
            </a:pPr>
            <a:endParaRPr lang="de-AT" altLang="de-DE" b="1" dirty="0"/>
          </a:p>
          <a:p>
            <a:pPr marL="0" indent="0">
              <a:buNone/>
            </a:pPr>
            <a:endParaRPr lang="de-AT" altLang="de-DE" b="1" dirty="0"/>
          </a:p>
          <a:p>
            <a:r>
              <a:rPr lang="en-US" altLang="de-DE" dirty="0"/>
              <a:t>Example</a:t>
            </a:r>
            <a:r>
              <a:rPr lang="de-AT" altLang="de-DE" dirty="0"/>
              <a:t>:</a:t>
            </a:r>
            <a:endParaRPr lang="en-US" altLang="de-DE" dirty="0"/>
          </a:p>
          <a:p>
            <a:endParaRPr lang="en-US" dirty="0"/>
          </a:p>
        </p:txBody>
      </p:sp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1201478" y="152400"/>
            <a:ext cx="10609561" cy="419080"/>
          </a:xfrm>
        </p:spPr>
        <p:txBody>
          <a:bodyPr>
            <a:normAutofit fontScale="90000"/>
          </a:bodyPr>
          <a:lstStyle/>
          <a:p>
            <a:r>
              <a:rPr lang="en-US" altLang="de-DE" dirty="0">
                <a:latin typeface="Courier" charset="0"/>
              </a:rPr>
              <a:t>«include»</a:t>
            </a:r>
            <a:r>
              <a:rPr lang="en-US" altLang="de-DE" dirty="0"/>
              <a:t> - Relationship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10</a:t>
            </a:r>
          </a:p>
        </p:txBody>
      </p:sp>
      <p:sp>
        <p:nvSpPr>
          <p:cNvPr id="39941" name="Text Box 10"/>
          <p:cNvSpPr txBox="1">
            <a:spLocks noChangeArrowheads="1"/>
          </p:cNvSpPr>
          <p:nvPr/>
        </p:nvSpPr>
        <p:spPr bwMode="auto">
          <a:xfrm>
            <a:off x="4683126" y="1853301"/>
            <a:ext cx="49101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Base use case</a:t>
            </a:r>
          </a:p>
          <a:p>
            <a:pPr>
              <a:defRPr/>
            </a:pPr>
            <a:r>
              <a:rPr lang="en-US" altLang="de-DE" dirty="0">
                <a:latin typeface="+mj-lt"/>
              </a:rPr>
              <a:t>requires the behavior of the included use </a:t>
            </a:r>
          </a:p>
          <a:p>
            <a:pPr>
              <a:defRPr/>
            </a:pPr>
            <a:r>
              <a:rPr lang="en-US" altLang="de-DE" dirty="0">
                <a:latin typeface="+mj-lt"/>
              </a:rPr>
              <a:t>case to be able to offer its functionality</a:t>
            </a:r>
          </a:p>
        </p:txBody>
      </p:sp>
      <p:sp>
        <p:nvSpPr>
          <p:cNvPr id="51205" name="Line 11"/>
          <p:cNvSpPr>
            <a:spLocks noChangeShapeType="1"/>
          </p:cNvSpPr>
          <p:nvPr/>
        </p:nvSpPr>
        <p:spPr bwMode="auto">
          <a:xfrm flipH="1">
            <a:off x="4464051" y="2091870"/>
            <a:ext cx="252413" cy="65088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39943" name="Text Box 12"/>
          <p:cNvSpPr txBox="1">
            <a:spLocks noChangeArrowheads="1"/>
          </p:cNvSpPr>
          <p:nvPr/>
        </p:nvSpPr>
        <p:spPr bwMode="auto">
          <a:xfrm>
            <a:off x="4683125" y="2816915"/>
            <a:ext cx="521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Included use case </a:t>
            </a:r>
          </a:p>
          <a:p>
            <a:pPr>
              <a:defRPr/>
            </a:pPr>
            <a:r>
              <a:rPr lang="en-US" altLang="de-DE" dirty="0">
                <a:latin typeface="+mj-lt"/>
              </a:rPr>
              <a:t>may be executed on its own</a:t>
            </a:r>
          </a:p>
        </p:txBody>
      </p:sp>
      <p:sp>
        <p:nvSpPr>
          <p:cNvPr id="51207" name="Line 13"/>
          <p:cNvSpPr>
            <a:spLocks noChangeShapeType="1"/>
          </p:cNvSpPr>
          <p:nvPr/>
        </p:nvSpPr>
        <p:spPr bwMode="auto">
          <a:xfrm flipH="1">
            <a:off x="4464051" y="3035074"/>
            <a:ext cx="269875" cy="10001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pic>
        <p:nvPicPr>
          <p:cNvPr id="51209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040" y="1984951"/>
            <a:ext cx="1444625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15" name="Footer Placeholder 1"/>
          <p:cNvSpPr txBox="1">
            <a:spLocks/>
          </p:cNvSpPr>
          <p:nvPr/>
        </p:nvSpPr>
        <p:spPr>
          <a:xfrm>
            <a:off x="1907177" y="6291765"/>
            <a:ext cx="8255998" cy="4661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Slide source: </a:t>
            </a:r>
            <a:r>
              <a:rPr lang="en-US" altLang="de-DE" sz="1400" b="1" i="1" dirty="0">
                <a:solidFill>
                  <a:schemeClr val="accent2">
                    <a:lumMod val="50000"/>
                  </a:schemeClr>
                </a:solidFill>
              </a:rPr>
              <a:t>Slides accompanying </a:t>
            </a:r>
            <a:r>
              <a:rPr lang="en-US" altLang="de-DE" sz="1400" b="1" i="1" dirty="0" err="1">
                <a:solidFill>
                  <a:schemeClr val="accent2">
                    <a:lumMod val="50000"/>
                  </a:schemeClr>
                </a:solidFill>
              </a:rPr>
              <a:t>UML@Classroom</a:t>
            </a:r>
            <a:endParaRPr lang="en-US" altLang="de-DE" sz="1400" b="1" i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By: Martina </a:t>
            </a:r>
            <a:r>
              <a:rPr lang="en-US" sz="1400" i="1" dirty="0" err="1">
                <a:solidFill>
                  <a:schemeClr val="accent2">
                    <a:lumMod val="50000"/>
                  </a:schemeClr>
                </a:solidFill>
              </a:rPr>
              <a:t>Seidl</a:t>
            </a:r>
            <a:endParaRPr lang="en-US" sz="14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26" name="Picture 2" descr="UML include relationship example - Deposit Funds and Withdraw Cash use cases include Customer Authentication use case.">
            <a:extLst>
              <a:ext uri="{FF2B5EF4-FFF2-40B4-BE49-F238E27FC236}">
                <a16:creationId xmlns:a16="http://schemas.microsoft.com/office/drawing/2014/main" id="{7E12FA00-9E0E-44BA-A8A0-E0477057B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152" y="3972008"/>
            <a:ext cx="4097776" cy="207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79285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986" y="152400"/>
            <a:ext cx="10248053" cy="419080"/>
          </a:xfrm>
        </p:spPr>
        <p:txBody>
          <a:bodyPr>
            <a:normAutofit fontScale="90000"/>
          </a:bodyPr>
          <a:lstStyle/>
          <a:p>
            <a:r>
              <a:rPr lang="en-US" altLang="de-DE" dirty="0">
                <a:latin typeface="Courier" charset="0"/>
              </a:rPr>
              <a:t>«extend»</a:t>
            </a:r>
            <a:r>
              <a:rPr lang="en-US" altLang="de-DE" dirty="0"/>
              <a:t> - Relationship</a:t>
            </a:r>
            <a:br>
              <a:rPr lang="en-US" altLang="de-DE" dirty="0"/>
            </a:br>
            <a:endParaRPr lang="en-US" altLang="de-DE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pPr lvl="1" eaLnBrk="1" hangingPunct="1"/>
            <a:endParaRPr lang="en-US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11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847849" y="1144589"/>
            <a:ext cx="10508273" cy="5033473"/>
          </a:xfrm>
        </p:spPr>
        <p:txBody>
          <a:bodyPr>
            <a:normAutofit/>
          </a:bodyPr>
          <a:lstStyle/>
          <a:p>
            <a:r>
              <a:rPr lang="en-US" altLang="de-DE" dirty="0"/>
              <a:t>The behavior of one use case (extending use case) </a:t>
            </a:r>
            <a:r>
              <a:rPr lang="en-US" altLang="de-DE" b="1" dirty="0"/>
              <a:t>may be </a:t>
            </a:r>
            <a:r>
              <a:rPr lang="en-US" altLang="de-DE" dirty="0"/>
              <a:t>integrated in the behavior of another use case (base use case) but does not have to.</a:t>
            </a:r>
          </a:p>
          <a:p>
            <a:r>
              <a:rPr lang="en-US" altLang="de-DE" dirty="0"/>
              <a:t>Both use cases may also be executed independently of each other.</a:t>
            </a:r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endParaRPr lang="en-US" altLang="de-DE" dirty="0"/>
          </a:p>
          <a:p>
            <a:pPr eaLnBrk="1" hangingPunct="1"/>
            <a:r>
              <a:rPr lang="en-US" altLang="de-DE" dirty="0">
                <a:latin typeface="Courier" charset="0"/>
              </a:rPr>
              <a:t>A</a:t>
            </a:r>
            <a:r>
              <a:rPr lang="en-US" altLang="de-DE" dirty="0"/>
              <a:t> </a:t>
            </a:r>
            <a:r>
              <a:rPr lang="en-US" altLang="de-DE" b="1" dirty="0"/>
              <a:t>decides</a:t>
            </a:r>
            <a:r>
              <a:rPr lang="en-US" altLang="de-DE" dirty="0"/>
              <a:t> if </a:t>
            </a:r>
            <a:r>
              <a:rPr lang="en-US" altLang="de-DE" dirty="0">
                <a:latin typeface="Courier" charset="0"/>
              </a:rPr>
              <a:t>B</a:t>
            </a:r>
            <a:r>
              <a:rPr lang="en-US" altLang="de-DE" dirty="0"/>
              <a:t> is executed.</a:t>
            </a:r>
          </a:p>
          <a:p>
            <a:pPr eaLnBrk="1" hangingPunct="1"/>
            <a:r>
              <a:rPr lang="en-US" altLang="de-DE" b="1" dirty="0"/>
              <a:t>Extension points </a:t>
            </a:r>
            <a:r>
              <a:rPr lang="en-US" altLang="de-DE" dirty="0"/>
              <a:t>define at which point in </a:t>
            </a:r>
            <a:r>
              <a:rPr lang="en-US" altLang="de-DE" b="1" dirty="0"/>
              <a:t>A</a:t>
            </a:r>
            <a:r>
              <a:rPr lang="en-US" altLang="de-DE" dirty="0"/>
              <a:t> the behavior is integrated.</a:t>
            </a:r>
          </a:p>
          <a:p>
            <a:pPr eaLnBrk="1" hangingPunct="1"/>
            <a:r>
              <a:rPr lang="en-US" altLang="de-DE" b="1" dirty="0"/>
              <a:t>Conditions</a:t>
            </a:r>
            <a:r>
              <a:rPr lang="en-US" altLang="de-DE" dirty="0"/>
              <a:t> define under which circumstances the behavior is integrated.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5045076" y="2844800"/>
            <a:ext cx="346075" cy="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H="1" flipV="1">
            <a:off x="5005388" y="4211638"/>
            <a:ext cx="385762" cy="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de-AT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5391150" y="2667000"/>
            <a:ext cx="49101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Base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endParaRPr lang="de-DE" altLang="de-DE" i="1" dirty="0">
              <a:solidFill>
                <a:srgbClr val="FE8400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5399088" y="4051301"/>
            <a:ext cx="5211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Extending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altLang="de-DE" i="1" dirty="0" err="1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case</a:t>
            </a:r>
            <a:r>
              <a:rPr lang="de-DE" altLang="de-DE" i="1" dirty="0">
                <a:solidFill>
                  <a:srgbClr val="FE840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19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84451"/>
            <a:ext cx="1652588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ooter Placeholder 1"/>
          <p:cNvSpPr txBox="1">
            <a:spLocks/>
          </p:cNvSpPr>
          <p:nvPr/>
        </p:nvSpPr>
        <p:spPr>
          <a:xfrm>
            <a:off x="1907177" y="6291765"/>
            <a:ext cx="8255998" cy="4661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Slide source: </a:t>
            </a:r>
            <a:r>
              <a:rPr lang="en-US" altLang="de-DE" sz="1400" b="1" i="1" dirty="0">
                <a:solidFill>
                  <a:schemeClr val="accent2">
                    <a:lumMod val="50000"/>
                  </a:schemeClr>
                </a:solidFill>
              </a:rPr>
              <a:t>Slides accompanying </a:t>
            </a:r>
            <a:r>
              <a:rPr lang="en-US" altLang="de-DE" sz="1400" b="1" i="1" dirty="0" err="1">
                <a:solidFill>
                  <a:schemeClr val="accent2">
                    <a:lumMod val="50000"/>
                  </a:schemeClr>
                </a:solidFill>
              </a:rPr>
              <a:t>UML@Classroom</a:t>
            </a:r>
            <a:endParaRPr lang="en-US" altLang="de-DE" sz="1400" b="1" i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By: Martina </a:t>
            </a:r>
            <a:r>
              <a:rPr lang="en-US" sz="1400" i="1" dirty="0" err="1">
                <a:solidFill>
                  <a:schemeClr val="accent2">
                    <a:lumMod val="50000"/>
                  </a:schemeClr>
                </a:solidFill>
              </a:rPr>
              <a:t>Seidl</a:t>
            </a:r>
            <a:endParaRPr lang="en-US" sz="1400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17466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52352" y="152400"/>
            <a:ext cx="10258687" cy="419080"/>
          </a:xfrm>
        </p:spPr>
        <p:txBody>
          <a:bodyPr>
            <a:normAutofit fontScale="90000"/>
          </a:bodyPr>
          <a:lstStyle/>
          <a:p>
            <a:r>
              <a:rPr lang="en-US" altLang="de-DE" dirty="0">
                <a:latin typeface="Courier" charset="0"/>
              </a:rPr>
              <a:t>«extend»</a:t>
            </a:r>
            <a:r>
              <a:rPr lang="en-US" altLang="de-DE" dirty="0"/>
              <a:t> - Relationship: Extension Points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pPr lvl="1" eaLnBrk="1" hangingPunct="1"/>
            <a:endParaRPr lang="en-US" altLang="de-DE" dirty="0"/>
          </a:p>
          <a:p>
            <a:pPr eaLnBrk="1" hangingPunct="1"/>
            <a:endParaRPr lang="en-US" alt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r>
              <a:rPr lang="de-DE" dirty="0">
                <a:latin typeface="+mn-lt"/>
                <a:ea typeface="+mn-ea"/>
              </a:rPr>
              <a:t>12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847850" y="1144589"/>
            <a:ext cx="8534400" cy="4713287"/>
          </a:xfrm>
        </p:spPr>
        <p:txBody>
          <a:bodyPr/>
          <a:lstStyle/>
          <a:p>
            <a:pPr eaLnBrk="1" hangingPunct="1"/>
            <a:r>
              <a:rPr lang="en-US" altLang="de-DE"/>
              <a:t>Extension points are written directly within the use case.</a:t>
            </a:r>
          </a:p>
          <a:p>
            <a:r>
              <a:rPr lang="en-US" altLang="de-DE"/>
              <a:t>Specification of </a:t>
            </a:r>
            <a:r>
              <a:rPr lang="de-AT" altLang="de-DE"/>
              <a:t>multiple extension points is possible.</a:t>
            </a:r>
            <a:endParaRPr lang="en-US" altLang="de-DE"/>
          </a:p>
          <a:p>
            <a:endParaRPr lang="en-US" altLang="de-DE"/>
          </a:p>
          <a:p>
            <a:r>
              <a:rPr lang="en-US" altLang="de-DE"/>
              <a:t>Example:</a:t>
            </a:r>
          </a:p>
          <a:p>
            <a:pPr lvl="1" eaLnBrk="1" hangingPunct="1"/>
            <a:endParaRPr lang="en-US" altLang="de-DE"/>
          </a:p>
          <a:p>
            <a:pPr lvl="1" eaLnBrk="1" hangingPunct="1"/>
            <a:endParaRPr lang="en-US" altLang="de-DE"/>
          </a:p>
          <a:p>
            <a:pPr eaLnBrk="1" hangingPunct="1"/>
            <a:endParaRPr lang="en-US" altLang="de-DE"/>
          </a:p>
        </p:txBody>
      </p:sp>
      <p:pic>
        <p:nvPicPr>
          <p:cNvPr id="21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9" y="2359025"/>
            <a:ext cx="5038725" cy="374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1"/>
          <p:cNvSpPr txBox="1">
            <a:spLocks/>
          </p:cNvSpPr>
          <p:nvPr/>
        </p:nvSpPr>
        <p:spPr>
          <a:xfrm>
            <a:off x="1907177" y="6291765"/>
            <a:ext cx="8255998" cy="46616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Slide source: </a:t>
            </a:r>
            <a:r>
              <a:rPr lang="en-US" altLang="de-DE" sz="1400" b="1" i="1" dirty="0">
                <a:solidFill>
                  <a:schemeClr val="accent2">
                    <a:lumMod val="50000"/>
                  </a:schemeClr>
                </a:solidFill>
              </a:rPr>
              <a:t>Slides accompanying </a:t>
            </a:r>
            <a:r>
              <a:rPr lang="en-US" altLang="de-DE" sz="1400" b="1" i="1" dirty="0" err="1">
                <a:solidFill>
                  <a:schemeClr val="accent2">
                    <a:lumMod val="50000"/>
                  </a:schemeClr>
                </a:solidFill>
              </a:rPr>
              <a:t>UML@Classroom</a:t>
            </a:r>
            <a:endParaRPr lang="en-US" altLang="de-DE" sz="1400" b="1" i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400" i="1" dirty="0">
                <a:solidFill>
                  <a:schemeClr val="accent2">
                    <a:lumMod val="50000"/>
                  </a:schemeClr>
                </a:solidFill>
              </a:rPr>
              <a:t>By: Martina </a:t>
            </a:r>
            <a:r>
              <a:rPr lang="en-US" sz="1400" i="1" dirty="0" err="1">
                <a:solidFill>
                  <a:schemeClr val="accent2">
                    <a:lumMod val="50000"/>
                  </a:schemeClr>
                </a:solidFill>
              </a:rPr>
              <a:t>Seidl</a:t>
            </a:r>
            <a:endParaRPr lang="en-US" sz="1400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19675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48646" y="329899"/>
            <a:ext cx="9363944" cy="128089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Use Case Diagrams: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Steps to presenting a Use Case Diagram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1940626" y="1907685"/>
            <a:ext cx="8915400" cy="4228123"/>
          </a:xfrm>
        </p:spPr>
        <p:txBody>
          <a:bodyPr>
            <a:normAutofit/>
          </a:bodyPr>
          <a:lstStyle/>
          <a:p>
            <a:r>
              <a:rPr lang="en-US" altLang="en-US" dirty="0"/>
              <a:t>Identify stakeholders &amp; users who would benefit by seeing a use case diagram</a:t>
            </a:r>
          </a:p>
          <a:p>
            <a:pPr lvl="1"/>
            <a:r>
              <a:rPr lang="en-US" altLang="en-US" dirty="0"/>
              <a:t>Determine what they need to review:</a:t>
            </a:r>
          </a:p>
          <a:p>
            <a:pPr lvl="2"/>
            <a:r>
              <a:rPr lang="en-US" altLang="en-US" dirty="0"/>
              <a:t>For which subsystem, which types of user and which use cases </a:t>
            </a:r>
          </a:p>
          <a:p>
            <a:r>
              <a:rPr lang="en-US" altLang="en-US" dirty="0"/>
              <a:t>For each potential communication need:</a:t>
            </a:r>
          </a:p>
          <a:p>
            <a:pPr lvl="1"/>
            <a:r>
              <a:rPr lang="en-US" altLang="en-US" dirty="0"/>
              <a:t>Select the use cases and actors to be shown</a:t>
            </a:r>
          </a:p>
          <a:p>
            <a:pPr lvl="1"/>
            <a:r>
              <a:rPr lang="en-US" altLang="en-US" dirty="0"/>
              <a:t>Draw the use case diagram </a:t>
            </a:r>
          </a:p>
          <a:p>
            <a:pPr lvl="1"/>
            <a:r>
              <a:rPr lang="en-US" altLang="en-US" dirty="0"/>
              <a:t>Name each use case diagram </a:t>
            </a:r>
          </a:p>
          <a:p>
            <a:pPr lvl="2"/>
            <a:r>
              <a:rPr lang="en-US" altLang="en-US" dirty="0"/>
              <a:t>Note how and when it should be used to review use cases </a:t>
            </a:r>
          </a:p>
          <a:p>
            <a:pPr marL="0" indent="0">
              <a:buNone/>
            </a:pPr>
            <a:endParaRPr lang="en-GB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9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  <a:endParaRPr lang="en-US" altLang="en-US" dirty="0"/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45921"/>
            <a:ext cx="8915400" cy="4484516"/>
          </a:xfrm>
        </p:spPr>
        <p:txBody>
          <a:bodyPr>
            <a:normAutofit fontScale="85000" lnSpcReduction="10000"/>
          </a:bodyPr>
          <a:lstStyle/>
          <a:p>
            <a:r>
              <a:rPr lang="en-GB" altLang="en-US" dirty="0"/>
              <a:t>This is the first of three chapters focused on modelling functional requirements as a part of systems analysis</a:t>
            </a:r>
          </a:p>
          <a:p>
            <a:r>
              <a:rPr lang="en-GB" altLang="en-US" b="1" dirty="0"/>
              <a:t>Use Cases</a:t>
            </a:r>
            <a:r>
              <a:rPr lang="en-GB" altLang="en-US" dirty="0"/>
              <a:t> </a:t>
            </a:r>
          </a:p>
          <a:p>
            <a:pPr lvl="1"/>
            <a:r>
              <a:rPr lang="en-GB" altLang="en-US" dirty="0"/>
              <a:t>Identify activities the system carries out in response to a user request</a:t>
            </a:r>
          </a:p>
          <a:p>
            <a:r>
              <a:rPr lang="en-GB" altLang="en-US" dirty="0"/>
              <a:t>Two techniques for identifying use cases are:</a:t>
            </a:r>
          </a:p>
          <a:p>
            <a:pPr lvl="1"/>
            <a:r>
              <a:rPr lang="en-GB" altLang="en-US" dirty="0"/>
              <a:t>The user goal technique </a:t>
            </a:r>
          </a:p>
          <a:p>
            <a:pPr lvl="1"/>
            <a:r>
              <a:rPr lang="en-GB" altLang="en-US" dirty="0"/>
              <a:t>The event decomposition technique</a:t>
            </a:r>
          </a:p>
          <a:p>
            <a:r>
              <a:rPr lang="en-GB" altLang="en-US" dirty="0"/>
              <a:t>The user goal technique begins by:</a:t>
            </a:r>
          </a:p>
          <a:p>
            <a:pPr lvl="1"/>
            <a:r>
              <a:rPr lang="en-GB" altLang="en-US" dirty="0"/>
              <a:t>Identifying end users (actors)</a:t>
            </a:r>
          </a:p>
          <a:p>
            <a:pPr lvl="1"/>
            <a:r>
              <a:rPr lang="en-GB" altLang="en-US" dirty="0"/>
              <a:t>Asking what specific goals they have when interacting with the system</a:t>
            </a:r>
          </a:p>
          <a:p>
            <a:r>
              <a:rPr lang="en-GB" altLang="en-US" dirty="0"/>
              <a:t>The event decomposition technique begins by:</a:t>
            </a:r>
          </a:p>
          <a:p>
            <a:pPr lvl="1"/>
            <a:r>
              <a:rPr lang="en-GB" altLang="en-US" dirty="0"/>
              <a:t>Identifying events that occur that require the system to respond.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78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  <a:endParaRPr lang="en-US" altLang="en-US" dirty="0"/>
          </a:p>
        </p:txBody>
      </p:sp>
      <p:sp>
        <p:nvSpPr>
          <p:cNvPr id="281603" name="Rectangle 3"/>
          <p:cNvSpPr>
            <a:spLocks noGrp="1" noChangeArrowheads="1"/>
          </p:cNvSpPr>
          <p:nvPr>
            <p:ph idx="1"/>
          </p:nvPr>
        </p:nvSpPr>
        <p:spPr>
          <a:xfrm>
            <a:off x="2589212" y="1628504"/>
            <a:ext cx="8915400" cy="3135085"/>
          </a:xfrm>
        </p:spPr>
        <p:txBody>
          <a:bodyPr>
            <a:normAutofit fontScale="85000" lnSpcReduction="20000"/>
          </a:bodyPr>
          <a:lstStyle/>
          <a:p>
            <a:r>
              <a:rPr lang="en-GB" altLang="en-US" dirty="0"/>
              <a:t>There are three types of events:</a:t>
            </a:r>
          </a:p>
          <a:p>
            <a:pPr lvl="1"/>
            <a:r>
              <a:rPr lang="en-GB" altLang="en-US" dirty="0"/>
              <a:t>external, temporal, and state events</a:t>
            </a:r>
          </a:p>
          <a:p>
            <a:r>
              <a:rPr lang="en-GB" altLang="en-US" dirty="0"/>
              <a:t>Brief Use Case Descriptions are written for use cases</a:t>
            </a:r>
          </a:p>
          <a:p>
            <a:r>
              <a:rPr lang="en-GB" altLang="en-US" dirty="0"/>
              <a:t>A Use Case Diagram is a standardised UML model</a:t>
            </a:r>
          </a:p>
          <a:p>
            <a:pPr lvl="1"/>
            <a:r>
              <a:rPr lang="en-GB" altLang="en-US" dirty="0"/>
              <a:t>It shows the actors, the automation boundary &amp; the uses cases that involve each actor</a:t>
            </a:r>
          </a:p>
          <a:p>
            <a:pPr lvl="1"/>
            <a:r>
              <a:rPr lang="en-GB" altLang="en-US" dirty="0"/>
              <a:t>It can contain &lt;&lt;includes&gt;&gt; for use cases used like subroutines</a:t>
            </a:r>
          </a:p>
          <a:p>
            <a:r>
              <a:rPr lang="en-GB" altLang="en-US" dirty="0"/>
              <a:t>A variety of use case diagrams can be drawn</a:t>
            </a:r>
          </a:p>
          <a:p>
            <a:pPr lvl="1"/>
            <a:r>
              <a:rPr lang="en-GB" altLang="en-US" dirty="0"/>
              <a:t>…depending on the presentation needs of the analysis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7th Edition - Chapter 3   ©2016. Cengage Learning. All rights reserved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90C86-DB09-4CA5-9AE5-F173E2292E9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4628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 w="38100">
          <a:tailEnd type="stealth" w="lg" len="lg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02_RequirementsGathering_ch2</Template>
  <TotalTime>1046</TotalTime>
  <Words>3184</Words>
  <Application>Microsoft Office PowerPoint</Application>
  <PresentationFormat>Widescreen</PresentationFormat>
  <Paragraphs>376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MS Gothic</vt:lpstr>
      <vt:lpstr>Arial</vt:lpstr>
      <vt:lpstr>Calibri</vt:lpstr>
      <vt:lpstr>Century Gothic</vt:lpstr>
      <vt:lpstr>Courier</vt:lpstr>
      <vt:lpstr>Times New Roman</vt:lpstr>
      <vt:lpstr>Wingdings</vt:lpstr>
      <vt:lpstr>Wingdings 3</vt:lpstr>
      <vt:lpstr>Wisp</vt:lpstr>
      <vt:lpstr>User Stories &amp; Use Cases</vt:lpstr>
      <vt:lpstr>Overview</vt:lpstr>
      <vt:lpstr>User Stories</vt:lpstr>
      <vt:lpstr>Sample User Story</vt:lpstr>
      <vt:lpstr>Sample User Story</vt:lpstr>
      <vt:lpstr>Describing Use Cases as feature…..</vt:lpstr>
      <vt:lpstr>User Goal Technique</vt:lpstr>
      <vt:lpstr>User Goal Technique: Some RMO CSMS Users and Goals</vt:lpstr>
      <vt:lpstr>User Goal Technique: Specific Steps</vt:lpstr>
      <vt:lpstr>User Goal Technique: Specific Steps cont'd</vt:lpstr>
      <vt:lpstr>Event Decomposition Technique</vt:lpstr>
      <vt:lpstr>Events and Use Cases</vt:lpstr>
      <vt:lpstr>Event Decomposition Technique Types of Events</vt:lpstr>
      <vt:lpstr>Event Decomposition Technique External Event Checklist</vt:lpstr>
      <vt:lpstr>Event Decomposition Technique  Temporal Event Checklist</vt:lpstr>
      <vt:lpstr>Event Decomposition Technique  Finding the event that affects the system</vt:lpstr>
      <vt:lpstr>Event Decomposition Technique  Tracing a sequence of transactions  - resulting in several events</vt:lpstr>
      <vt:lpstr>Analytical Assumption: Perfect Technology</vt:lpstr>
      <vt:lpstr>Event Decomposition Technique:  Specific Steps (continued)</vt:lpstr>
      <vt:lpstr>Event Decomposition Technique:  Specific Steps (continued)</vt:lpstr>
      <vt:lpstr>Event Decomposition Technique:  Benefits</vt:lpstr>
      <vt:lpstr>Brief Use Case Descriptions</vt:lpstr>
      <vt:lpstr>RMO CSMS Project's Use Cases</vt:lpstr>
      <vt:lpstr>RMO CSMS Project's Use Cases cont'd</vt:lpstr>
      <vt:lpstr>RMO CSMS Project's Use Cases cont'd</vt:lpstr>
      <vt:lpstr>RMO CSMS Project's Use Cases cont'd</vt:lpstr>
      <vt:lpstr>Events and Use Cases</vt:lpstr>
      <vt:lpstr>Information about Each Event in an Event Table</vt:lpstr>
      <vt:lpstr>Sample Event Table‏</vt:lpstr>
      <vt:lpstr>Use Case Diagrams</vt:lpstr>
      <vt:lpstr>Use Case Diagrams Symbols</vt:lpstr>
      <vt:lpstr>Use Case Diagrams - Can be drawn for a whole subsystem</vt:lpstr>
      <vt:lpstr>Use Case Diagrams - Can be drawn for a single actor, such as customer</vt:lpstr>
      <vt:lpstr>Use Case Diagrams - Can be drawn for a related subset of actors, such as RMO staff</vt:lpstr>
      <vt:lpstr>Relationships between Use Cases and Actors </vt:lpstr>
      <vt:lpstr>Use Case Diagrams: &lt;&lt;Include&gt;&gt; relationships</vt:lpstr>
      <vt:lpstr>«include» - Relationship</vt:lpstr>
      <vt:lpstr>«extend» - Relationship </vt:lpstr>
      <vt:lpstr>«extend» - Relationship: Extension Points</vt:lpstr>
      <vt:lpstr>Use Case Diagrams:  Steps to presenting a Use Case Diagram</vt:lpstr>
      <vt:lpstr>Summary</vt:lpstr>
      <vt:lpstr>Summary</vt:lpstr>
    </vt:vector>
  </TitlesOfParts>
  <Company>Conestoga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Stories &amp; Use Cases</dc:title>
  <dc:creator>David Turton</dc:creator>
  <cp:lastModifiedBy>Bhavneet 01</cp:lastModifiedBy>
  <cp:revision>85</cp:revision>
  <dcterms:created xsi:type="dcterms:W3CDTF">2018-09-03T12:56:08Z</dcterms:created>
  <dcterms:modified xsi:type="dcterms:W3CDTF">2026-01-27T22:51:58Z</dcterms:modified>
</cp:coreProperties>
</file>