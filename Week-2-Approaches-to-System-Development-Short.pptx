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6"/>
  </p:notesMasterIdLst>
  <p:sldIdLst>
    <p:sldId id="256" r:id="rId2"/>
    <p:sldId id="257" r:id="rId3"/>
    <p:sldId id="258" r:id="rId4"/>
    <p:sldId id="260" r:id="rId5"/>
    <p:sldId id="261" r:id="rId6"/>
    <p:sldId id="259" r:id="rId7"/>
    <p:sldId id="262" r:id="rId8"/>
    <p:sldId id="263" r:id="rId9"/>
    <p:sldId id="264" r:id="rId10"/>
    <p:sldId id="265" r:id="rId11"/>
    <p:sldId id="266" r:id="rId12"/>
    <p:sldId id="267" r:id="rId13"/>
    <p:sldId id="268" r:id="rId14"/>
    <p:sldId id="269" r:id="rId15"/>
    <p:sldId id="270" r:id="rId16"/>
    <p:sldId id="271" r:id="rId17"/>
    <p:sldId id="280" r:id="rId18"/>
    <p:sldId id="281" r:id="rId19"/>
    <p:sldId id="282" r:id="rId20"/>
    <p:sldId id="283" r:id="rId21"/>
    <p:sldId id="292" r:id="rId22"/>
    <p:sldId id="293" r:id="rId23"/>
    <p:sldId id="311" r:id="rId24"/>
    <p:sldId id="320" r:id="rId25"/>
    <p:sldId id="321" r:id="rId26"/>
    <p:sldId id="322" r:id="rId27"/>
    <p:sldId id="312" r:id="rId28"/>
    <p:sldId id="315" r:id="rId29"/>
    <p:sldId id="319" r:id="rId30"/>
    <p:sldId id="306" r:id="rId31"/>
    <p:sldId id="307" r:id="rId32"/>
    <p:sldId id="310" r:id="rId33"/>
    <p:sldId id="295" r:id="rId34"/>
    <p:sldId id="296"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E6AED9-7BC4-41F6-ADA1-D30D4C6415EF}" type="datetimeFigureOut">
              <a:rPr lang="en-CA" smtClean="0"/>
              <a:t>2026-01-07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177F0-FFEA-414B-9D95-4A9240B8A7A6}" type="slidenum">
              <a:rPr lang="en-CA" smtClean="0"/>
              <a:t>‹#›</a:t>
            </a:fld>
            <a:endParaRPr lang="en-CA"/>
          </a:p>
        </p:txBody>
      </p:sp>
    </p:spTree>
    <p:extLst>
      <p:ext uri="{BB962C8B-B14F-4D97-AF65-F5344CB8AC3E}">
        <p14:creationId xmlns:p14="http://schemas.microsoft.com/office/powerpoint/2010/main" val="2888988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lvl1pPr>
              <a:defRPr sz="1200" baseline="0"/>
            </a:lvl1pPr>
          </a:lstStyle>
          <a:p>
            <a:fld id="{3823C0E8-6BFE-4415-874D-E05F42834935}" type="datetime3">
              <a:rPr lang="en-CA" smtClean="0"/>
              <a:t>7 January 2026</a:t>
            </a:fld>
            <a:endParaRPr lang="en-CA"/>
          </a:p>
        </p:txBody>
      </p:sp>
      <p:sp>
        <p:nvSpPr>
          <p:cNvPr id="5" name="Footer Placeholder 4"/>
          <p:cNvSpPr>
            <a:spLocks noGrp="1"/>
          </p:cNvSpPr>
          <p:nvPr>
            <p:ph type="ftr" sz="quarter" idx="11"/>
          </p:nvPr>
        </p:nvSpPr>
        <p:spPr>
          <a:xfrm>
            <a:off x="2589213" y="6135808"/>
            <a:ext cx="5701348" cy="447872"/>
          </a:xfrm>
          <a:prstGeom prst="rect">
            <a:avLst/>
          </a:prstGeom>
        </p:spPr>
        <p:txBody>
          <a:bodyPr/>
          <a:lstStyle/>
          <a:p>
            <a:r>
              <a:rPr lang="en-CA"/>
              <a:t>Systems Analysis and Design in a Changing World, 7th Edition - Chapter 10   ©2016. Cengage Learning. All rights reserved</a:t>
            </a:r>
            <a:endParaRPr lang="en-CA"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172419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1904999"/>
            <a:ext cx="8915400" cy="4225437"/>
          </a:xfrm>
        </p:spPr>
        <p:txBody>
          <a:bodyPr/>
          <a:lstStyle>
            <a:lvl1pPr>
              <a:defRPr sz="2400"/>
            </a:lvl1pPr>
            <a:lvl2pPr>
              <a:defRPr sz="2000"/>
            </a:lvl2pPr>
            <a:lvl3pPr>
              <a:defRPr sz="18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01109D4E-876D-4E10-BEFE-BD91436C40C2}" type="datetime3">
              <a:rPr lang="en-CA" smtClean="0"/>
              <a:t>7 January 2026</a:t>
            </a:fld>
            <a:endParaRPr lang="en-CA"/>
          </a:p>
        </p:txBody>
      </p:sp>
      <p:sp>
        <p:nvSpPr>
          <p:cNvPr id="5" name="Footer Placeholder 4"/>
          <p:cNvSpPr>
            <a:spLocks noGrp="1"/>
          </p:cNvSpPr>
          <p:nvPr>
            <p:ph type="ftr" sz="quarter" idx="11"/>
          </p:nvPr>
        </p:nvSpPr>
        <p:spPr>
          <a:xfrm>
            <a:off x="2589212" y="6135808"/>
            <a:ext cx="5683931" cy="466160"/>
          </a:xfrm>
          <a:prstGeom prst="rect">
            <a:avLst/>
          </a:prstGeom>
        </p:spPr>
        <p:txBody>
          <a:bodyPr/>
          <a:lstStyle>
            <a:lvl1pPr>
              <a:defRPr sz="1200"/>
            </a:lvl1pPr>
          </a:lstStyle>
          <a:p>
            <a:r>
              <a:rPr lang="en-CA"/>
              <a:t>Systems Analysis and Design in a Changing World, 7th Edition - Chapter 10   ©2016. Cengage Learning. All rights reserved</a:t>
            </a:r>
            <a:endParaRPr lang="en-CA"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lvl1pPr>
              <a:defRPr>
                <a:solidFill>
                  <a:schemeClr val="bg1"/>
                </a:solidFill>
              </a:defRPr>
            </a:lvl1pPr>
          </a:lstStyle>
          <a:p>
            <a:fld id="{5EA06A4A-A481-41BD-9B7E-362E3658D39D}" type="slidenum">
              <a:rPr lang="en-CA" smtClean="0"/>
              <a:t>‹#›</a:t>
            </a:fld>
            <a:endParaRPr lang="en-CA"/>
          </a:p>
        </p:txBody>
      </p:sp>
    </p:spTree>
    <p:extLst>
      <p:ext uri="{BB962C8B-B14F-4D97-AF65-F5344CB8AC3E}">
        <p14:creationId xmlns:p14="http://schemas.microsoft.com/office/powerpoint/2010/main" val="2081480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D68658D6-2219-48FA-A924-FE3604CC219D}" type="datetime3">
              <a:rPr lang="en-CA" smtClean="0"/>
              <a:t>7 January 2026</a:t>
            </a:fld>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A06A4A-A481-41BD-9B7E-362E3658D39D}" type="slidenum">
              <a:rPr lang="en-CA" smtClean="0"/>
              <a:t>‹#›</a:t>
            </a:fld>
            <a:endParaRPr lang="en-CA"/>
          </a:p>
        </p:txBody>
      </p:sp>
      <p:sp>
        <p:nvSpPr>
          <p:cNvPr id="8" name="Footer Placeholder 4">
            <a:extLst>
              <a:ext uri="{FF2B5EF4-FFF2-40B4-BE49-F238E27FC236}">
                <a16:creationId xmlns:a16="http://schemas.microsoft.com/office/drawing/2014/main" id="{8D1C4824-63FE-4934-850C-1649171EE7EC}"/>
              </a:ext>
            </a:extLst>
          </p:cNvPr>
          <p:cNvSpPr>
            <a:spLocks noGrp="1"/>
          </p:cNvSpPr>
          <p:nvPr>
            <p:ph type="ftr" sz="quarter" idx="11"/>
          </p:nvPr>
        </p:nvSpPr>
        <p:spPr>
          <a:xfrm>
            <a:off x="2589212" y="6135808"/>
            <a:ext cx="5683931" cy="466160"/>
          </a:xfrm>
          <a:prstGeom prst="rect">
            <a:avLst/>
          </a:prstGeom>
        </p:spPr>
        <p:txBody>
          <a:bodyPr/>
          <a:lstStyle>
            <a:lvl1pPr>
              <a:defRPr sz="1200"/>
            </a:lvl1pPr>
          </a:lstStyle>
          <a:p>
            <a:r>
              <a:rPr lang="en-CA"/>
              <a:t>Systems Analysis and Design in a Changing World, 7th Edition - Chapter 10   ©2016. Cengage Learning. All rights reserved</a:t>
            </a:r>
            <a:endParaRPr lang="en-CA" dirty="0"/>
          </a:p>
        </p:txBody>
      </p:sp>
    </p:spTree>
    <p:extLst>
      <p:ext uri="{BB962C8B-B14F-4D97-AF65-F5344CB8AC3E}">
        <p14:creationId xmlns:p14="http://schemas.microsoft.com/office/powerpoint/2010/main" val="4219876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BF49861F-C5F6-4E37-938D-1407D2311CD8}" type="datetime3">
              <a:rPr lang="en-CA" smtClean="0"/>
              <a:t>7 January 2026</a:t>
            </a:fld>
            <a:endParaRPr lang="en-CA"/>
          </a:p>
        </p:txBody>
      </p:sp>
      <p:sp>
        <p:nvSpPr>
          <p:cNvPr id="6" name="Footer Placeholder 5"/>
          <p:cNvSpPr>
            <a:spLocks noGrp="1"/>
          </p:cNvSpPr>
          <p:nvPr>
            <p:ph type="ftr" sz="quarter" idx="11"/>
          </p:nvPr>
        </p:nvSpPr>
        <p:spPr>
          <a:xfrm>
            <a:off x="2589213" y="6135808"/>
            <a:ext cx="5762308" cy="365125"/>
          </a:xfrm>
          <a:prstGeom prst="rect">
            <a:avLst/>
          </a:prstGeom>
        </p:spPr>
        <p:txBody>
          <a:bodyPr/>
          <a:lstStyle/>
          <a:p>
            <a:r>
              <a:rPr lang="en-CA"/>
              <a:t>Systems Analysis and Design in a Changing World, 7th Edition - Chapter 10   ©2016. Cengage Learning. All rights reserved</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2619186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361612" y="6130437"/>
            <a:ext cx="1146283" cy="370396"/>
          </a:xfrm>
          <a:prstGeom prst="rect">
            <a:avLst/>
          </a:prstGeom>
        </p:spPr>
        <p:txBody>
          <a:bodyPr/>
          <a:lstStyle/>
          <a:p>
            <a:fld id="{B93D5E1D-6B5A-4802-B098-5205970774F6}" type="datetime3">
              <a:rPr lang="en-CA" smtClean="0"/>
              <a:t>7 January 2026</a:t>
            </a:fld>
            <a:endParaRPr lang="en-CA"/>
          </a:p>
        </p:txBody>
      </p:sp>
      <p:sp>
        <p:nvSpPr>
          <p:cNvPr id="8" name="Footer Placeholder 7"/>
          <p:cNvSpPr>
            <a:spLocks noGrp="1"/>
          </p:cNvSpPr>
          <p:nvPr>
            <p:ph type="ftr" sz="quarter" idx="11"/>
          </p:nvPr>
        </p:nvSpPr>
        <p:spPr>
          <a:xfrm>
            <a:off x="2589212" y="6135808"/>
            <a:ext cx="5718765" cy="365125"/>
          </a:xfrm>
          <a:prstGeom prst="rect">
            <a:avLst/>
          </a:prstGeom>
        </p:spPr>
        <p:txBody>
          <a:bodyPr/>
          <a:lstStyle/>
          <a:p>
            <a:r>
              <a:rPr lang="en-CA"/>
              <a:t>Systems Analysis and Design in a Changing World, 7th Edition - Chapter 10   ©2016. Cengage Learning. All rights reserved</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1620111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361612" y="6130437"/>
            <a:ext cx="1146283" cy="370396"/>
          </a:xfrm>
          <a:prstGeom prst="rect">
            <a:avLst/>
          </a:prstGeom>
        </p:spPr>
        <p:txBody>
          <a:bodyPr/>
          <a:lstStyle/>
          <a:p>
            <a:fld id="{F5513E1F-009B-4EEC-B8BE-25D9367CB8B4}" type="datetime3">
              <a:rPr lang="en-CA" smtClean="0"/>
              <a:t>7 January 2026</a:t>
            </a:fld>
            <a:endParaRPr lang="en-CA"/>
          </a:p>
        </p:txBody>
      </p:sp>
      <p:sp>
        <p:nvSpPr>
          <p:cNvPr id="4" name="Footer Placeholder 3"/>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347285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361612" y="6130437"/>
            <a:ext cx="1146283" cy="370396"/>
          </a:xfrm>
          <a:prstGeom prst="rect">
            <a:avLst/>
          </a:prstGeom>
        </p:spPr>
        <p:txBody>
          <a:bodyPr/>
          <a:lstStyle/>
          <a:p>
            <a:fld id="{34AD9803-7B6D-405D-A87B-5AAD569474BA}" type="datetime3">
              <a:rPr lang="en-CA" smtClean="0"/>
              <a:t>7 January 2026</a:t>
            </a:fld>
            <a:endParaRPr lang="en-CA"/>
          </a:p>
        </p:txBody>
      </p:sp>
      <p:sp>
        <p:nvSpPr>
          <p:cNvPr id="3" name="Footer Placeholder 2"/>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325912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FC6FE909-2FD6-4246-BC2C-A273B34E38FF}" type="datetime3">
              <a:rPr lang="en-CA" smtClean="0"/>
              <a:t>7 January 2026</a:t>
            </a:fld>
            <a:endParaRPr lang="en-C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3398172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4531FAB6-7E84-46AF-B21F-648317750404}" type="datetime3">
              <a:rPr lang="en-CA" smtClean="0"/>
              <a:t>7 January 2026</a:t>
            </a:fld>
            <a:endParaRPr lang="en-C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4252049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843452FA-A62A-4BE3-B602-2EF6C3F01787}" type="datetime3">
              <a:rPr lang="en-CA" smtClean="0"/>
              <a:t>7 January 2026</a:t>
            </a:fld>
            <a:endParaRPr lang="en-C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585272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162350D2-D22E-46FA-9648-DBB96216C4FF}" type="datetime3">
              <a:rPr lang="en-CA" smtClean="0"/>
              <a:t>7 January 2026</a:t>
            </a:fld>
            <a:endParaRPr lang="en-C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A06A4A-A481-41BD-9B7E-362E3658D39D}" type="slidenum">
              <a:rPr lang="en-CA" smtClean="0"/>
              <a:t>‹#›</a:t>
            </a:fld>
            <a:endParaRPr lang="en-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4265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51F3AA5A-2B3A-4385-9411-0B89D67A8328}" type="datetime3">
              <a:rPr lang="en-CA" smtClean="0"/>
              <a:t>7 January 2026</a:t>
            </a:fld>
            <a:endParaRPr lang="en-C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2561741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116C6AD4-0147-4533-A432-B7E2B3F85E3D}" type="datetime3">
              <a:rPr lang="en-CA" smtClean="0"/>
              <a:t>7 January 2026</a:t>
            </a:fld>
            <a:endParaRPr lang="en-C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A06A4A-A481-41BD-9B7E-362E3658D39D}" type="slidenum">
              <a:rPr lang="en-CA" smtClean="0"/>
              <a:t>‹#›</a:t>
            </a:fld>
            <a:endParaRPr lang="en-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17730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F92FD355-03BE-4CE7-A208-34A70B467D1F}" type="datetime3">
              <a:rPr lang="en-CA" smtClean="0"/>
              <a:t>7 January 2026</a:t>
            </a:fld>
            <a:endParaRPr lang="en-C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1612974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AA87312E-E038-4F00-B67D-887B40C8E980}" type="datetime3">
              <a:rPr lang="en-CA" smtClean="0"/>
              <a:t>7 January 2026</a:t>
            </a:fld>
            <a:endParaRPr lang="en-C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3397848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1BCFA77-E99F-48C6-A259-1FC6BA21DF3F}" type="datetime3">
              <a:rPr lang="en-CA" smtClean="0"/>
              <a:t>7 January 2026</a:t>
            </a:fld>
            <a:endParaRPr lang="en-C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r>
              <a:rPr lang="en-CA"/>
              <a:t>Systems Analysis and Design in a Changing World, 7th Edition - Chapter 10   ©2016. Cengage Learning. All rights reserved</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EA06A4A-A481-41BD-9B7E-362E3658D39D}" type="slidenum">
              <a:rPr lang="en-CA" smtClean="0"/>
              <a:t>‹#›</a:t>
            </a:fld>
            <a:endParaRPr lang="en-CA"/>
          </a:p>
        </p:txBody>
      </p:sp>
    </p:spTree>
    <p:extLst>
      <p:ext uri="{BB962C8B-B14F-4D97-AF65-F5344CB8AC3E}">
        <p14:creationId xmlns:p14="http://schemas.microsoft.com/office/powerpoint/2010/main" val="1463443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18392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054149"/>
            <a:ext cx="8915400" cy="396565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EA06A4A-A481-41BD-9B7E-362E3658D39D}" type="slidenum">
              <a:rPr lang="en-CA" smtClean="0"/>
              <a:t>‹#›</a:t>
            </a:fld>
            <a:endParaRPr lang="en-CA"/>
          </a:p>
        </p:txBody>
      </p:sp>
      <p:sp>
        <p:nvSpPr>
          <p:cNvPr id="36" name="Footer Placeholder 4">
            <a:extLst>
              <a:ext uri="{FF2B5EF4-FFF2-40B4-BE49-F238E27FC236}">
                <a16:creationId xmlns:a16="http://schemas.microsoft.com/office/drawing/2014/main" id="{97715875-6463-4843-98B4-567CE4254302}"/>
              </a:ext>
            </a:extLst>
          </p:cNvPr>
          <p:cNvSpPr>
            <a:spLocks noGrp="1"/>
          </p:cNvSpPr>
          <p:nvPr>
            <p:ph type="ftr" sz="quarter" idx="3"/>
          </p:nvPr>
        </p:nvSpPr>
        <p:spPr>
          <a:xfrm>
            <a:off x="2589213" y="6135808"/>
            <a:ext cx="5605553" cy="466160"/>
          </a:xfrm>
          <a:prstGeom prst="rect">
            <a:avLst/>
          </a:prstGeom>
        </p:spPr>
        <p:txBody>
          <a:bodyPr/>
          <a:lstStyle>
            <a:lvl1pPr>
              <a:defRPr sz="1200"/>
            </a:lvl1pPr>
          </a:lstStyle>
          <a:p>
            <a:r>
              <a:rPr lang="en-CA"/>
              <a:t>Systems Analysis and Design in a Changing World, 7th Edition - Chapter 10   ©2016. Cengage Learning. All rights reserved</a:t>
            </a:r>
            <a:endParaRPr lang="en-CA" dirty="0"/>
          </a:p>
        </p:txBody>
      </p:sp>
      <p:sp>
        <p:nvSpPr>
          <p:cNvPr id="37" name="Date Placeholder 3">
            <a:extLst>
              <a:ext uri="{FF2B5EF4-FFF2-40B4-BE49-F238E27FC236}">
                <a16:creationId xmlns:a16="http://schemas.microsoft.com/office/drawing/2014/main" id="{E7666366-4D39-48D8-9968-6B1EBFEABC06}"/>
              </a:ext>
            </a:extLst>
          </p:cNvPr>
          <p:cNvSpPr>
            <a:spLocks noGrp="1"/>
          </p:cNvSpPr>
          <p:nvPr>
            <p:ph type="dt" sz="half" idx="2"/>
          </p:nvPr>
        </p:nvSpPr>
        <p:spPr>
          <a:xfrm>
            <a:off x="10361612" y="6130437"/>
            <a:ext cx="1146283" cy="370396"/>
          </a:xfrm>
          <a:prstGeom prst="rect">
            <a:avLst/>
          </a:prstGeom>
        </p:spPr>
        <p:txBody>
          <a:bodyPr/>
          <a:lstStyle>
            <a:lvl1pPr>
              <a:defRPr sz="1200" baseline="0"/>
            </a:lvl1pPr>
          </a:lstStyle>
          <a:p>
            <a:fld id="{3E808CEC-7850-43E1-87C6-2912E1153B7C}" type="datetime3">
              <a:rPr lang="en-CA" smtClean="0"/>
              <a:t>7 January 2026</a:t>
            </a:fld>
            <a:endParaRPr lang="en-CA" dirty="0"/>
          </a:p>
        </p:txBody>
      </p:sp>
    </p:spTree>
    <p:extLst>
      <p:ext uri="{BB962C8B-B14F-4D97-AF65-F5344CB8AC3E}">
        <p14:creationId xmlns:p14="http://schemas.microsoft.com/office/powerpoint/2010/main" val="35895043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p:txStyles>
    <p:titleStyle>
      <a:lvl1pPr algn="l" defTabSz="457200" rtl="0" eaLnBrk="1" latinLnBrk="0" hangingPunct="1">
        <a:spcBef>
          <a:spcPct val="0"/>
        </a:spcBef>
        <a:buNone/>
        <a:defRPr sz="3600" kern="1200">
          <a:solidFill>
            <a:srgbClr val="0070C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agilemanifesto.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FE341-3E33-4094-85B2-FA56F7FAFB86}"/>
              </a:ext>
            </a:extLst>
          </p:cNvPr>
          <p:cNvSpPr>
            <a:spLocks noGrp="1"/>
          </p:cNvSpPr>
          <p:nvPr>
            <p:ph type="ctrTitle"/>
          </p:nvPr>
        </p:nvSpPr>
        <p:spPr/>
        <p:txBody>
          <a:bodyPr/>
          <a:lstStyle/>
          <a:p>
            <a:r>
              <a:rPr lang="en-CA" dirty="0"/>
              <a:t>Approaches to System Development</a:t>
            </a:r>
          </a:p>
        </p:txBody>
      </p:sp>
      <p:sp>
        <p:nvSpPr>
          <p:cNvPr id="9" name="Subtitle 8">
            <a:extLst>
              <a:ext uri="{FF2B5EF4-FFF2-40B4-BE49-F238E27FC236}">
                <a16:creationId xmlns:a16="http://schemas.microsoft.com/office/drawing/2014/main" id="{85C27778-2051-4262-820F-FB5BFA999889}"/>
              </a:ext>
            </a:extLst>
          </p:cNvPr>
          <p:cNvSpPr>
            <a:spLocks noGrp="1"/>
          </p:cNvSpPr>
          <p:nvPr>
            <p:ph type="subTitle" idx="1"/>
          </p:nvPr>
        </p:nvSpPr>
        <p:spPr/>
        <p:txBody>
          <a:bodyPr/>
          <a:lstStyle/>
          <a:p>
            <a:endParaRPr lang="en-CA"/>
          </a:p>
        </p:txBody>
      </p:sp>
      <p:sp>
        <p:nvSpPr>
          <p:cNvPr id="3" name="Footer Placeholder 2">
            <a:extLst>
              <a:ext uri="{FF2B5EF4-FFF2-40B4-BE49-F238E27FC236}">
                <a16:creationId xmlns:a16="http://schemas.microsoft.com/office/drawing/2014/main" id="{C948E618-3D66-4749-B5C7-139A6BF26DEA}"/>
              </a:ext>
            </a:extLst>
          </p:cNvPr>
          <p:cNvSpPr>
            <a:spLocks noGrp="1"/>
          </p:cNvSpPr>
          <p:nvPr>
            <p:ph type="ftr" sz="quarter" idx="11"/>
          </p:nvPr>
        </p:nvSpPr>
        <p:spPr/>
        <p:txBody>
          <a:bodyPr/>
          <a:lstStyle/>
          <a:p>
            <a:r>
              <a:rPr lang="en-CA" dirty="0"/>
              <a:t>Systems Analysis and Design in a Changing World, 7th Edition - Chapter 10   ©2016. Cengage Learning. All rights reserved</a:t>
            </a:r>
          </a:p>
        </p:txBody>
      </p:sp>
      <p:sp>
        <p:nvSpPr>
          <p:cNvPr id="4" name="Slide Number Placeholder 3">
            <a:extLst>
              <a:ext uri="{FF2B5EF4-FFF2-40B4-BE49-F238E27FC236}">
                <a16:creationId xmlns:a16="http://schemas.microsoft.com/office/drawing/2014/main" id="{819A5D52-67B4-4237-AAED-5EA79D605C69}"/>
              </a:ext>
            </a:extLst>
          </p:cNvPr>
          <p:cNvSpPr>
            <a:spLocks noGrp="1"/>
          </p:cNvSpPr>
          <p:nvPr>
            <p:ph type="sldNum" sz="quarter" idx="12"/>
          </p:nvPr>
        </p:nvSpPr>
        <p:spPr/>
        <p:txBody>
          <a:bodyPr/>
          <a:lstStyle/>
          <a:p>
            <a:fld id="{5EA06A4A-A481-41BD-9B7E-362E3658D39D}" type="slidenum">
              <a:rPr lang="en-CA" smtClean="0"/>
              <a:pPr/>
              <a:t>1</a:t>
            </a:fld>
            <a:endParaRPr lang="en-CA"/>
          </a:p>
        </p:txBody>
      </p:sp>
    </p:spTree>
    <p:extLst>
      <p:ext uri="{BB962C8B-B14F-4D97-AF65-F5344CB8AC3E}">
        <p14:creationId xmlns:p14="http://schemas.microsoft.com/office/powerpoint/2010/main" val="1503905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390C-F457-4D04-BA4C-10F4BE69AD83}"/>
              </a:ext>
            </a:extLst>
          </p:cNvPr>
          <p:cNvSpPr>
            <a:spLocks noGrp="1"/>
          </p:cNvSpPr>
          <p:nvPr>
            <p:ph type="title"/>
          </p:nvPr>
        </p:nvSpPr>
        <p:spPr/>
        <p:txBody>
          <a:bodyPr/>
          <a:lstStyle/>
          <a:p>
            <a:r>
              <a:rPr lang="en-CA"/>
              <a:t>Contents</a:t>
            </a:r>
            <a:endParaRPr lang="en-CA" dirty="0"/>
          </a:p>
        </p:txBody>
      </p:sp>
      <p:sp>
        <p:nvSpPr>
          <p:cNvPr id="3" name="Content Placeholder 2">
            <a:extLst>
              <a:ext uri="{FF2B5EF4-FFF2-40B4-BE49-F238E27FC236}">
                <a16:creationId xmlns:a16="http://schemas.microsoft.com/office/drawing/2014/main" id="{A8917DD8-091D-4E88-8F63-336EF4C12960}"/>
              </a:ext>
            </a:extLst>
          </p:cNvPr>
          <p:cNvSpPr>
            <a:spLocks noGrp="1"/>
          </p:cNvSpPr>
          <p:nvPr>
            <p:ph idx="1"/>
          </p:nvPr>
        </p:nvSpPr>
        <p:spPr/>
        <p:txBody>
          <a:bodyPr>
            <a:normAutofit/>
          </a:bodyPr>
          <a:lstStyle/>
          <a:p>
            <a:r>
              <a:rPr lang="en-US" dirty="0"/>
              <a:t>The System Development Life Cycle</a:t>
            </a:r>
          </a:p>
          <a:p>
            <a:pPr lvl="1"/>
            <a:r>
              <a:rPr lang="en-US" dirty="0"/>
              <a:t>Assumptions and uses in predictive and adaptive SDLC</a:t>
            </a:r>
          </a:p>
          <a:p>
            <a:r>
              <a:rPr lang="en-US" dirty="0"/>
              <a:t>Methodologies:</a:t>
            </a:r>
          </a:p>
          <a:p>
            <a:pPr lvl="1"/>
            <a:r>
              <a:rPr lang="en-US" dirty="0"/>
              <a:t>SDLC, Models, Tools, and Techniques</a:t>
            </a:r>
          </a:p>
          <a:p>
            <a:r>
              <a:rPr lang="en-US" dirty="0"/>
              <a:t>Key features of:</a:t>
            </a:r>
          </a:p>
          <a:p>
            <a:pPr lvl="1"/>
            <a:r>
              <a:rPr lang="en-US" dirty="0"/>
              <a:t>Agile Development</a:t>
            </a:r>
          </a:p>
          <a:p>
            <a:pPr lvl="1"/>
            <a:r>
              <a:rPr lang="en-US" dirty="0"/>
              <a:t>The Unified Process (UP)</a:t>
            </a:r>
          </a:p>
          <a:p>
            <a:pPr lvl="1"/>
            <a:r>
              <a:rPr lang="en-US" dirty="0"/>
              <a:t>Extreme Programming (XP)</a:t>
            </a:r>
          </a:p>
          <a:p>
            <a:pPr lvl="1"/>
            <a:r>
              <a:rPr lang="en-US" dirty="0"/>
              <a:t>Scrum</a:t>
            </a:r>
            <a:endParaRPr lang="en-US" altLang="en-US" dirty="0"/>
          </a:p>
          <a:p>
            <a:endParaRPr lang="en-CA" dirty="0"/>
          </a:p>
        </p:txBody>
      </p:sp>
      <p:sp>
        <p:nvSpPr>
          <p:cNvPr id="4" name="Footer Placeholder 3">
            <a:extLst>
              <a:ext uri="{FF2B5EF4-FFF2-40B4-BE49-F238E27FC236}">
                <a16:creationId xmlns:a16="http://schemas.microsoft.com/office/drawing/2014/main" id="{14F1078D-B8EB-48DF-8145-AA504004DDD3}"/>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5" name="Slide Number Placeholder 4">
            <a:extLst>
              <a:ext uri="{FF2B5EF4-FFF2-40B4-BE49-F238E27FC236}">
                <a16:creationId xmlns:a16="http://schemas.microsoft.com/office/drawing/2014/main" id="{F878E059-04F4-4AAC-8265-B80A8466B3AF}"/>
              </a:ext>
            </a:extLst>
          </p:cNvPr>
          <p:cNvSpPr>
            <a:spLocks noGrp="1"/>
          </p:cNvSpPr>
          <p:nvPr>
            <p:ph type="sldNum" sz="quarter" idx="12"/>
          </p:nvPr>
        </p:nvSpPr>
        <p:spPr/>
        <p:txBody>
          <a:bodyPr/>
          <a:lstStyle/>
          <a:p>
            <a:fld id="{5EA06A4A-A481-41BD-9B7E-362E3658D39D}" type="slidenum">
              <a:rPr lang="en-CA" smtClean="0"/>
              <a:pPr/>
              <a:t>2</a:t>
            </a:fld>
            <a:endParaRPr lang="en-CA"/>
          </a:p>
        </p:txBody>
      </p:sp>
    </p:spTree>
    <p:extLst>
      <p:ext uri="{BB962C8B-B14F-4D97-AF65-F5344CB8AC3E}">
        <p14:creationId xmlns:p14="http://schemas.microsoft.com/office/powerpoint/2010/main" val="2004001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3455E-D3A8-4261-8CAB-0E1B5C302CFC}"/>
              </a:ext>
            </a:extLst>
          </p:cNvPr>
          <p:cNvSpPr>
            <a:spLocks noGrp="1"/>
          </p:cNvSpPr>
          <p:nvPr>
            <p:ph type="title"/>
          </p:nvPr>
        </p:nvSpPr>
        <p:spPr/>
        <p:txBody>
          <a:bodyPr/>
          <a:lstStyle/>
          <a:p>
            <a:r>
              <a:rPr lang="en-CA"/>
              <a:t>Two General Approaches to the SDLC</a:t>
            </a:r>
            <a:endParaRPr lang="en-CA" dirty="0"/>
          </a:p>
        </p:txBody>
      </p:sp>
      <p:sp>
        <p:nvSpPr>
          <p:cNvPr id="3" name="Content Placeholder 2">
            <a:extLst>
              <a:ext uri="{FF2B5EF4-FFF2-40B4-BE49-F238E27FC236}">
                <a16:creationId xmlns:a16="http://schemas.microsoft.com/office/drawing/2014/main" id="{6D1EFADD-31B6-413A-8DD3-345AAF569C23}"/>
              </a:ext>
            </a:extLst>
          </p:cNvPr>
          <p:cNvSpPr>
            <a:spLocks noGrp="1"/>
          </p:cNvSpPr>
          <p:nvPr>
            <p:ph idx="1"/>
          </p:nvPr>
        </p:nvSpPr>
        <p:spPr/>
        <p:txBody>
          <a:bodyPr>
            <a:normAutofit lnSpcReduction="10000"/>
          </a:bodyPr>
          <a:lstStyle/>
          <a:p>
            <a:r>
              <a:rPr lang="en-GB" altLang="en-US" b="1" dirty="0"/>
              <a:t>Predictive</a:t>
            </a:r>
            <a:r>
              <a:rPr lang="en-GB" altLang="en-US" dirty="0"/>
              <a:t> Approach to the SDLC</a:t>
            </a:r>
          </a:p>
          <a:p>
            <a:pPr lvl="1"/>
            <a:r>
              <a:rPr lang="en-GB" altLang="en-US" dirty="0"/>
              <a:t>Waterfall model</a:t>
            </a:r>
          </a:p>
          <a:p>
            <a:pPr lvl="1"/>
            <a:r>
              <a:rPr lang="en-GB" altLang="en-US" dirty="0"/>
              <a:t>Assumes the project can be planned in advance and that the information system can be developed according to the plan</a:t>
            </a:r>
          </a:p>
          <a:p>
            <a:pPr lvl="1"/>
            <a:r>
              <a:rPr lang="en-GB" altLang="en-US" dirty="0"/>
              <a:t>Requirements are well understood and/or low technical risk</a:t>
            </a:r>
          </a:p>
          <a:p>
            <a:r>
              <a:rPr lang="en-GB" altLang="en-US" b="1" dirty="0"/>
              <a:t>Adaptive</a:t>
            </a:r>
            <a:r>
              <a:rPr lang="en-GB" altLang="en-US" dirty="0"/>
              <a:t> Approach to the SDLC</a:t>
            </a:r>
          </a:p>
          <a:p>
            <a:pPr lvl="1"/>
            <a:r>
              <a:rPr lang="en-GB" altLang="en-US" dirty="0"/>
              <a:t>Iterative model</a:t>
            </a:r>
          </a:p>
          <a:p>
            <a:pPr lvl="1"/>
            <a:r>
              <a:rPr lang="en-GB" altLang="en-US" dirty="0"/>
              <a:t>Assumes the project must be more flexible and adapt to changing needs as the project progresses</a:t>
            </a:r>
          </a:p>
          <a:p>
            <a:pPr lvl="1"/>
            <a:r>
              <a:rPr lang="en-GB" altLang="en-US" dirty="0"/>
              <a:t>Requirements and needs are uncertain and/or high technical risk</a:t>
            </a:r>
          </a:p>
          <a:p>
            <a:endParaRPr lang="en-CA" dirty="0"/>
          </a:p>
        </p:txBody>
      </p:sp>
      <p:sp>
        <p:nvSpPr>
          <p:cNvPr id="4" name="Footer Placeholder 3">
            <a:extLst>
              <a:ext uri="{FF2B5EF4-FFF2-40B4-BE49-F238E27FC236}">
                <a16:creationId xmlns:a16="http://schemas.microsoft.com/office/drawing/2014/main" id="{AD04C715-CE33-4BE9-8C07-12CB36729C5A}"/>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5" name="Slide Number Placeholder 4">
            <a:extLst>
              <a:ext uri="{FF2B5EF4-FFF2-40B4-BE49-F238E27FC236}">
                <a16:creationId xmlns:a16="http://schemas.microsoft.com/office/drawing/2014/main" id="{C3B3A407-D488-4C97-B7D4-945F1F74A5F9}"/>
              </a:ext>
            </a:extLst>
          </p:cNvPr>
          <p:cNvSpPr>
            <a:spLocks noGrp="1"/>
          </p:cNvSpPr>
          <p:nvPr>
            <p:ph type="sldNum" sz="quarter" idx="12"/>
          </p:nvPr>
        </p:nvSpPr>
        <p:spPr/>
        <p:txBody>
          <a:bodyPr/>
          <a:lstStyle/>
          <a:p>
            <a:fld id="{5EA06A4A-A481-41BD-9B7E-362E3658D39D}" type="slidenum">
              <a:rPr lang="en-CA" smtClean="0"/>
              <a:pPr/>
              <a:t>3</a:t>
            </a:fld>
            <a:endParaRPr lang="en-CA"/>
          </a:p>
        </p:txBody>
      </p:sp>
    </p:spTree>
    <p:extLst>
      <p:ext uri="{BB962C8B-B14F-4D97-AF65-F5344CB8AC3E}">
        <p14:creationId xmlns:p14="http://schemas.microsoft.com/office/powerpoint/2010/main" val="388596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3455E-D3A8-4261-8CAB-0E1B5C302CFC}"/>
              </a:ext>
            </a:extLst>
          </p:cNvPr>
          <p:cNvSpPr>
            <a:spLocks noGrp="1"/>
          </p:cNvSpPr>
          <p:nvPr>
            <p:ph type="title"/>
          </p:nvPr>
        </p:nvSpPr>
        <p:spPr/>
        <p:txBody>
          <a:bodyPr/>
          <a:lstStyle/>
          <a:p>
            <a:r>
              <a:rPr lang="en-CA"/>
              <a:t>Two General Approaches to the SDLC</a:t>
            </a:r>
            <a:endParaRPr lang="en-CA" dirty="0"/>
          </a:p>
        </p:txBody>
      </p:sp>
      <p:sp>
        <p:nvSpPr>
          <p:cNvPr id="4" name="Footer Placeholder 3">
            <a:extLst>
              <a:ext uri="{FF2B5EF4-FFF2-40B4-BE49-F238E27FC236}">
                <a16:creationId xmlns:a16="http://schemas.microsoft.com/office/drawing/2014/main" id="{AD04C715-CE33-4BE9-8C07-12CB36729C5A}"/>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5" name="Slide Number Placeholder 4">
            <a:extLst>
              <a:ext uri="{FF2B5EF4-FFF2-40B4-BE49-F238E27FC236}">
                <a16:creationId xmlns:a16="http://schemas.microsoft.com/office/drawing/2014/main" id="{C3B3A407-D488-4C97-B7D4-945F1F74A5F9}"/>
              </a:ext>
            </a:extLst>
          </p:cNvPr>
          <p:cNvSpPr>
            <a:spLocks noGrp="1"/>
          </p:cNvSpPr>
          <p:nvPr>
            <p:ph type="sldNum" sz="quarter" idx="12"/>
          </p:nvPr>
        </p:nvSpPr>
        <p:spPr/>
        <p:txBody>
          <a:bodyPr/>
          <a:lstStyle/>
          <a:p>
            <a:fld id="{5EA06A4A-A481-41BD-9B7E-362E3658D39D}" type="slidenum">
              <a:rPr lang="en-CA" smtClean="0"/>
              <a:pPr/>
              <a:t>4</a:t>
            </a:fld>
            <a:endParaRPr lang="en-CA"/>
          </a:p>
        </p:txBody>
      </p:sp>
      <p:sp>
        <p:nvSpPr>
          <p:cNvPr id="7" name="Content Placeholder 6">
            <a:extLst>
              <a:ext uri="{FF2B5EF4-FFF2-40B4-BE49-F238E27FC236}">
                <a16:creationId xmlns:a16="http://schemas.microsoft.com/office/drawing/2014/main" id="{FA6B839A-B4C4-4F2A-B02F-4F117178ECAC}"/>
              </a:ext>
            </a:extLst>
          </p:cNvPr>
          <p:cNvSpPr>
            <a:spLocks noGrp="1"/>
          </p:cNvSpPr>
          <p:nvPr>
            <p:ph idx="1"/>
          </p:nvPr>
        </p:nvSpPr>
        <p:spPr/>
        <p:txBody>
          <a:bodyPr/>
          <a:lstStyle/>
          <a:p>
            <a:r>
              <a:rPr lang="en-GB" altLang="en-US" dirty="0"/>
              <a:t>Most projects fall on a continuum between Predictive and Adaptive</a:t>
            </a:r>
          </a:p>
          <a:p>
            <a:endParaRPr lang="en-CA" dirty="0"/>
          </a:p>
        </p:txBody>
      </p:sp>
      <p:pic>
        <p:nvPicPr>
          <p:cNvPr id="10" name="Picture 5">
            <a:extLst>
              <a:ext uri="{FF2B5EF4-FFF2-40B4-BE49-F238E27FC236}">
                <a16:creationId xmlns:a16="http://schemas.microsoft.com/office/drawing/2014/main" id="{DC1C940C-5F43-473A-BA48-B6EA726F1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074" y="2886891"/>
            <a:ext cx="9487726" cy="2886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351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8333-0D39-4A5C-95AC-2F919030BAC1}"/>
              </a:ext>
            </a:extLst>
          </p:cNvPr>
          <p:cNvSpPr>
            <a:spLocks noGrp="1"/>
          </p:cNvSpPr>
          <p:nvPr>
            <p:ph type="title"/>
          </p:nvPr>
        </p:nvSpPr>
        <p:spPr/>
        <p:txBody>
          <a:bodyPr/>
          <a:lstStyle/>
          <a:p>
            <a:r>
              <a:rPr lang="en-CA"/>
              <a:t>Traditional Predictive SDLC</a:t>
            </a:r>
            <a:endParaRPr lang="en-CA" dirty="0"/>
          </a:p>
        </p:txBody>
      </p:sp>
      <p:sp>
        <p:nvSpPr>
          <p:cNvPr id="3" name="Content Placeholder 2">
            <a:extLst>
              <a:ext uri="{FF2B5EF4-FFF2-40B4-BE49-F238E27FC236}">
                <a16:creationId xmlns:a16="http://schemas.microsoft.com/office/drawing/2014/main" id="{AEE3203F-89FC-4115-9B55-9DB82CE701DE}"/>
              </a:ext>
            </a:extLst>
          </p:cNvPr>
          <p:cNvSpPr>
            <a:spLocks noGrp="1"/>
          </p:cNvSpPr>
          <p:nvPr>
            <p:ph idx="1"/>
          </p:nvPr>
        </p:nvSpPr>
        <p:spPr>
          <a:xfrm>
            <a:off x="2510835" y="1513114"/>
            <a:ext cx="8915400" cy="4225437"/>
          </a:xfrm>
        </p:spPr>
        <p:txBody>
          <a:bodyPr/>
          <a:lstStyle/>
          <a:p>
            <a:r>
              <a:rPr lang="en-GB" altLang="en-US" dirty="0"/>
              <a:t>Earlier approach, based on engineering</a:t>
            </a:r>
          </a:p>
          <a:p>
            <a:r>
              <a:rPr lang="en-GB" altLang="en-US" dirty="0"/>
              <a:t>Phases are completed in sequence:</a:t>
            </a:r>
          </a:p>
          <a:p>
            <a:pPr lvl="1"/>
            <a:r>
              <a:rPr lang="en-GB" altLang="en-US" dirty="0"/>
              <a:t>Planning, Analysis, Design, Implementation, and Deployment</a:t>
            </a:r>
          </a:p>
          <a:p>
            <a:r>
              <a:rPr lang="en-GB" altLang="en-US" b="1" dirty="0"/>
              <a:t>Waterfall model</a:t>
            </a:r>
          </a:p>
          <a:p>
            <a:pPr lvl="1"/>
            <a:r>
              <a:rPr lang="en-GB" altLang="en-US" dirty="0"/>
              <a:t>When a phase is completed, it's cast in stone:</a:t>
            </a:r>
          </a:p>
          <a:p>
            <a:pPr lvl="2"/>
            <a:r>
              <a:rPr lang="en-GB" altLang="en-US" dirty="0"/>
              <a:t>You fall over the waterfall to the next phase</a:t>
            </a:r>
          </a:p>
          <a:p>
            <a:pPr lvl="2"/>
            <a:r>
              <a:rPr lang="en-GB" altLang="en-US" dirty="0">
                <a:sym typeface="Wingdings" panose="05000000000000000000" pitchFamily="2" charset="2"/>
              </a:rPr>
              <a:t> no overlap, </a:t>
            </a:r>
            <a:r>
              <a:rPr lang="en-GB" altLang="en-US" dirty="0"/>
              <a:t>no going back</a:t>
            </a:r>
          </a:p>
          <a:p>
            <a:endParaRPr lang="en-CA" dirty="0"/>
          </a:p>
        </p:txBody>
      </p:sp>
      <p:sp>
        <p:nvSpPr>
          <p:cNvPr id="5" name="Footer Placeholder 4">
            <a:extLst>
              <a:ext uri="{FF2B5EF4-FFF2-40B4-BE49-F238E27FC236}">
                <a16:creationId xmlns:a16="http://schemas.microsoft.com/office/drawing/2014/main" id="{695D91D4-6404-4DC8-8C62-0A18B5AE72A9}"/>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D65078F9-7110-478B-AF2D-14904C3ABF27}"/>
              </a:ext>
            </a:extLst>
          </p:cNvPr>
          <p:cNvSpPr>
            <a:spLocks noGrp="1"/>
          </p:cNvSpPr>
          <p:nvPr>
            <p:ph type="sldNum" sz="quarter" idx="12"/>
          </p:nvPr>
        </p:nvSpPr>
        <p:spPr/>
        <p:txBody>
          <a:bodyPr/>
          <a:lstStyle/>
          <a:p>
            <a:fld id="{5EA06A4A-A481-41BD-9B7E-362E3658D39D}" type="slidenum">
              <a:rPr lang="en-CA" smtClean="0"/>
              <a:pPr/>
              <a:t>5</a:t>
            </a:fld>
            <a:endParaRPr lang="en-CA"/>
          </a:p>
        </p:txBody>
      </p:sp>
      <p:pic>
        <p:nvPicPr>
          <p:cNvPr id="12" name="Content Placeholder 4">
            <a:extLst>
              <a:ext uri="{FF2B5EF4-FFF2-40B4-BE49-F238E27FC236}">
                <a16:creationId xmlns:a16="http://schemas.microsoft.com/office/drawing/2014/main" id="{CB18F62F-8E9B-4C0F-AFE1-D433DB8AF026}"/>
              </a:ext>
            </a:extLst>
          </p:cNvPr>
          <p:cNvPicPr>
            <a:picLocks noChangeAspect="1"/>
          </p:cNvPicPr>
          <p:nvPr/>
        </p:nvPicPr>
        <p:blipFill>
          <a:blip r:embed="rId2"/>
          <a:stretch>
            <a:fillRect/>
          </a:stretch>
        </p:blipFill>
        <p:spPr>
          <a:xfrm>
            <a:off x="2432458" y="4674380"/>
            <a:ext cx="8054837" cy="1341012"/>
          </a:xfrm>
          <a:prstGeom prst="rect">
            <a:avLst/>
          </a:prstGeom>
        </p:spPr>
      </p:pic>
    </p:spTree>
    <p:extLst>
      <p:ext uri="{BB962C8B-B14F-4D97-AF65-F5344CB8AC3E}">
        <p14:creationId xmlns:p14="http://schemas.microsoft.com/office/powerpoint/2010/main" val="1968792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C574-D8B6-4A36-BF94-DC4ABF82F6B9}"/>
              </a:ext>
            </a:extLst>
          </p:cNvPr>
          <p:cNvSpPr>
            <a:spLocks noGrp="1"/>
          </p:cNvSpPr>
          <p:nvPr>
            <p:ph type="title"/>
          </p:nvPr>
        </p:nvSpPr>
        <p:spPr/>
        <p:txBody>
          <a:bodyPr/>
          <a:lstStyle/>
          <a:p>
            <a:r>
              <a:rPr lang="en-CA" dirty="0"/>
              <a:t>Waterfall Predictive SDLC</a:t>
            </a:r>
          </a:p>
        </p:txBody>
      </p:sp>
      <p:sp>
        <p:nvSpPr>
          <p:cNvPr id="5" name="Footer Placeholder 4">
            <a:extLst>
              <a:ext uri="{FF2B5EF4-FFF2-40B4-BE49-F238E27FC236}">
                <a16:creationId xmlns:a16="http://schemas.microsoft.com/office/drawing/2014/main" id="{0B25D59B-6110-4DB2-9BEB-8858EBDC603D}"/>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667A3B46-699C-4A9F-851F-E3217ECD1349}"/>
              </a:ext>
            </a:extLst>
          </p:cNvPr>
          <p:cNvSpPr>
            <a:spLocks noGrp="1"/>
          </p:cNvSpPr>
          <p:nvPr>
            <p:ph type="sldNum" sz="quarter" idx="12"/>
          </p:nvPr>
        </p:nvSpPr>
        <p:spPr/>
        <p:txBody>
          <a:bodyPr/>
          <a:lstStyle/>
          <a:p>
            <a:fld id="{5EA06A4A-A481-41BD-9B7E-362E3658D39D}" type="slidenum">
              <a:rPr lang="en-CA" smtClean="0"/>
              <a:t>6</a:t>
            </a:fld>
            <a:endParaRPr lang="en-CA"/>
          </a:p>
        </p:txBody>
      </p:sp>
      <p:pic>
        <p:nvPicPr>
          <p:cNvPr id="10" name="Picture 7">
            <a:extLst>
              <a:ext uri="{FF2B5EF4-FFF2-40B4-BE49-F238E27FC236}">
                <a16:creationId xmlns:a16="http://schemas.microsoft.com/office/drawing/2014/main" id="{AE12462B-C806-43D3-9814-000B23FE06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1702046"/>
            <a:ext cx="8686800" cy="40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5567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D822-7B3D-4AB4-B7A5-A1286920FB4B}"/>
              </a:ext>
            </a:extLst>
          </p:cNvPr>
          <p:cNvSpPr>
            <a:spLocks noGrp="1"/>
          </p:cNvSpPr>
          <p:nvPr>
            <p:ph type="title"/>
          </p:nvPr>
        </p:nvSpPr>
        <p:spPr/>
        <p:txBody>
          <a:bodyPr/>
          <a:lstStyle/>
          <a:p>
            <a:r>
              <a:rPr lang="en-US" altLang="en-US" dirty="0"/>
              <a:t>Modified Waterfall</a:t>
            </a:r>
            <a:br>
              <a:rPr lang="en-US" altLang="en-US" dirty="0"/>
            </a:br>
            <a:r>
              <a:rPr lang="en-US" altLang="en-US" sz="2800" dirty="0">
                <a:sym typeface="Wingdings" panose="05000000000000000000" pitchFamily="2" charset="2"/>
              </a:rPr>
              <a:t></a:t>
            </a:r>
            <a:r>
              <a:rPr lang="en-US" altLang="en-US" sz="2800" dirty="0"/>
              <a:t>with Overlapping Phases</a:t>
            </a:r>
            <a:endParaRPr lang="en-CA" dirty="0"/>
          </a:p>
        </p:txBody>
      </p:sp>
      <p:sp>
        <p:nvSpPr>
          <p:cNvPr id="3" name="Content Placeholder 2">
            <a:extLst>
              <a:ext uri="{FF2B5EF4-FFF2-40B4-BE49-F238E27FC236}">
                <a16:creationId xmlns:a16="http://schemas.microsoft.com/office/drawing/2014/main" id="{A6C33F10-7ABC-42EA-8855-C07B0162DDE8}"/>
              </a:ext>
            </a:extLst>
          </p:cNvPr>
          <p:cNvSpPr>
            <a:spLocks noGrp="1"/>
          </p:cNvSpPr>
          <p:nvPr>
            <p:ph idx="1"/>
          </p:nvPr>
        </p:nvSpPr>
        <p:spPr>
          <a:xfrm>
            <a:off x="2589212" y="1904999"/>
            <a:ext cx="8915400" cy="1280891"/>
          </a:xfrm>
        </p:spPr>
        <p:txBody>
          <a:bodyPr>
            <a:normAutofit lnSpcReduction="10000"/>
          </a:bodyPr>
          <a:lstStyle/>
          <a:p>
            <a:r>
              <a:rPr lang="en-GB" altLang="en-US" dirty="0"/>
              <a:t>More flexibility</a:t>
            </a:r>
          </a:p>
          <a:p>
            <a:pPr lvl="1"/>
            <a:r>
              <a:rPr lang="en-GB" altLang="en-US" dirty="0"/>
              <a:t>The next phase can start before the prior phase is completed</a:t>
            </a:r>
          </a:p>
          <a:p>
            <a:pPr lvl="1"/>
            <a:r>
              <a:rPr lang="en-GB" altLang="en-US" dirty="0"/>
              <a:t>…but still assumes predictive planning and sequential phases</a:t>
            </a:r>
          </a:p>
          <a:p>
            <a:endParaRPr lang="en-CA" dirty="0"/>
          </a:p>
        </p:txBody>
      </p:sp>
      <p:sp>
        <p:nvSpPr>
          <p:cNvPr id="5" name="Footer Placeholder 4">
            <a:extLst>
              <a:ext uri="{FF2B5EF4-FFF2-40B4-BE49-F238E27FC236}">
                <a16:creationId xmlns:a16="http://schemas.microsoft.com/office/drawing/2014/main" id="{3205DD50-EA69-4BBB-A9E5-5225C892B6FF}"/>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C83B94C4-4271-4A35-BF47-BEC194591711}"/>
              </a:ext>
            </a:extLst>
          </p:cNvPr>
          <p:cNvSpPr>
            <a:spLocks noGrp="1"/>
          </p:cNvSpPr>
          <p:nvPr>
            <p:ph type="sldNum" sz="quarter" idx="12"/>
          </p:nvPr>
        </p:nvSpPr>
        <p:spPr/>
        <p:txBody>
          <a:bodyPr/>
          <a:lstStyle/>
          <a:p>
            <a:fld id="{5EA06A4A-A481-41BD-9B7E-362E3658D39D}" type="slidenum">
              <a:rPr lang="en-CA" smtClean="0"/>
              <a:t>7</a:t>
            </a:fld>
            <a:endParaRPr lang="en-CA"/>
          </a:p>
        </p:txBody>
      </p:sp>
      <p:pic>
        <p:nvPicPr>
          <p:cNvPr id="7" name="Picture 7">
            <a:extLst>
              <a:ext uri="{FF2B5EF4-FFF2-40B4-BE49-F238E27FC236}">
                <a16:creationId xmlns:a16="http://schemas.microsoft.com/office/drawing/2014/main" id="{CCD14F9C-8571-4D72-BAC2-1BCBFB401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9213" y="3118825"/>
            <a:ext cx="7373394" cy="301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6109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EADB1-D4D6-4C67-9415-27486A42F11B}"/>
              </a:ext>
            </a:extLst>
          </p:cNvPr>
          <p:cNvSpPr>
            <a:spLocks noGrp="1"/>
          </p:cNvSpPr>
          <p:nvPr>
            <p:ph type="title"/>
          </p:nvPr>
        </p:nvSpPr>
        <p:spPr/>
        <p:txBody>
          <a:bodyPr/>
          <a:lstStyle/>
          <a:p>
            <a:r>
              <a:rPr lang="en-CA" dirty="0"/>
              <a:t>Newer: Adaptive SDLC</a:t>
            </a:r>
          </a:p>
        </p:txBody>
      </p:sp>
      <p:sp>
        <p:nvSpPr>
          <p:cNvPr id="3" name="Content Placeholder 2">
            <a:extLst>
              <a:ext uri="{FF2B5EF4-FFF2-40B4-BE49-F238E27FC236}">
                <a16:creationId xmlns:a16="http://schemas.microsoft.com/office/drawing/2014/main" id="{2E9970F4-340E-410A-9D88-B5AC9E398AC7}"/>
              </a:ext>
            </a:extLst>
          </p:cNvPr>
          <p:cNvSpPr>
            <a:spLocks noGrp="1"/>
          </p:cNvSpPr>
          <p:nvPr>
            <p:ph idx="1"/>
          </p:nvPr>
        </p:nvSpPr>
        <p:spPr>
          <a:xfrm>
            <a:off x="2589211" y="1904999"/>
            <a:ext cx="9350239" cy="4225437"/>
          </a:xfrm>
        </p:spPr>
        <p:txBody>
          <a:bodyPr/>
          <a:lstStyle/>
          <a:p>
            <a:r>
              <a:rPr lang="en-GB" altLang="en-US" dirty="0"/>
              <a:t>Response to increasingly complex requirements and uncertain technological environments</a:t>
            </a:r>
          </a:p>
          <a:p>
            <a:pPr lvl="2"/>
            <a:endParaRPr lang="en-GB" altLang="en-US" dirty="0"/>
          </a:p>
          <a:p>
            <a:r>
              <a:rPr lang="en-US" b="1" dirty="0"/>
              <a:t>Incremental development</a:t>
            </a:r>
            <a:r>
              <a:rPr lang="en-US" dirty="0"/>
              <a:t>: "growing a system"</a:t>
            </a:r>
          </a:p>
          <a:p>
            <a:pPr lvl="1"/>
            <a:r>
              <a:rPr lang="en-US" dirty="0"/>
              <a:t>Portions of the system are completed in small increments </a:t>
            </a:r>
          </a:p>
          <a:p>
            <a:pPr lvl="2"/>
            <a:r>
              <a:rPr lang="en-US" dirty="0"/>
              <a:t>…and integrated together as the project progresses</a:t>
            </a:r>
          </a:p>
          <a:p>
            <a:r>
              <a:rPr lang="en-US" b="1" dirty="0"/>
              <a:t>"Walking Skeleton"</a:t>
            </a:r>
          </a:p>
          <a:p>
            <a:pPr lvl="1"/>
            <a:r>
              <a:rPr lang="en-US" dirty="0"/>
              <a:t>The complete system structure is built with bare-bones functionality</a:t>
            </a:r>
          </a:p>
          <a:p>
            <a:pPr lvl="1"/>
            <a:r>
              <a:rPr lang="en-US" dirty="0"/>
              <a:t>Details &amp; design are fleshed out in later iterations</a:t>
            </a:r>
          </a:p>
          <a:p>
            <a:endParaRPr lang="en-CA" dirty="0"/>
          </a:p>
        </p:txBody>
      </p:sp>
      <p:sp>
        <p:nvSpPr>
          <p:cNvPr id="5" name="Footer Placeholder 4">
            <a:extLst>
              <a:ext uri="{FF2B5EF4-FFF2-40B4-BE49-F238E27FC236}">
                <a16:creationId xmlns:a16="http://schemas.microsoft.com/office/drawing/2014/main" id="{5AB8191B-C243-4A12-93C9-7DDA8E8C0980}"/>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BF9F5A71-BA5A-4A47-BEFA-9F55B3259A67}"/>
              </a:ext>
            </a:extLst>
          </p:cNvPr>
          <p:cNvSpPr>
            <a:spLocks noGrp="1"/>
          </p:cNvSpPr>
          <p:nvPr>
            <p:ph type="sldNum" sz="quarter" idx="12"/>
          </p:nvPr>
        </p:nvSpPr>
        <p:spPr/>
        <p:txBody>
          <a:bodyPr/>
          <a:lstStyle/>
          <a:p>
            <a:fld id="{5EA06A4A-A481-41BD-9B7E-362E3658D39D}" type="slidenum">
              <a:rPr lang="en-CA" smtClean="0"/>
              <a:t>8</a:t>
            </a:fld>
            <a:endParaRPr lang="en-CA"/>
          </a:p>
        </p:txBody>
      </p:sp>
    </p:spTree>
    <p:extLst>
      <p:ext uri="{BB962C8B-B14F-4D97-AF65-F5344CB8AC3E}">
        <p14:creationId xmlns:p14="http://schemas.microsoft.com/office/powerpoint/2010/main" val="846941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AECE-0977-401C-8E7A-0AB540E9CB8D}"/>
              </a:ext>
            </a:extLst>
          </p:cNvPr>
          <p:cNvSpPr>
            <a:spLocks noGrp="1"/>
          </p:cNvSpPr>
          <p:nvPr>
            <p:ph type="title"/>
          </p:nvPr>
        </p:nvSpPr>
        <p:spPr>
          <a:xfrm>
            <a:off x="2592925" y="624110"/>
            <a:ext cx="8911687" cy="1275517"/>
          </a:xfrm>
        </p:spPr>
        <p:txBody>
          <a:bodyPr>
            <a:normAutofit fontScale="90000"/>
          </a:bodyPr>
          <a:lstStyle/>
          <a:p>
            <a:r>
              <a:rPr lang="en-CA" dirty="0"/>
              <a:t>The Generic Adaptive Approach:</a:t>
            </a:r>
            <a:br>
              <a:rPr lang="en-CA" dirty="0"/>
            </a:br>
            <a:r>
              <a:rPr lang="en-CA" sz="2700" dirty="0"/>
              <a:t>- </a:t>
            </a:r>
            <a:r>
              <a:rPr lang="en-US" sz="2700" dirty="0"/>
              <a:t>Six Core Processes used in each iteration</a:t>
            </a:r>
            <a:br>
              <a:rPr lang="en-US" sz="2700" dirty="0"/>
            </a:br>
            <a:r>
              <a:rPr lang="en-US" sz="2700" dirty="0"/>
              <a:t>- Multiple Iterations as required</a:t>
            </a:r>
            <a:br>
              <a:rPr lang="en-US" dirty="0"/>
            </a:br>
            <a:endParaRPr lang="en-CA" dirty="0"/>
          </a:p>
        </p:txBody>
      </p:sp>
      <p:sp>
        <p:nvSpPr>
          <p:cNvPr id="5" name="Footer Placeholder 4">
            <a:extLst>
              <a:ext uri="{FF2B5EF4-FFF2-40B4-BE49-F238E27FC236}">
                <a16:creationId xmlns:a16="http://schemas.microsoft.com/office/drawing/2014/main" id="{52DBA70E-2009-4211-8DFA-CF86644E6F8E}"/>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8945862E-9CC9-492D-8B52-4280EAEEF3AB}"/>
              </a:ext>
            </a:extLst>
          </p:cNvPr>
          <p:cNvSpPr>
            <a:spLocks noGrp="1"/>
          </p:cNvSpPr>
          <p:nvPr>
            <p:ph type="sldNum" sz="quarter" idx="12"/>
          </p:nvPr>
        </p:nvSpPr>
        <p:spPr/>
        <p:txBody>
          <a:bodyPr/>
          <a:lstStyle/>
          <a:p>
            <a:fld id="{5EA06A4A-A481-41BD-9B7E-362E3658D39D}" type="slidenum">
              <a:rPr lang="en-CA" smtClean="0"/>
              <a:t>9</a:t>
            </a:fld>
            <a:endParaRPr lang="en-CA"/>
          </a:p>
        </p:txBody>
      </p:sp>
      <p:sp>
        <p:nvSpPr>
          <p:cNvPr id="7" name="Text Placeholder 2">
            <a:extLst>
              <a:ext uri="{FF2B5EF4-FFF2-40B4-BE49-F238E27FC236}">
                <a16:creationId xmlns:a16="http://schemas.microsoft.com/office/drawing/2014/main" id="{DCEF08E4-04CA-4B83-98D8-4458B8D011FA}"/>
              </a:ext>
            </a:extLst>
          </p:cNvPr>
          <p:cNvSpPr txBox="1">
            <a:spLocks/>
          </p:cNvSpPr>
          <p:nvPr/>
        </p:nvSpPr>
        <p:spPr>
          <a:xfrm>
            <a:off x="381000" y="1143000"/>
            <a:ext cx="8382000" cy="984885"/>
          </a:xfrm>
          <a:prstGeom prst="rect">
            <a:avLst/>
          </a:prstGeom>
        </p:spPr>
        <p:txBody>
          <a:bodyPr/>
          <a:lstStyle>
            <a:defPPr>
              <a:defRPr lang="en-US"/>
            </a:defPPr>
            <a:lvl1pPr marL="0" algn="l" defTabSz="457200" rtl="0" eaLnBrk="1" latinLnBrk="0" hangingPunct="1">
              <a:defRPr sz="1200" kern="1200"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pic>
        <p:nvPicPr>
          <p:cNvPr id="8" name="Picture 7">
            <a:extLst>
              <a:ext uri="{FF2B5EF4-FFF2-40B4-BE49-F238E27FC236}">
                <a16:creationId xmlns:a16="http://schemas.microsoft.com/office/drawing/2014/main" id="{3C9CF7BE-D438-4841-8EE7-801E4B3C3F9E}"/>
              </a:ext>
            </a:extLst>
          </p:cNvPr>
          <p:cNvPicPr>
            <a:picLocks noChangeAspect="1"/>
          </p:cNvPicPr>
          <p:nvPr/>
        </p:nvPicPr>
        <p:blipFill>
          <a:blip r:embed="rId2"/>
          <a:stretch>
            <a:fillRect/>
          </a:stretch>
        </p:blipFill>
        <p:spPr>
          <a:xfrm>
            <a:off x="2589212" y="2074788"/>
            <a:ext cx="7399519" cy="3920050"/>
          </a:xfrm>
          <a:prstGeom prst="rect">
            <a:avLst/>
          </a:prstGeom>
        </p:spPr>
      </p:pic>
    </p:spTree>
    <p:extLst>
      <p:ext uri="{BB962C8B-B14F-4D97-AF65-F5344CB8AC3E}">
        <p14:creationId xmlns:p14="http://schemas.microsoft.com/office/powerpoint/2010/main" val="135622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5762-B3F4-47C1-8F80-C0AD378C3AC0}"/>
              </a:ext>
            </a:extLst>
          </p:cNvPr>
          <p:cNvSpPr>
            <a:spLocks noGrp="1"/>
          </p:cNvSpPr>
          <p:nvPr>
            <p:ph type="title"/>
          </p:nvPr>
        </p:nvSpPr>
        <p:spPr/>
        <p:txBody>
          <a:bodyPr/>
          <a:lstStyle/>
          <a:p>
            <a:r>
              <a:rPr lang="en-CA" dirty="0"/>
              <a:t>Methodologies, Models, Tools &amp; Techniques</a:t>
            </a:r>
          </a:p>
        </p:txBody>
      </p:sp>
      <p:sp>
        <p:nvSpPr>
          <p:cNvPr id="3" name="Content Placeholder 2">
            <a:extLst>
              <a:ext uri="{FF2B5EF4-FFF2-40B4-BE49-F238E27FC236}">
                <a16:creationId xmlns:a16="http://schemas.microsoft.com/office/drawing/2014/main" id="{B63492B3-B36B-4009-89F8-6DED5FD2A089}"/>
              </a:ext>
            </a:extLst>
          </p:cNvPr>
          <p:cNvSpPr>
            <a:spLocks noGrp="1"/>
          </p:cNvSpPr>
          <p:nvPr>
            <p:ph idx="1"/>
          </p:nvPr>
        </p:nvSpPr>
        <p:spPr>
          <a:xfrm>
            <a:off x="2589212" y="1905000"/>
            <a:ext cx="9358948" cy="4016830"/>
          </a:xfrm>
        </p:spPr>
        <p:txBody>
          <a:bodyPr>
            <a:normAutofit/>
          </a:bodyPr>
          <a:lstStyle/>
          <a:p>
            <a:r>
              <a:rPr lang="en-CA" b="1" dirty="0"/>
              <a:t>Methodologies</a:t>
            </a:r>
            <a:r>
              <a:rPr lang="en-CA" dirty="0"/>
              <a:t> (Systems Development Processes)</a:t>
            </a:r>
          </a:p>
          <a:p>
            <a:pPr lvl="1"/>
            <a:r>
              <a:rPr lang="en-CA" dirty="0"/>
              <a:t>System development </a:t>
            </a:r>
            <a:r>
              <a:rPr lang="en-CA" b="1" dirty="0"/>
              <a:t>guidelines</a:t>
            </a:r>
            <a:r>
              <a:rPr lang="en-CA" dirty="0"/>
              <a:t>: </a:t>
            </a:r>
            <a:r>
              <a:rPr lang="en-CA" b="1" dirty="0"/>
              <a:t>what</a:t>
            </a:r>
            <a:r>
              <a:rPr lang="en-CA" dirty="0"/>
              <a:t> to do </a:t>
            </a:r>
            <a:r>
              <a:rPr lang="en-CA" b="1" dirty="0"/>
              <a:t>when</a:t>
            </a:r>
            <a:r>
              <a:rPr lang="en-CA" dirty="0"/>
              <a:t>, </a:t>
            </a:r>
            <a:r>
              <a:rPr lang="en-CA" b="1" dirty="0"/>
              <a:t>why</a:t>
            </a:r>
            <a:r>
              <a:rPr lang="en-CA" dirty="0"/>
              <a:t> &amp; </a:t>
            </a:r>
            <a:r>
              <a:rPr lang="en-CA" b="1" dirty="0"/>
              <a:t>how</a:t>
            </a:r>
          </a:p>
          <a:p>
            <a:r>
              <a:rPr lang="en-CA" b="1" dirty="0"/>
              <a:t>Models</a:t>
            </a:r>
          </a:p>
          <a:p>
            <a:pPr lvl="1"/>
            <a:r>
              <a:rPr lang="en-CA" dirty="0"/>
              <a:t>An abstraction of an important part of the real world (i.e., representation of knowledge)</a:t>
            </a:r>
          </a:p>
          <a:p>
            <a:r>
              <a:rPr lang="en-CA" b="1" dirty="0"/>
              <a:t>Tools</a:t>
            </a:r>
          </a:p>
          <a:p>
            <a:pPr lvl="1"/>
            <a:r>
              <a:rPr lang="en-CA" dirty="0"/>
              <a:t>Software to </a:t>
            </a:r>
            <a:r>
              <a:rPr lang="en-CA" b="1" dirty="0"/>
              <a:t>USE</a:t>
            </a:r>
            <a:r>
              <a:rPr lang="en-CA" dirty="0"/>
              <a:t> during the SDLC</a:t>
            </a:r>
            <a:endParaRPr lang="en-CA" b="1" dirty="0"/>
          </a:p>
          <a:p>
            <a:r>
              <a:rPr lang="en-CA" b="1" dirty="0"/>
              <a:t>Techniques</a:t>
            </a:r>
          </a:p>
          <a:p>
            <a:pPr lvl="1"/>
            <a:r>
              <a:rPr lang="en-CA" dirty="0"/>
              <a:t>Things to </a:t>
            </a:r>
            <a:r>
              <a:rPr lang="en-CA" b="1" dirty="0"/>
              <a:t>DO </a:t>
            </a:r>
            <a:r>
              <a:rPr lang="en-CA" dirty="0"/>
              <a:t>to complete an activity </a:t>
            </a:r>
            <a:endParaRPr lang="en-CA" b="1" dirty="0"/>
          </a:p>
        </p:txBody>
      </p:sp>
      <p:sp>
        <p:nvSpPr>
          <p:cNvPr id="5" name="Footer Placeholder 4">
            <a:extLst>
              <a:ext uri="{FF2B5EF4-FFF2-40B4-BE49-F238E27FC236}">
                <a16:creationId xmlns:a16="http://schemas.microsoft.com/office/drawing/2014/main" id="{45F8C0FE-EFAE-4C3F-A6CE-986DC00D9E53}"/>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832FA8E8-3F51-44C7-B900-5514D0205457}"/>
              </a:ext>
            </a:extLst>
          </p:cNvPr>
          <p:cNvSpPr>
            <a:spLocks noGrp="1"/>
          </p:cNvSpPr>
          <p:nvPr>
            <p:ph type="sldNum" sz="quarter" idx="12"/>
          </p:nvPr>
        </p:nvSpPr>
        <p:spPr/>
        <p:txBody>
          <a:bodyPr/>
          <a:lstStyle/>
          <a:p>
            <a:fld id="{5EA06A4A-A481-41BD-9B7E-362E3658D39D}" type="slidenum">
              <a:rPr lang="en-CA" smtClean="0"/>
              <a:t>10</a:t>
            </a:fld>
            <a:endParaRPr lang="en-CA"/>
          </a:p>
        </p:txBody>
      </p:sp>
    </p:spTree>
    <p:extLst>
      <p:ext uri="{BB962C8B-B14F-4D97-AF65-F5344CB8AC3E}">
        <p14:creationId xmlns:p14="http://schemas.microsoft.com/office/powerpoint/2010/main" val="439058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F0B5F-6B52-44B8-ABDF-1F9C9C576F47}"/>
              </a:ext>
            </a:extLst>
          </p:cNvPr>
          <p:cNvSpPr>
            <a:spLocks noGrp="1"/>
          </p:cNvSpPr>
          <p:nvPr>
            <p:ph type="title"/>
          </p:nvPr>
        </p:nvSpPr>
        <p:spPr/>
        <p:txBody>
          <a:bodyPr/>
          <a:lstStyle/>
          <a:p>
            <a:r>
              <a:rPr lang="en-CA" dirty="0"/>
              <a:t>Methodologies</a:t>
            </a:r>
            <a:br>
              <a:rPr lang="en-CA" dirty="0"/>
            </a:br>
            <a:r>
              <a:rPr lang="en-CA" sz="2800" dirty="0"/>
              <a:t>aka: System Development Process</a:t>
            </a:r>
          </a:p>
        </p:txBody>
      </p:sp>
      <p:sp>
        <p:nvSpPr>
          <p:cNvPr id="3" name="Content Placeholder 2">
            <a:extLst>
              <a:ext uri="{FF2B5EF4-FFF2-40B4-BE49-F238E27FC236}">
                <a16:creationId xmlns:a16="http://schemas.microsoft.com/office/drawing/2014/main" id="{DB8A69B1-EDA5-4EBA-8DC1-0681906F479A}"/>
              </a:ext>
            </a:extLst>
          </p:cNvPr>
          <p:cNvSpPr>
            <a:spLocks noGrp="1"/>
          </p:cNvSpPr>
          <p:nvPr>
            <p:ph idx="1"/>
          </p:nvPr>
        </p:nvSpPr>
        <p:spPr>
          <a:xfrm>
            <a:off x="2589212" y="2325189"/>
            <a:ext cx="8915400" cy="3805248"/>
          </a:xfrm>
        </p:spPr>
        <p:txBody>
          <a:bodyPr>
            <a:normAutofit fontScale="77500" lnSpcReduction="20000"/>
          </a:bodyPr>
          <a:lstStyle/>
          <a:p>
            <a:r>
              <a:rPr lang="en-GB" altLang="en-US" dirty="0"/>
              <a:t>Provides </a:t>
            </a:r>
            <a:r>
              <a:rPr lang="en-GB" altLang="en-US" b="1" dirty="0"/>
              <a:t>guidelines</a:t>
            </a:r>
            <a:r>
              <a:rPr lang="en-GB" altLang="en-US" dirty="0"/>
              <a:t> for every facet of system development:</a:t>
            </a:r>
          </a:p>
          <a:p>
            <a:pPr lvl="1"/>
            <a:r>
              <a:rPr lang="en-GB" altLang="en-US" dirty="0"/>
              <a:t>What to do when, why and how</a:t>
            </a:r>
          </a:p>
          <a:p>
            <a:r>
              <a:rPr lang="en-GB" altLang="en-US" dirty="0"/>
              <a:t>Specifies an </a:t>
            </a:r>
            <a:r>
              <a:rPr lang="en-GB" altLang="en-US" b="1" dirty="0"/>
              <a:t>SDLC</a:t>
            </a:r>
          </a:p>
          <a:p>
            <a:pPr lvl="1"/>
            <a:r>
              <a:rPr lang="en-GB" altLang="en-US" dirty="0"/>
              <a:t>With activities and tasks</a:t>
            </a:r>
          </a:p>
          <a:p>
            <a:r>
              <a:rPr lang="en-GB" altLang="en-US" dirty="0"/>
              <a:t>Specifies </a:t>
            </a:r>
            <a:r>
              <a:rPr lang="en-GB" altLang="en-US" b="1" dirty="0"/>
              <a:t>models</a:t>
            </a:r>
            <a:r>
              <a:rPr lang="en-GB" altLang="en-US" dirty="0"/>
              <a:t> and reporting for:</a:t>
            </a:r>
          </a:p>
          <a:p>
            <a:pPr lvl="1"/>
            <a:r>
              <a:rPr lang="en-GB" altLang="en-US" dirty="0"/>
              <a:t>Project planning and project management</a:t>
            </a:r>
          </a:p>
          <a:p>
            <a:r>
              <a:rPr lang="en-GB" altLang="en-US" dirty="0"/>
              <a:t>Specifies analysis and design </a:t>
            </a:r>
            <a:r>
              <a:rPr lang="en-GB" altLang="en-US" b="1" dirty="0"/>
              <a:t>models</a:t>
            </a:r>
          </a:p>
          <a:p>
            <a:pPr lvl="1"/>
            <a:r>
              <a:rPr lang="en-GB" altLang="en-US" dirty="0"/>
              <a:t>Use Cases, Prototypes, ERD, Sequence/State/Activity diagrams</a:t>
            </a:r>
          </a:p>
          <a:p>
            <a:r>
              <a:rPr lang="en-GB" altLang="en-US" dirty="0"/>
              <a:t>Specifies implementation and testing </a:t>
            </a:r>
            <a:r>
              <a:rPr lang="en-GB" altLang="en-US" b="1" dirty="0"/>
              <a:t>techniques</a:t>
            </a:r>
          </a:p>
          <a:p>
            <a:pPr lvl="1"/>
            <a:r>
              <a:rPr lang="en-GB" altLang="en-US" dirty="0"/>
              <a:t>TDD, Refactoring, Unit/Integration/Acceptance/Stress/Production Testing</a:t>
            </a:r>
          </a:p>
          <a:p>
            <a:r>
              <a:rPr lang="en-GB" altLang="en-US" dirty="0"/>
              <a:t>Specifies deployment and support </a:t>
            </a:r>
            <a:r>
              <a:rPr lang="en-GB" altLang="en-US" b="1" dirty="0"/>
              <a:t>techniques</a:t>
            </a:r>
          </a:p>
          <a:p>
            <a:endParaRPr lang="en-CA" dirty="0"/>
          </a:p>
        </p:txBody>
      </p:sp>
      <p:sp>
        <p:nvSpPr>
          <p:cNvPr id="5" name="Footer Placeholder 4">
            <a:extLst>
              <a:ext uri="{FF2B5EF4-FFF2-40B4-BE49-F238E27FC236}">
                <a16:creationId xmlns:a16="http://schemas.microsoft.com/office/drawing/2014/main" id="{A850E47E-A237-4F1B-8200-78564473D91B}"/>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5CCA01E9-E30C-4AA4-9C92-6AE395091C6E}"/>
              </a:ext>
            </a:extLst>
          </p:cNvPr>
          <p:cNvSpPr>
            <a:spLocks noGrp="1"/>
          </p:cNvSpPr>
          <p:nvPr>
            <p:ph type="sldNum" sz="quarter" idx="12"/>
          </p:nvPr>
        </p:nvSpPr>
        <p:spPr/>
        <p:txBody>
          <a:bodyPr/>
          <a:lstStyle/>
          <a:p>
            <a:fld id="{5EA06A4A-A481-41BD-9B7E-362E3658D39D}" type="slidenum">
              <a:rPr lang="en-CA" smtClean="0"/>
              <a:pPr/>
              <a:t>11</a:t>
            </a:fld>
            <a:endParaRPr lang="en-CA"/>
          </a:p>
        </p:txBody>
      </p:sp>
      <p:pic>
        <p:nvPicPr>
          <p:cNvPr id="12" name="Picture 8">
            <a:extLst>
              <a:ext uri="{FF2B5EF4-FFF2-40B4-BE49-F238E27FC236}">
                <a16:creationId xmlns:a16="http://schemas.microsoft.com/office/drawing/2014/main" id="{EBB089F3-1904-42B2-8488-249B7BE63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7326" y="1"/>
            <a:ext cx="3294674" cy="2319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1964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5BE3-AEA1-48BA-BD0A-6F1992A9C64A}"/>
              </a:ext>
            </a:extLst>
          </p:cNvPr>
          <p:cNvSpPr>
            <a:spLocks noGrp="1"/>
          </p:cNvSpPr>
          <p:nvPr>
            <p:ph type="title"/>
          </p:nvPr>
        </p:nvSpPr>
        <p:spPr/>
        <p:txBody>
          <a:bodyPr/>
          <a:lstStyle/>
          <a:p>
            <a:r>
              <a:rPr lang="en-CA" dirty="0"/>
              <a:t>Models</a:t>
            </a:r>
          </a:p>
        </p:txBody>
      </p:sp>
      <p:sp>
        <p:nvSpPr>
          <p:cNvPr id="3" name="Content Placeholder 2">
            <a:extLst>
              <a:ext uri="{FF2B5EF4-FFF2-40B4-BE49-F238E27FC236}">
                <a16:creationId xmlns:a16="http://schemas.microsoft.com/office/drawing/2014/main" id="{E9CA9954-A45D-4934-BC39-2D1CE399537C}"/>
              </a:ext>
            </a:extLst>
          </p:cNvPr>
          <p:cNvSpPr>
            <a:spLocks noGrp="1"/>
          </p:cNvSpPr>
          <p:nvPr>
            <p:ph idx="1"/>
          </p:nvPr>
        </p:nvSpPr>
        <p:spPr/>
        <p:txBody>
          <a:bodyPr>
            <a:normAutofit lnSpcReduction="10000"/>
          </a:bodyPr>
          <a:lstStyle/>
          <a:p>
            <a:r>
              <a:rPr lang="en-CA" b="1" dirty="0"/>
              <a:t>Abstractions</a:t>
            </a:r>
            <a:r>
              <a:rPr lang="en-CA" dirty="0"/>
              <a:t> of important aspects of the real world</a:t>
            </a:r>
          </a:p>
          <a:p>
            <a:pPr lvl="1"/>
            <a:r>
              <a:rPr lang="en-CA" dirty="0"/>
              <a:t>Activity/Use Case/Entity-Relationship/Sequence/State Diagrams</a:t>
            </a:r>
          </a:p>
          <a:p>
            <a:r>
              <a:rPr lang="en-CA" dirty="0"/>
              <a:t>Help to </a:t>
            </a:r>
            <a:r>
              <a:rPr lang="en-CA" b="1" dirty="0"/>
              <a:t>understand</a:t>
            </a:r>
            <a:r>
              <a:rPr lang="en-CA" dirty="0"/>
              <a:t> a complex concept</a:t>
            </a:r>
          </a:p>
          <a:p>
            <a:pPr lvl="1"/>
            <a:r>
              <a:rPr lang="en-CA" dirty="0"/>
              <a:t>By focusing only on the relevant part</a:t>
            </a:r>
          </a:p>
          <a:p>
            <a:r>
              <a:rPr lang="en-CA" dirty="0"/>
              <a:t>Several models can be used to </a:t>
            </a:r>
            <a:r>
              <a:rPr lang="en-CA" b="1" dirty="0"/>
              <a:t>show</a:t>
            </a:r>
            <a:r>
              <a:rPr lang="en-CA" dirty="0"/>
              <a:t> </a:t>
            </a:r>
            <a:r>
              <a:rPr lang="en-CA" b="1" dirty="0"/>
              <a:t>different</a:t>
            </a:r>
            <a:r>
              <a:rPr lang="en-CA" dirty="0"/>
              <a:t> </a:t>
            </a:r>
            <a:r>
              <a:rPr lang="en-CA" b="1" dirty="0"/>
              <a:t>aspects</a:t>
            </a:r>
            <a:r>
              <a:rPr lang="en-CA" dirty="0"/>
              <a:t> of the same concept</a:t>
            </a:r>
          </a:p>
          <a:p>
            <a:r>
              <a:rPr lang="en-CA" dirty="0"/>
              <a:t>Crucial for </a:t>
            </a:r>
            <a:r>
              <a:rPr lang="en-CA" b="1" dirty="0"/>
              <a:t>communicating</a:t>
            </a:r>
            <a:r>
              <a:rPr lang="en-CA" dirty="0"/>
              <a:t> project information </a:t>
            </a:r>
          </a:p>
          <a:p>
            <a:r>
              <a:rPr lang="en-CA" dirty="0"/>
              <a:t>Some models are for </a:t>
            </a:r>
            <a:r>
              <a:rPr lang="en-CA" b="1" dirty="0"/>
              <a:t>components</a:t>
            </a:r>
            <a:r>
              <a:rPr lang="en-CA" dirty="0"/>
              <a:t> that will be built</a:t>
            </a:r>
          </a:p>
          <a:p>
            <a:r>
              <a:rPr lang="en-CA" dirty="0"/>
              <a:t>Some models are used to manage the development process</a:t>
            </a:r>
          </a:p>
        </p:txBody>
      </p:sp>
      <p:sp>
        <p:nvSpPr>
          <p:cNvPr id="5" name="Footer Placeholder 4">
            <a:extLst>
              <a:ext uri="{FF2B5EF4-FFF2-40B4-BE49-F238E27FC236}">
                <a16:creationId xmlns:a16="http://schemas.microsoft.com/office/drawing/2014/main" id="{01E328FE-0D8F-4180-969D-668BA9E3CE33}"/>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260A5AAE-39E6-4F1E-8307-1880ED81C8DE}"/>
              </a:ext>
            </a:extLst>
          </p:cNvPr>
          <p:cNvSpPr>
            <a:spLocks noGrp="1"/>
          </p:cNvSpPr>
          <p:nvPr>
            <p:ph type="sldNum" sz="quarter" idx="12"/>
          </p:nvPr>
        </p:nvSpPr>
        <p:spPr/>
        <p:txBody>
          <a:bodyPr/>
          <a:lstStyle/>
          <a:p>
            <a:fld id="{5EA06A4A-A481-41BD-9B7E-362E3658D39D}" type="slidenum">
              <a:rPr lang="en-CA" smtClean="0"/>
              <a:t>12</a:t>
            </a:fld>
            <a:endParaRPr lang="en-CA"/>
          </a:p>
        </p:txBody>
      </p:sp>
    </p:spTree>
    <p:extLst>
      <p:ext uri="{BB962C8B-B14F-4D97-AF65-F5344CB8AC3E}">
        <p14:creationId xmlns:p14="http://schemas.microsoft.com/office/powerpoint/2010/main" val="1795052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DB48-94D6-4F97-8430-F3F583A82705}"/>
              </a:ext>
            </a:extLst>
          </p:cNvPr>
          <p:cNvSpPr>
            <a:spLocks noGrp="1"/>
          </p:cNvSpPr>
          <p:nvPr>
            <p:ph type="title"/>
          </p:nvPr>
        </p:nvSpPr>
        <p:spPr/>
        <p:txBody>
          <a:bodyPr/>
          <a:lstStyle/>
          <a:p>
            <a:r>
              <a:rPr lang="en-CA" dirty="0"/>
              <a:t>Model Examples</a:t>
            </a:r>
          </a:p>
        </p:txBody>
      </p:sp>
      <p:sp>
        <p:nvSpPr>
          <p:cNvPr id="5" name="Footer Placeholder 4">
            <a:extLst>
              <a:ext uri="{FF2B5EF4-FFF2-40B4-BE49-F238E27FC236}">
                <a16:creationId xmlns:a16="http://schemas.microsoft.com/office/drawing/2014/main" id="{AE916635-6EEE-4EAF-8263-B5A43CBF33A7}"/>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09376421-0EE8-4409-8CF0-D0B2AC503F87}"/>
              </a:ext>
            </a:extLst>
          </p:cNvPr>
          <p:cNvSpPr>
            <a:spLocks noGrp="1"/>
          </p:cNvSpPr>
          <p:nvPr>
            <p:ph type="sldNum" sz="quarter" idx="12"/>
          </p:nvPr>
        </p:nvSpPr>
        <p:spPr/>
        <p:txBody>
          <a:bodyPr/>
          <a:lstStyle/>
          <a:p>
            <a:fld id="{5EA06A4A-A481-41BD-9B7E-362E3658D39D}" type="slidenum">
              <a:rPr lang="en-CA" smtClean="0"/>
              <a:t>13</a:t>
            </a:fld>
            <a:endParaRPr lang="en-CA"/>
          </a:p>
        </p:txBody>
      </p:sp>
      <p:pic>
        <p:nvPicPr>
          <p:cNvPr id="7" name="Picture 6">
            <a:extLst>
              <a:ext uri="{FF2B5EF4-FFF2-40B4-BE49-F238E27FC236}">
                <a16:creationId xmlns:a16="http://schemas.microsoft.com/office/drawing/2014/main" id="{CA49B56F-3EB0-489C-9CF7-BCF27D7D6301}"/>
              </a:ext>
            </a:extLst>
          </p:cNvPr>
          <p:cNvPicPr>
            <a:picLocks noChangeAspect="1"/>
          </p:cNvPicPr>
          <p:nvPr/>
        </p:nvPicPr>
        <p:blipFill>
          <a:blip r:embed="rId2"/>
          <a:stretch>
            <a:fillRect/>
          </a:stretch>
        </p:blipFill>
        <p:spPr>
          <a:xfrm>
            <a:off x="2589212" y="1369773"/>
            <a:ext cx="7346824" cy="4648200"/>
          </a:xfrm>
          <a:prstGeom prst="rect">
            <a:avLst/>
          </a:prstGeom>
        </p:spPr>
      </p:pic>
    </p:spTree>
    <p:extLst>
      <p:ext uri="{BB962C8B-B14F-4D97-AF65-F5344CB8AC3E}">
        <p14:creationId xmlns:p14="http://schemas.microsoft.com/office/powerpoint/2010/main" val="2787480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233F-584E-4C37-8481-2E4AEB1DA022}"/>
              </a:ext>
            </a:extLst>
          </p:cNvPr>
          <p:cNvSpPr>
            <a:spLocks noGrp="1"/>
          </p:cNvSpPr>
          <p:nvPr>
            <p:ph type="title"/>
          </p:nvPr>
        </p:nvSpPr>
        <p:spPr/>
        <p:txBody>
          <a:bodyPr/>
          <a:lstStyle/>
          <a:p>
            <a:r>
              <a:rPr lang="en-CA" dirty="0"/>
              <a:t>Typical Tools</a:t>
            </a:r>
          </a:p>
        </p:txBody>
      </p:sp>
      <p:sp>
        <p:nvSpPr>
          <p:cNvPr id="5" name="Footer Placeholder 4">
            <a:extLst>
              <a:ext uri="{FF2B5EF4-FFF2-40B4-BE49-F238E27FC236}">
                <a16:creationId xmlns:a16="http://schemas.microsoft.com/office/drawing/2014/main" id="{5B5ECE58-9893-4C16-9920-1D05851557A2}"/>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7C3C1E35-1227-4868-8B01-EACAD893DB46}"/>
              </a:ext>
            </a:extLst>
          </p:cNvPr>
          <p:cNvSpPr>
            <a:spLocks noGrp="1"/>
          </p:cNvSpPr>
          <p:nvPr>
            <p:ph type="sldNum" sz="quarter" idx="12"/>
          </p:nvPr>
        </p:nvSpPr>
        <p:spPr/>
        <p:txBody>
          <a:bodyPr/>
          <a:lstStyle/>
          <a:p>
            <a:fld id="{5EA06A4A-A481-41BD-9B7E-362E3658D39D}" type="slidenum">
              <a:rPr lang="en-CA" smtClean="0"/>
              <a:t>14</a:t>
            </a:fld>
            <a:endParaRPr lang="en-CA"/>
          </a:p>
        </p:txBody>
      </p:sp>
      <p:pic>
        <p:nvPicPr>
          <p:cNvPr id="7" name="Content Placeholder 6">
            <a:extLst>
              <a:ext uri="{FF2B5EF4-FFF2-40B4-BE49-F238E27FC236}">
                <a16:creationId xmlns:a16="http://schemas.microsoft.com/office/drawing/2014/main" id="{25777B31-A34D-4EB5-8CAB-49700173DCB5}"/>
              </a:ext>
            </a:extLst>
          </p:cNvPr>
          <p:cNvPicPr>
            <a:picLocks noGrp="1" noChangeAspect="1"/>
          </p:cNvPicPr>
          <p:nvPr>
            <p:ph idx="1"/>
          </p:nvPr>
        </p:nvPicPr>
        <p:blipFill>
          <a:blip r:embed="rId2"/>
          <a:stretch>
            <a:fillRect/>
          </a:stretch>
        </p:blipFill>
        <p:spPr>
          <a:xfrm>
            <a:off x="2589212" y="1533223"/>
            <a:ext cx="8685663" cy="3134572"/>
          </a:xfrm>
          <a:prstGeom prst="rect">
            <a:avLst/>
          </a:prstGeom>
        </p:spPr>
      </p:pic>
      <p:sp>
        <p:nvSpPr>
          <p:cNvPr id="8" name="TextBox 7">
            <a:extLst>
              <a:ext uri="{FF2B5EF4-FFF2-40B4-BE49-F238E27FC236}">
                <a16:creationId xmlns:a16="http://schemas.microsoft.com/office/drawing/2014/main" id="{14485BF0-CC6E-413F-984A-88447FB27FA6}"/>
              </a:ext>
            </a:extLst>
          </p:cNvPr>
          <p:cNvSpPr txBox="1"/>
          <p:nvPr/>
        </p:nvSpPr>
        <p:spPr>
          <a:xfrm>
            <a:off x="9022543" y="1544445"/>
            <a:ext cx="2473754" cy="2031325"/>
          </a:xfrm>
          <a:prstGeom prst="rect">
            <a:avLst/>
          </a:prstGeom>
          <a:noFill/>
        </p:spPr>
        <p:txBody>
          <a:bodyPr wrap="none" rtlCol="0">
            <a:spAutoFit/>
          </a:bodyPr>
          <a:lstStyle/>
          <a:p>
            <a:r>
              <a:rPr lang="en-CA" dirty="0"/>
              <a:t>Microsoft Project</a:t>
            </a:r>
          </a:p>
          <a:p>
            <a:r>
              <a:rPr lang="en-CA" dirty="0"/>
              <a:t>Visio</a:t>
            </a:r>
          </a:p>
          <a:p>
            <a:r>
              <a:rPr lang="en-CA" dirty="0"/>
              <a:t>MS Word</a:t>
            </a:r>
          </a:p>
          <a:p>
            <a:r>
              <a:rPr lang="en-CA" dirty="0"/>
              <a:t>Visual Paradigm</a:t>
            </a:r>
          </a:p>
          <a:p>
            <a:endParaRPr lang="en-CA" dirty="0"/>
          </a:p>
          <a:p>
            <a:r>
              <a:rPr lang="en-CA" dirty="0"/>
              <a:t>Visual Studio, Eclipse</a:t>
            </a:r>
          </a:p>
          <a:p>
            <a:r>
              <a:rPr lang="en-CA" dirty="0"/>
              <a:t>SQL Server, MySQL</a:t>
            </a:r>
          </a:p>
        </p:txBody>
      </p:sp>
      <p:cxnSp>
        <p:nvCxnSpPr>
          <p:cNvPr id="10" name="Straight Arrow Connector 9">
            <a:extLst>
              <a:ext uri="{FF2B5EF4-FFF2-40B4-BE49-F238E27FC236}">
                <a16:creationId xmlns:a16="http://schemas.microsoft.com/office/drawing/2014/main" id="{9647A814-0857-411A-A30F-3B6ACFEEEB27}"/>
              </a:ext>
            </a:extLst>
          </p:cNvPr>
          <p:cNvCxnSpPr>
            <a:cxnSpLocks/>
          </p:cNvCxnSpPr>
          <p:nvPr/>
        </p:nvCxnSpPr>
        <p:spPr>
          <a:xfrm flipH="1">
            <a:off x="6789170" y="2039865"/>
            <a:ext cx="2233373" cy="202456"/>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2B99441-9BD3-4923-BB2B-81F2D0061080}"/>
              </a:ext>
            </a:extLst>
          </p:cNvPr>
          <p:cNvCxnSpPr>
            <a:cxnSpLocks/>
          </p:cNvCxnSpPr>
          <p:nvPr/>
        </p:nvCxnSpPr>
        <p:spPr>
          <a:xfrm flipH="1">
            <a:off x="5724526" y="2560108"/>
            <a:ext cx="3276598" cy="345017"/>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DCD992-3BBC-4847-8974-129DE15F5813}"/>
              </a:ext>
            </a:extLst>
          </p:cNvPr>
          <p:cNvCxnSpPr>
            <a:cxnSpLocks/>
          </p:cNvCxnSpPr>
          <p:nvPr/>
        </p:nvCxnSpPr>
        <p:spPr>
          <a:xfrm flipH="1">
            <a:off x="8467726" y="3181350"/>
            <a:ext cx="533398" cy="73853"/>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5AD52E0-CEB3-4562-86B3-E6641213848C}"/>
              </a:ext>
            </a:extLst>
          </p:cNvPr>
          <p:cNvCxnSpPr>
            <a:cxnSpLocks/>
          </p:cNvCxnSpPr>
          <p:nvPr/>
        </p:nvCxnSpPr>
        <p:spPr>
          <a:xfrm flipH="1">
            <a:off x="7429501" y="3439214"/>
            <a:ext cx="1571623" cy="195367"/>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62042E8-2FD7-4494-8C37-BEC62495C8A4}"/>
              </a:ext>
            </a:extLst>
          </p:cNvPr>
          <p:cNvCxnSpPr>
            <a:cxnSpLocks/>
          </p:cNvCxnSpPr>
          <p:nvPr/>
        </p:nvCxnSpPr>
        <p:spPr>
          <a:xfrm flipH="1">
            <a:off x="7167166" y="1760415"/>
            <a:ext cx="1833958" cy="118331"/>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15C0F3F-0E14-461F-B7ED-1A7C891F85AD}"/>
              </a:ext>
            </a:extLst>
          </p:cNvPr>
          <p:cNvCxnSpPr/>
          <p:nvPr/>
        </p:nvCxnSpPr>
        <p:spPr>
          <a:xfrm flipH="1">
            <a:off x="6496050" y="2299310"/>
            <a:ext cx="2505074" cy="289373"/>
          </a:xfrm>
          <a:prstGeom prst="straightConnector1">
            <a:avLst/>
          </a:prstGeom>
          <a:ln w="57150">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6221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AEF8-FACA-4DA6-BF99-E2BADF829440}"/>
              </a:ext>
            </a:extLst>
          </p:cNvPr>
          <p:cNvSpPr>
            <a:spLocks noGrp="1"/>
          </p:cNvSpPr>
          <p:nvPr>
            <p:ph type="title"/>
          </p:nvPr>
        </p:nvSpPr>
        <p:spPr/>
        <p:txBody>
          <a:bodyPr>
            <a:normAutofit/>
          </a:bodyPr>
          <a:lstStyle/>
          <a:p>
            <a:r>
              <a:rPr lang="en-CA" dirty="0"/>
              <a:t>Techniques</a:t>
            </a:r>
            <a:br>
              <a:rPr lang="en-CA" dirty="0"/>
            </a:br>
            <a:r>
              <a:rPr lang="en-CA" sz="2200" dirty="0"/>
              <a:t>- learning techniques is the key to developing expertise in a field</a:t>
            </a:r>
            <a:endParaRPr lang="en-CA" dirty="0"/>
          </a:p>
        </p:txBody>
      </p:sp>
      <p:sp>
        <p:nvSpPr>
          <p:cNvPr id="5" name="Footer Placeholder 4">
            <a:extLst>
              <a:ext uri="{FF2B5EF4-FFF2-40B4-BE49-F238E27FC236}">
                <a16:creationId xmlns:a16="http://schemas.microsoft.com/office/drawing/2014/main" id="{5EBDFD4D-D2AC-4C95-9F83-BB0C60B98235}"/>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a:extLst>
              <a:ext uri="{FF2B5EF4-FFF2-40B4-BE49-F238E27FC236}">
                <a16:creationId xmlns:a16="http://schemas.microsoft.com/office/drawing/2014/main" id="{E3AA576C-8FBF-4DC0-91CF-495D0D0134C9}"/>
              </a:ext>
            </a:extLst>
          </p:cNvPr>
          <p:cNvSpPr>
            <a:spLocks noGrp="1"/>
          </p:cNvSpPr>
          <p:nvPr>
            <p:ph type="sldNum" sz="quarter" idx="12"/>
          </p:nvPr>
        </p:nvSpPr>
        <p:spPr/>
        <p:txBody>
          <a:bodyPr/>
          <a:lstStyle/>
          <a:p>
            <a:fld id="{5EA06A4A-A481-41BD-9B7E-362E3658D39D}" type="slidenum">
              <a:rPr lang="en-CA" smtClean="0"/>
              <a:t>15</a:t>
            </a:fld>
            <a:endParaRPr lang="en-CA"/>
          </a:p>
        </p:txBody>
      </p:sp>
      <p:pic>
        <p:nvPicPr>
          <p:cNvPr id="7" name="Picture 6">
            <a:extLst>
              <a:ext uri="{FF2B5EF4-FFF2-40B4-BE49-F238E27FC236}">
                <a16:creationId xmlns:a16="http://schemas.microsoft.com/office/drawing/2014/main" id="{8F24386B-1AFF-4268-82AF-8314E0E1BE9B}"/>
              </a:ext>
            </a:extLst>
          </p:cNvPr>
          <p:cNvPicPr>
            <a:picLocks noChangeAspect="1"/>
          </p:cNvPicPr>
          <p:nvPr/>
        </p:nvPicPr>
        <p:blipFill>
          <a:blip r:embed="rId2"/>
          <a:stretch>
            <a:fillRect/>
          </a:stretch>
        </p:blipFill>
        <p:spPr>
          <a:xfrm>
            <a:off x="2589212" y="1714499"/>
            <a:ext cx="6878638" cy="4236669"/>
          </a:xfrm>
          <a:prstGeom prst="rect">
            <a:avLst/>
          </a:prstGeom>
        </p:spPr>
      </p:pic>
    </p:spTree>
    <p:extLst>
      <p:ext uri="{BB962C8B-B14F-4D97-AF65-F5344CB8AC3E}">
        <p14:creationId xmlns:p14="http://schemas.microsoft.com/office/powerpoint/2010/main" val="142569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0990A0-390B-46A2-9E94-6DEF7C1AD137}"/>
              </a:ext>
            </a:extLst>
          </p:cNvPr>
          <p:cNvSpPr>
            <a:spLocks noGrp="1"/>
          </p:cNvSpPr>
          <p:nvPr>
            <p:ph type="title"/>
          </p:nvPr>
        </p:nvSpPr>
        <p:spPr/>
        <p:txBody>
          <a:bodyPr/>
          <a:lstStyle/>
          <a:p>
            <a:r>
              <a:rPr lang="en-CA" dirty="0"/>
              <a:t>Agile Development</a:t>
            </a:r>
          </a:p>
        </p:txBody>
      </p:sp>
      <p:sp>
        <p:nvSpPr>
          <p:cNvPr id="8" name="Text Placeholder 7">
            <a:extLst>
              <a:ext uri="{FF2B5EF4-FFF2-40B4-BE49-F238E27FC236}">
                <a16:creationId xmlns:a16="http://schemas.microsoft.com/office/drawing/2014/main" id="{A82C9641-6A20-4ACE-95D9-13F3257DFE8E}"/>
              </a:ext>
            </a:extLst>
          </p:cNvPr>
          <p:cNvSpPr>
            <a:spLocks noGrp="1"/>
          </p:cNvSpPr>
          <p:nvPr>
            <p:ph type="body" idx="1"/>
          </p:nvPr>
        </p:nvSpPr>
        <p:spPr/>
        <p:txBody>
          <a:bodyPr/>
          <a:lstStyle/>
          <a:p>
            <a:r>
              <a:rPr lang="en-GB" altLang="en-US" dirty="0"/>
              <a:t>A philosophy &amp; guidelines for developing information systems </a:t>
            </a:r>
            <a:r>
              <a:rPr lang="en-GB" altLang="en-US" b="1" dirty="0"/>
              <a:t>in an unknown, rapidly changing environment</a:t>
            </a:r>
            <a:endParaRPr lang="en-CA" b="1" dirty="0"/>
          </a:p>
        </p:txBody>
      </p:sp>
      <p:sp>
        <p:nvSpPr>
          <p:cNvPr id="6" name="Slide Number Placeholder 5">
            <a:extLst>
              <a:ext uri="{FF2B5EF4-FFF2-40B4-BE49-F238E27FC236}">
                <a16:creationId xmlns:a16="http://schemas.microsoft.com/office/drawing/2014/main" id="{FA25A9D2-1BFF-4C7C-B773-D961D32CA46E}"/>
              </a:ext>
            </a:extLst>
          </p:cNvPr>
          <p:cNvSpPr>
            <a:spLocks noGrp="1"/>
          </p:cNvSpPr>
          <p:nvPr>
            <p:ph type="sldNum" sz="quarter" idx="12"/>
          </p:nvPr>
        </p:nvSpPr>
        <p:spPr/>
        <p:txBody>
          <a:bodyPr/>
          <a:lstStyle/>
          <a:p>
            <a:fld id="{5EA06A4A-A481-41BD-9B7E-362E3658D39D}" type="slidenum">
              <a:rPr lang="en-CA" smtClean="0"/>
              <a:t>16</a:t>
            </a:fld>
            <a:endParaRPr lang="en-CA"/>
          </a:p>
        </p:txBody>
      </p:sp>
      <p:sp>
        <p:nvSpPr>
          <p:cNvPr id="5" name="Footer Placeholder 4">
            <a:extLst>
              <a:ext uri="{FF2B5EF4-FFF2-40B4-BE49-F238E27FC236}">
                <a16:creationId xmlns:a16="http://schemas.microsoft.com/office/drawing/2014/main" id="{7F5C6DA8-EAB1-4347-8CC2-C2D4512CA9FC}"/>
              </a:ext>
            </a:extLst>
          </p:cNvPr>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Tree>
    <p:extLst>
      <p:ext uri="{BB962C8B-B14F-4D97-AF65-F5344CB8AC3E}">
        <p14:creationId xmlns:p14="http://schemas.microsoft.com/office/powerpoint/2010/main" val="3461243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Agile </a:t>
            </a:r>
            <a:r>
              <a:rPr lang="en-US" b="1" i="1" dirty="0"/>
              <a:t>Values</a:t>
            </a:r>
            <a:endParaRPr lang="en-US" i="1" dirty="0"/>
          </a:p>
        </p:txBody>
      </p:sp>
      <p:sp>
        <p:nvSpPr>
          <p:cNvPr id="8" name="Content Placeholder 7"/>
          <p:cNvSpPr>
            <a:spLocks noGrp="1"/>
          </p:cNvSpPr>
          <p:nvPr>
            <p:ph idx="1"/>
          </p:nvPr>
        </p:nvSpPr>
        <p:spPr>
          <a:xfrm>
            <a:off x="2591068" y="1591961"/>
            <a:ext cx="8915400" cy="4225437"/>
          </a:xfrm>
        </p:spPr>
        <p:txBody>
          <a:bodyPr>
            <a:normAutofit fontScale="85000" lnSpcReduction="10000"/>
          </a:bodyPr>
          <a:lstStyle/>
          <a:p>
            <a:r>
              <a:rPr lang="en-US" dirty="0"/>
              <a:t>Agile Values are in the “</a:t>
            </a:r>
            <a:r>
              <a:rPr lang="en-US" dirty="0">
                <a:hlinkClick r:id="rId2"/>
              </a:rPr>
              <a:t>Manifesto for Agile Software Development</a:t>
            </a:r>
            <a:r>
              <a:rPr lang="en-US" dirty="0"/>
              <a:t>”</a:t>
            </a:r>
          </a:p>
          <a:p>
            <a:r>
              <a:rPr lang="en-US" dirty="0"/>
              <a:t>The 4 core values are expressed as "X over Y":</a:t>
            </a:r>
          </a:p>
          <a:p>
            <a:pPr lvl="1"/>
            <a:r>
              <a:rPr lang="en-US" b="1" dirty="0"/>
              <a:t>Value 1 - Individuals and interactions over processes and tools</a:t>
            </a:r>
          </a:p>
          <a:p>
            <a:pPr lvl="2"/>
            <a:r>
              <a:rPr lang="en-US" dirty="0"/>
              <a:t>Smaller team of skilled developers, located in the same room </a:t>
            </a:r>
          </a:p>
          <a:p>
            <a:pPr lvl="1"/>
            <a:r>
              <a:rPr lang="en-US" b="1" dirty="0"/>
              <a:t>Value 2 - Working software over comprehensive documentation</a:t>
            </a:r>
          </a:p>
          <a:p>
            <a:pPr lvl="2"/>
            <a:r>
              <a:rPr lang="en-US" dirty="0"/>
              <a:t>A working solution is better than a 50-page description of it</a:t>
            </a:r>
          </a:p>
          <a:p>
            <a:pPr lvl="1"/>
            <a:r>
              <a:rPr lang="en-US" b="1" dirty="0"/>
              <a:t>Value 3 - Customer collaboration over contract negotiation</a:t>
            </a:r>
          </a:p>
          <a:p>
            <a:pPr lvl="2"/>
            <a:r>
              <a:rPr lang="en-US" dirty="0"/>
              <a:t>Teams invest effort to discover what the stakeholders need</a:t>
            </a:r>
          </a:p>
          <a:p>
            <a:pPr lvl="3"/>
            <a:r>
              <a:rPr lang="en-US" dirty="0"/>
              <a:t>…and can educate stakeholders on the implications of decisions</a:t>
            </a:r>
          </a:p>
          <a:p>
            <a:pPr lvl="1"/>
            <a:r>
              <a:rPr lang="en-US" b="1" dirty="0"/>
              <a:t>Value 4 - Responding to change over following a plan</a:t>
            </a:r>
          </a:p>
          <a:p>
            <a:pPr lvl="2"/>
            <a:r>
              <a:rPr lang="en-CA" dirty="0"/>
              <a:t>Stakeholders' understanding of the problem and the solution changes</a:t>
            </a:r>
          </a:p>
          <a:p>
            <a:pPr lvl="3"/>
            <a:r>
              <a:rPr lang="en-CA" dirty="0">
                <a:solidFill>
                  <a:srgbClr val="FF0000"/>
                </a:solidFill>
                <a:sym typeface="Wingdings" panose="05000000000000000000" pitchFamily="2" charset="2"/>
              </a:rPr>
              <a:t> as they start to understand its potential </a:t>
            </a:r>
            <a:endParaRPr lang="en-US" dirty="0">
              <a:solidFill>
                <a:srgbClr val="FF0000"/>
              </a:solidFill>
            </a:endParaRPr>
          </a:p>
          <a:p>
            <a:pPr lvl="2"/>
            <a:endParaRPr lang="en-US" dirty="0"/>
          </a:p>
          <a:p>
            <a:endParaRPr lang="en-US" dirty="0"/>
          </a:p>
        </p:txBody>
      </p:sp>
      <p:sp>
        <p:nvSpPr>
          <p:cNvPr id="6" name="Footer Placeholder 5"/>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5" name="Slide Number Placeholder 4"/>
          <p:cNvSpPr>
            <a:spLocks noGrp="1"/>
          </p:cNvSpPr>
          <p:nvPr>
            <p:ph type="sldNum" sz="quarter" idx="12"/>
          </p:nvPr>
        </p:nvSpPr>
        <p:spPr/>
        <p:txBody>
          <a:bodyPr/>
          <a:lstStyle/>
          <a:p>
            <a:fld id="{5EA06A4A-A481-41BD-9B7E-362E3658D39D}" type="slidenum">
              <a:rPr lang="en-CA" smtClean="0"/>
              <a:t>17</a:t>
            </a:fld>
            <a:endParaRPr lang="en-CA"/>
          </a:p>
        </p:txBody>
      </p:sp>
    </p:spTree>
    <p:extLst>
      <p:ext uri="{BB962C8B-B14F-4D97-AF65-F5344CB8AC3E}">
        <p14:creationId xmlns:p14="http://schemas.microsoft.com/office/powerpoint/2010/main" val="2223734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a:t>
            </a:r>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18</a:t>
            </a:fld>
            <a:endParaRPr lang="en-CA"/>
          </a:p>
        </p:txBody>
      </p:sp>
      <p:pic>
        <p:nvPicPr>
          <p:cNvPr id="7" name="Picture 6"/>
          <p:cNvPicPr>
            <a:picLocks noChangeAspect="1"/>
          </p:cNvPicPr>
          <p:nvPr/>
        </p:nvPicPr>
        <p:blipFill>
          <a:blip r:embed="rId2"/>
          <a:stretch>
            <a:fillRect/>
          </a:stretch>
        </p:blipFill>
        <p:spPr>
          <a:xfrm>
            <a:off x="2589212" y="1556951"/>
            <a:ext cx="8998593" cy="4255492"/>
          </a:xfrm>
          <a:prstGeom prst="rect">
            <a:avLst/>
          </a:prstGeom>
        </p:spPr>
      </p:pic>
    </p:spTree>
    <p:extLst>
      <p:ext uri="{BB962C8B-B14F-4D97-AF65-F5344CB8AC3E}">
        <p14:creationId xmlns:p14="http://schemas.microsoft.com/office/powerpoint/2010/main" val="3296497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a:t>
            </a:r>
          </a:p>
        </p:txBody>
      </p:sp>
      <p:sp>
        <p:nvSpPr>
          <p:cNvPr id="3" name="Content Placeholder 2"/>
          <p:cNvSpPr>
            <a:spLocks noGrp="1"/>
          </p:cNvSpPr>
          <p:nvPr>
            <p:ph idx="1"/>
          </p:nvPr>
        </p:nvSpPr>
        <p:spPr>
          <a:xfrm>
            <a:off x="2589212" y="1474573"/>
            <a:ext cx="8915400" cy="4655863"/>
          </a:xfrm>
        </p:spPr>
        <p:txBody>
          <a:bodyPr>
            <a:noAutofit/>
          </a:bodyPr>
          <a:lstStyle/>
          <a:p>
            <a:r>
              <a:rPr lang="en-US" sz="2000" dirty="0"/>
              <a:t>Develop working software as the primary goal</a:t>
            </a:r>
          </a:p>
          <a:p>
            <a:pPr lvl="1">
              <a:spcBef>
                <a:spcPts val="0"/>
              </a:spcBef>
            </a:pPr>
            <a:r>
              <a:rPr lang="en-US" sz="1800" dirty="0"/>
              <a:t>Don’t get tied down &amp; distracted by documentation or models</a:t>
            </a:r>
          </a:p>
          <a:p>
            <a:r>
              <a:rPr lang="en-US" sz="2000" dirty="0"/>
              <a:t>Enable the next effort as your secondary goal</a:t>
            </a:r>
          </a:p>
          <a:p>
            <a:pPr lvl="1">
              <a:spcBef>
                <a:spcPts val="0"/>
              </a:spcBef>
            </a:pPr>
            <a:r>
              <a:rPr lang="en-US" sz="1800" dirty="0"/>
              <a:t>Be aware of next step versions or revisions</a:t>
            </a:r>
          </a:p>
          <a:p>
            <a:r>
              <a:rPr lang="en-US" sz="2000" dirty="0"/>
              <a:t>Minimize your modeling activity</a:t>
            </a:r>
          </a:p>
          <a:p>
            <a:pPr lvl="1">
              <a:spcBef>
                <a:spcPts val="0"/>
              </a:spcBef>
            </a:pPr>
            <a:r>
              <a:rPr lang="en-US" sz="1800" dirty="0"/>
              <a:t>Only build what helps move the project forward</a:t>
            </a:r>
          </a:p>
          <a:p>
            <a:r>
              <a:rPr lang="en-US" sz="2000" dirty="0"/>
              <a:t>Embrace change, and change incrementally</a:t>
            </a:r>
          </a:p>
          <a:p>
            <a:pPr lvl="1">
              <a:spcBef>
                <a:spcPts val="0"/>
              </a:spcBef>
            </a:pPr>
            <a:r>
              <a:rPr lang="en-US" sz="1800" dirty="0"/>
              <a:t>Take small steps that keep you on track and that can be reversed if necessary</a:t>
            </a:r>
          </a:p>
          <a:p>
            <a:r>
              <a:rPr lang="en-US" sz="2000" dirty="0"/>
              <a:t>Model with a purpose:</a:t>
            </a:r>
          </a:p>
          <a:p>
            <a:pPr lvl="1">
              <a:spcBef>
                <a:spcPts val="0"/>
              </a:spcBef>
            </a:pPr>
            <a:r>
              <a:rPr lang="en-US" sz="1800" dirty="0"/>
              <a:t>Model to understand</a:t>
            </a:r>
          </a:p>
          <a:p>
            <a:pPr lvl="1">
              <a:spcBef>
                <a:spcPts val="0"/>
              </a:spcBef>
            </a:pPr>
            <a:r>
              <a:rPr lang="en-US" sz="1800" dirty="0"/>
              <a:t>Model to communicate</a:t>
            </a:r>
          </a:p>
          <a:p>
            <a:endParaRPr lang="en-US" sz="2000" dirty="0"/>
          </a:p>
          <a:p>
            <a:endParaRPr lang="en-US" sz="2000" dirty="0"/>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19</a:t>
            </a:fld>
            <a:endParaRPr lang="en-CA"/>
          </a:p>
        </p:txBody>
      </p:sp>
    </p:spTree>
    <p:extLst>
      <p:ext uri="{BB962C8B-B14F-4D97-AF65-F5344CB8AC3E}">
        <p14:creationId xmlns:p14="http://schemas.microsoft.com/office/powerpoint/2010/main" val="591615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a:t>
            </a:r>
          </a:p>
        </p:txBody>
      </p:sp>
      <p:sp>
        <p:nvSpPr>
          <p:cNvPr id="3" name="Content Placeholder 2"/>
          <p:cNvSpPr>
            <a:spLocks noGrp="1"/>
          </p:cNvSpPr>
          <p:nvPr>
            <p:ph idx="1"/>
          </p:nvPr>
        </p:nvSpPr>
        <p:spPr>
          <a:xfrm>
            <a:off x="2589212" y="1474573"/>
            <a:ext cx="8915400" cy="4655863"/>
          </a:xfrm>
        </p:spPr>
        <p:txBody>
          <a:bodyPr>
            <a:normAutofit/>
          </a:bodyPr>
          <a:lstStyle/>
          <a:p>
            <a:r>
              <a:rPr lang="en-US" sz="2000" dirty="0"/>
              <a:t>Build multiple models</a:t>
            </a:r>
          </a:p>
          <a:p>
            <a:pPr lvl="1">
              <a:spcBef>
                <a:spcPts val="0"/>
              </a:spcBef>
            </a:pPr>
            <a:r>
              <a:rPr lang="en-US" sz="1800" dirty="0"/>
              <a:t>Look at problems from different perspectives</a:t>
            </a:r>
          </a:p>
          <a:p>
            <a:r>
              <a:rPr lang="en-US" sz="2000" dirty="0"/>
              <a:t>Build high-quality models and get feedback</a:t>
            </a:r>
          </a:p>
          <a:p>
            <a:r>
              <a:rPr lang="en-US" sz="2000" dirty="0"/>
              <a:t>Focus on content rather than representation</a:t>
            </a:r>
          </a:p>
          <a:p>
            <a:pPr lvl="1">
              <a:spcBef>
                <a:spcPts val="0"/>
              </a:spcBef>
            </a:pPr>
            <a:r>
              <a:rPr lang="en-US" sz="1800" dirty="0"/>
              <a:t>Informal hand-drawn models are often okay</a:t>
            </a:r>
          </a:p>
          <a:p>
            <a:pPr lvl="1">
              <a:spcBef>
                <a:spcPts val="0"/>
              </a:spcBef>
            </a:pPr>
            <a:r>
              <a:rPr lang="en-US" sz="1800" dirty="0"/>
              <a:t>Always focus on stakeholder needs</a:t>
            </a:r>
          </a:p>
          <a:p>
            <a:r>
              <a:rPr lang="en-US" sz="2000" dirty="0"/>
              <a:t>Learn from each other with open communication</a:t>
            </a:r>
          </a:p>
          <a:p>
            <a:r>
              <a:rPr lang="en-US" sz="2000" dirty="0"/>
              <a:t>Know your models and how to use them</a:t>
            </a:r>
          </a:p>
          <a:p>
            <a:r>
              <a:rPr lang="en-US" sz="2000" dirty="0"/>
              <a:t>Adapt to specific project needs</a:t>
            </a:r>
          </a:p>
          <a:p>
            <a:r>
              <a:rPr lang="en-US" sz="2000" dirty="0"/>
              <a:t>Maximize stakeholder return on investment (ROI)</a:t>
            </a:r>
          </a:p>
          <a:p>
            <a:endParaRPr lang="en-US" sz="2000" dirty="0"/>
          </a:p>
          <a:p>
            <a:endParaRPr lang="en-US" sz="2000" dirty="0"/>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20</a:t>
            </a:fld>
            <a:endParaRPr lang="en-CA"/>
          </a:p>
        </p:txBody>
      </p:sp>
    </p:spTree>
    <p:extLst>
      <p:ext uri="{BB962C8B-B14F-4D97-AF65-F5344CB8AC3E}">
        <p14:creationId xmlns:p14="http://schemas.microsoft.com/office/powerpoint/2010/main" val="2496345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Scrum - Definitions</a:t>
            </a:r>
          </a:p>
        </p:txBody>
      </p:sp>
      <p:sp>
        <p:nvSpPr>
          <p:cNvPr id="8" name="Content Placeholder 7"/>
          <p:cNvSpPr>
            <a:spLocks noGrp="1"/>
          </p:cNvSpPr>
          <p:nvPr>
            <p:ph idx="1"/>
          </p:nvPr>
        </p:nvSpPr>
        <p:spPr/>
        <p:txBody>
          <a:bodyPr>
            <a:normAutofit lnSpcReduction="10000"/>
          </a:bodyPr>
          <a:lstStyle/>
          <a:p>
            <a:r>
              <a:rPr lang="en-US" sz="2000" b="1" dirty="0"/>
              <a:t>Product Backlog</a:t>
            </a:r>
          </a:p>
          <a:p>
            <a:pPr lvl="1"/>
            <a:r>
              <a:rPr lang="en-US" sz="1800" dirty="0"/>
              <a:t>Prioritized list of user requirements</a:t>
            </a:r>
          </a:p>
          <a:p>
            <a:r>
              <a:rPr lang="en-US" sz="2000" b="1" dirty="0"/>
              <a:t>Product owner</a:t>
            </a:r>
          </a:p>
          <a:p>
            <a:pPr lvl="1"/>
            <a:r>
              <a:rPr lang="en-US" sz="1800" dirty="0"/>
              <a:t>The client stakeholder who controls the Product Backlog</a:t>
            </a:r>
          </a:p>
          <a:p>
            <a:r>
              <a:rPr lang="en-US" sz="2000" b="1" dirty="0"/>
              <a:t>Scrum master</a:t>
            </a:r>
          </a:p>
          <a:p>
            <a:pPr lvl="1"/>
            <a:r>
              <a:rPr lang="en-US" sz="1800" b="1" dirty="0"/>
              <a:t>Owns the Scrum process </a:t>
            </a:r>
            <a:r>
              <a:rPr lang="en-US" sz="1800" dirty="0"/>
              <a:t>(</a:t>
            </a:r>
            <a:r>
              <a:rPr lang="en-US" sz="1600" dirty="0"/>
              <a:t>make sure Scrum is being applied correctly)</a:t>
            </a:r>
            <a:endParaRPr lang="en-US" sz="1800" dirty="0"/>
          </a:p>
          <a:p>
            <a:pPr lvl="1"/>
            <a:r>
              <a:rPr lang="en-US" sz="1800" b="1" dirty="0"/>
              <a:t>Servant leader</a:t>
            </a:r>
          </a:p>
          <a:p>
            <a:pPr lvl="2"/>
            <a:r>
              <a:rPr lang="en-US" sz="1600" dirty="0"/>
              <a:t>Listening actively to team needs.</a:t>
            </a:r>
          </a:p>
          <a:p>
            <a:pPr lvl="2"/>
            <a:r>
              <a:rPr lang="en-US" sz="1600" dirty="0"/>
              <a:t>Removing obstacles that slow down progress</a:t>
            </a:r>
          </a:p>
          <a:p>
            <a:pPr lvl="2"/>
            <a:r>
              <a:rPr lang="en-US" sz="1600" dirty="0"/>
              <a:t>Protecting the team from outside pressure or </a:t>
            </a:r>
            <a:r>
              <a:rPr lang="en-US" sz="1600" b="1" dirty="0"/>
              <a:t>scope creep</a:t>
            </a:r>
            <a:r>
              <a:rPr lang="en-US" sz="1600" dirty="0"/>
              <a:t>.</a:t>
            </a:r>
          </a:p>
          <a:p>
            <a:pPr lvl="2"/>
            <a:r>
              <a:rPr lang="en-US" sz="1600" dirty="0"/>
              <a:t>Encouraging collaboration, trust, and continuous learning.</a:t>
            </a:r>
          </a:p>
          <a:p>
            <a:endParaRPr lang="en-US" sz="2000" dirty="0"/>
          </a:p>
        </p:txBody>
      </p:sp>
      <p:sp>
        <p:nvSpPr>
          <p:cNvPr id="6" name="Footer Placeholder 5"/>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5" name="Slide Number Placeholder 4"/>
          <p:cNvSpPr>
            <a:spLocks noGrp="1"/>
          </p:cNvSpPr>
          <p:nvPr>
            <p:ph type="sldNum" sz="quarter" idx="12"/>
          </p:nvPr>
        </p:nvSpPr>
        <p:spPr/>
        <p:txBody>
          <a:bodyPr/>
          <a:lstStyle/>
          <a:p>
            <a:fld id="{5EA06A4A-A481-41BD-9B7E-362E3658D39D}" type="slidenum">
              <a:rPr lang="en-CA" smtClean="0"/>
              <a:t>21</a:t>
            </a:fld>
            <a:endParaRPr lang="en-CA"/>
          </a:p>
        </p:txBody>
      </p:sp>
    </p:spTree>
    <p:extLst>
      <p:ext uri="{BB962C8B-B14F-4D97-AF65-F5344CB8AC3E}">
        <p14:creationId xmlns:p14="http://schemas.microsoft.com/office/powerpoint/2010/main" val="709204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Sprint</a:t>
            </a:r>
            <a:br>
              <a:rPr lang="en-US" dirty="0"/>
            </a:br>
            <a:r>
              <a:rPr lang="en-US" sz="2400" dirty="0"/>
              <a:t>(</a:t>
            </a:r>
            <a:r>
              <a:rPr lang="en-US" sz="2400" dirty="0" err="1"/>
              <a:t>Agile's</a:t>
            </a:r>
            <a:r>
              <a:rPr lang="en-US" sz="2400" dirty="0"/>
              <a:t> Iteration)</a:t>
            </a:r>
            <a:endParaRPr lang="en-US" dirty="0"/>
          </a:p>
        </p:txBody>
      </p:sp>
      <p:sp>
        <p:nvSpPr>
          <p:cNvPr id="3" name="Content Placeholder 2"/>
          <p:cNvSpPr>
            <a:spLocks noGrp="1"/>
          </p:cNvSpPr>
          <p:nvPr>
            <p:ph idx="1"/>
          </p:nvPr>
        </p:nvSpPr>
        <p:spPr>
          <a:xfrm>
            <a:off x="2589212" y="1905000"/>
            <a:ext cx="8915400" cy="1011195"/>
          </a:xfrm>
        </p:spPr>
        <p:txBody>
          <a:bodyPr>
            <a:normAutofit/>
          </a:bodyPr>
          <a:lstStyle/>
          <a:p>
            <a:r>
              <a:rPr lang="en-US" sz="2000" dirty="0"/>
              <a:t>A time-controlled mini-project to implement part of the system</a:t>
            </a:r>
          </a:p>
          <a:p>
            <a:endParaRPr lang="en-US" sz="2000" dirty="0"/>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22</a:t>
            </a:fld>
            <a:endParaRPr lang="en-CA"/>
          </a:p>
        </p:txBody>
      </p:sp>
      <p:pic>
        <p:nvPicPr>
          <p:cNvPr id="8" name="Content Placeholder 5"/>
          <p:cNvPicPr>
            <a:picLocks noChangeAspect="1"/>
          </p:cNvPicPr>
          <p:nvPr/>
        </p:nvPicPr>
        <p:blipFill>
          <a:blip r:embed="rId2"/>
          <a:stretch>
            <a:fillRect/>
          </a:stretch>
        </p:blipFill>
        <p:spPr>
          <a:xfrm>
            <a:off x="1699525" y="2283697"/>
            <a:ext cx="9149707" cy="3331964"/>
          </a:xfrm>
          <a:prstGeom prst="rect">
            <a:avLst/>
          </a:prstGeom>
        </p:spPr>
      </p:pic>
    </p:spTree>
    <p:extLst>
      <p:ext uri="{BB962C8B-B14F-4D97-AF65-F5344CB8AC3E}">
        <p14:creationId xmlns:p14="http://schemas.microsoft.com/office/powerpoint/2010/main" val="378456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1AB8-F365-43BA-9638-D41703229FD6}"/>
              </a:ext>
            </a:extLst>
          </p:cNvPr>
          <p:cNvSpPr>
            <a:spLocks noGrp="1"/>
          </p:cNvSpPr>
          <p:nvPr>
            <p:ph type="title"/>
          </p:nvPr>
        </p:nvSpPr>
        <p:spPr/>
        <p:txBody>
          <a:bodyPr/>
          <a:lstStyle/>
          <a:p>
            <a:r>
              <a:rPr lang="en-CA" dirty="0"/>
              <a:t>Sprint</a:t>
            </a:r>
          </a:p>
        </p:txBody>
      </p:sp>
      <p:sp>
        <p:nvSpPr>
          <p:cNvPr id="3" name="Content Placeholder 2">
            <a:extLst>
              <a:ext uri="{FF2B5EF4-FFF2-40B4-BE49-F238E27FC236}">
                <a16:creationId xmlns:a16="http://schemas.microsoft.com/office/drawing/2014/main" id="{BB8A610C-579E-45B9-9EB2-CE4966D08C7D}"/>
              </a:ext>
            </a:extLst>
          </p:cNvPr>
          <p:cNvSpPr>
            <a:spLocks noGrp="1"/>
          </p:cNvSpPr>
          <p:nvPr>
            <p:ph idx="1"/>
          </p:nvPr>
        </p:nvSpPr>
        <p:spPr>
          <a:xfrm>
            <a:off x="2589212" y="1904999"/>
            <a:ext cx="9602788" cy="4548353"/>
          </a:xfrm>
        </p:spPr>
        <p:txBody>
          <a:bodyPr>
            <a:normAutofit/>
          </a:bodyPr>
          <a:lstStyle/>
          <a:p>
            <a:r>
              <a:rPr lang="en-US" dirty="0"/>
              <a:t>A period, at most 4 weeks (a month), where the Scrum Team work to meet the customer’s needs</a:t>
            </a:r>
          </a:p>
          <a:p>
            <a:pPr lvl="1"/>
            <a:r>
              <a:rPr lang="en-US" dirty="0"/>
              <a:t>includes all of the Scrum events (see next slide)</a:t>
            </a:r>
          </a:p>
          <a:p>
            <a:endParaRPr lang="en-CA" dirty="0"/>
          </a:p>
          <a:p>
            <a:r>
              <a:rPr lang="en-CA" dirty="0"/>
              <a:t>This is a development iteration</a:t>
            </a:r>
          </a:p>
          <a:p>
            <a:pPr lvl="1"/>
            <a:r>
              <a:rPr lang="en-CA" dirty="0"/>
              <a:t>With a fixed timespan; the same for every Sprint in the project</a:t>
            </a:r>
          </a:p>
          <a:p>
            <a:pPr lvl="1"/>
            <a:r>
              <a:rPr lang="en-CA" dirty="0"/>
              <a:t>At the end of each Sprint, the team must deliver a tested functioning solution (increment)</a:t>
            </a:r>
          </a:p>
        </p:txBody>
      </p:sp>
    </p:spTree>
    <p:extLst>
      <p:ext uri="{BB962C8B-B14F-4D97-AF65-F5344CB8AC3E}">
        <p14:creationId xmlns:p14="http://schemas.microsoft.com/office/powerpoint/2010/main" val="3614766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1373DD-7F2B-496F-A678-A102D1C2B91F}"/>
              </a:ext>
            </a:extLst>
          </p:cNvPr>
          <p:cNvSpPr>
            <a:spLocks noGrp="1"/>
          </p:cNvSpPr>
          <p:nvPr>
            <p:ph type="title"/>
          </p:nvPr>
        </p:nvSpPr>
        <p:spPr/>
        <p:txBody>
          <a:bodyPr/>
          <a:lstStyle/>
          <a:p>
            <a:r>
              <a:rPr lang="en-CA" b="1" dirty="0">
                <a:solidFill>
                  <a:schemeClr val="tx1"/>
                </a:solidFill>
              </a:rPr>
              <a:t>Scrum Events</a:t>
            </a:r>
          </a:p>
        </p:txBody>
      </p:sp>
      <p:sp>
        <p:nvSpPr>
          <p:cNvPr id="4" name="Content Placeholder 3">
            <a:extLst>
              <a:ext uri="{FF2B5EF4-FFF2-40B4-BE49-F238E27FC236}">
                <a16:creationId xmlns:a16="http://schemas.microsoft.com/office/drawing/2014/main" id="{FA3EE6CC-C879-4BEB-8D08-F353211F4088}"/>
              </a:ext>
            </a:extLst>
          </p:cNvPr>
          <p:cNvSpPr>
            <a:spLocks noGrp="1"/>
          </p:cNvSpPr>
          <p:nvPr>
            <p:ph idx="1"/>
          </p:nvPr>
        </p:nvSpPr>
        <p:spPr>
          <a:xfrm>
            <a:off x="2589212" y="1534511"/>
            <a:ext cx="8915400" cy="5118538"/>
          </a:xfrm>
        </p:spPr>
        <p:txBody>
          <a:bodyPr>
            <a:normAutofit fontScale="92500" lnSpcReduction="10000"/>
          </a:bodyPr>
          <a:lstStyle/>
          <a:p>
            <a:r>
              <a:rPr lang="en-US" b="1" dirty="0"/>
              <a:t>Sprint Planning</a:t>
            </a:r>
            <a:r>
              <a:rPr lang="en-US" dirty="0"/>
              <a:t>: meeting at the beginning of the Sprint where the team plan the Product Backlog items they can complete in the next Sprint. </a:t>
            </a:r>
          </a:p>
          <a:p>
            <a:r>
              <a:rPr lang="en-US" b="1" dirty="0"/>
              <a:t>Daily Scrum</a:t>
            </a:r>
            <a:r>
              <a:rPr lang="en-US" dirty="0"/>
              <a:t>: daily meeting for the team with two goals: (1) get ready to collaborate for the day, (2) check if the team is still on track to complete their forecast by the end of the Sprint. </a:t>
            </a:r>
          </a:p>
          <a:p>
            <a:r>
              <a:rPr lang="en-US" b="1" dirty="0"/>
              <a:t>Sprint Review</a:t>
            </a:r>
            <a:r>
              <a:rPr lang="en-US" dirty="0"/>
              <a:t>:  meeting at the end of the Sprint where the Scrum Team review the work completed in the past Sprint with stakeholders. The Product Backlog is updated as an outcome of this event. </a:t>
            </a:r>
          </a:p>
          <a:p>
            <a:r>
              <a:rPr lang="en-US" b="1" dirty="0"/>
              <a:t>Sprint Retrospective</a:t>
            </a:r>
            <a:r>
              <a:rPr lang="en-US" dirty="0"/>
              <a:t>: meeting at the end of the Sprint where the team reflect on the way they worked with the goal of improving in the next Sprint.</a:t>
            </a:r>
          </a:p>
        </p:txBody>
      </p:sp>
    </p:spTree>
    <p:extLst>
      <p:ext uri="{BB962C8B-B14F-4D97-AF65-F5344CB8AC3E}">
        <p14:creationId xmlns:p14="http://schemas.microsoft.com/office/powerpoint/2010/main" val="291829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4F03E-906B-4B10-A8C5-9D846FC414C6}"/>
              </a:ext>
            </a:extLst>
          </p:cNvPr>
          <p:cNvSpPr>
            <a:spLocks noGrp="1"/>
          </p:cNvSpPr>
          <p:nvPr>
            <p:ph type="title"/>
          </p:nvPr>
        </p:nvSpPr>
        <p:spPr/>
        <p:txBody>
          <a:bodyPr/>
          <a:lstStyle/>
          <a:p>
            <a:r>
              <a:rPr lang="en-CA" dirty="0"/>
              <a:t>Event: Sprint Planning</a:t>
            </a:r>
          </a:p>
        </p:txBody>
      </p:sp>
      <p:sp>
        <p:nvSpPr>
          <p:cNvPr id="3" name="Content Placeholder 2">
            <a:extLst>
              <a:ext uri="{FF2B5EF4-FFF2-40B4-BE49-F238E27FC236}">
                <a16:creationId xmlns:a16="http://schemas.microsoft.com/office/drawing/2014/main" id="{E5EF3F90-B5FC-4D40-BC66-4AD90C6751E1}"/>
              </a:ext>
            </a:extLst>
          </p:cNvPr>
          <p:cNvSpPr>
            <a:spLocks noGrp="1"/>
          </p:cNvSpPr>
          <p:nvPr>
            <p:ph idx="1"/>
          </p:nvPr>
        </p:nvSpPr>
        <p:spPr>
          <a:xfrm>
            <a:off x="2589212" y="1904999"/>
            <a:ext cx="9602788" cy="4225437"/>
          </a:xfrm>
        </p:spPr>
        <p:txBody>
          <a:bodyPr>
            <a:normAutofit/>
          </a:bodyPr>
          <a:lstStyle/>
          <a:p>
            <a:r>
              <a:rPr lang="en-CA" dirty="0"/>
              <a:t>The team selects the Use Stories / Use Cases that they can accomplish in one Sprint, or iteration</a:t>
            </a:r>
          </a:p>
          <a:p>
            <a:pPr lvl="1"/>
            <a:r>
              <a:rPr lang="en-CA" dirty="0"/>
              <a:t>Drawn from the product backlog in priority sequence</a:t>
            </a:r>
          </a:p>
          <a:p>
            <a:pPr lvl="1"/>
            <a:r>
              <a:rPr lang="en-CA" dirty="0">
                <a:solidFill>
                  <a:schemeClr val="tx1"/>
                </a:solidFill>
              </a:rPr>
              <a:t>Team estimates of the level of effort required</a:t>
            </a:r>
            <a:endParaRPr lang="en-US" dirty="0"/>
          </a:p>
          <a:p>
            <a:r>
              <a:rPr lang="en-CA" dirty="0">
                <a:solidFill>
                  <a:schemeClr val="tx1"/>
                </a:solidFill>
              </a:rPr>
              <a:t>Complex Use Cases may be divided into smaller tasks or subroutines</a:t>
            </a:r>
          </a:p>
          <a:p>
            <a:r>
              <a:rPr lang="en-US" sz="2400" dirty="0"/>
              <a:t>Scope of each sprint is frozen (but can be reduced if necessary)</a:t>
            </a:r>
          </a:p>
          <a:p>
            <a:r>
              <a:rPr lang="en-US" sz="2400" dirty="0"/>
              <a:t>Time period is kept constant</a:t>
            </a:r>
          </a:p>
          <a:p>
            <a:endParaRPr lang="en-CA" dirty="0"/>
          </a:p>
          <a:p>
            <a:pPr lvl="1"/>
            <a:endParaRPr lang="en-CA" dirty="0"/>
          </a:p>
          <a:p>
            <a:pPr lvl="2"/>
            <a:endParaRPr lang="en-CA" dirty="0"/>
          </a:p>
        </p:txBody>
      </p:sp>
    </p:spTree>
    <p:extLst>
      <p:ext uri="{BB962C8B-B14F-4D97-AF65-F5344CB8AC3E}">
        <p14:creationId xmlns:p14="http://schemas.microsoft.com/office/powerpoint/2010/main" val="3051955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3C31E-5FCF-4F28-9BF7-58A916CB233A}"/>
              </a:ext>
            </a:extLst>
          </p:cNvPr>
          <p:cNvSpPr>
            <a:spLocks noGrp="1"/>
          </p:cNvSpPr>
          <p:nvPr>
            <p:ph type="title"/>
          </p:nvPr>
        </p:nvSpPr>
        <p:spPr/>
        <p:txBody>
          <a:bodyPr/>
          <a:lstStyle/>
          <a:p>
            <a:r>
              <a:rPr lang="en-CA" dirty="0"/>
              <a:t>Event: Daily Scrum Meeting</a:t>
            </a:r>
          </a:p>
        </p:txBody>
      </p:sp>
      <p:sp>
        <p:nvSpPr>
          <p:cNvPr id="3" name="Content Placeholder 2">
            <a:extLst>
              <a:ext uri="{FF2B5EF4-FFF2-40B4-BE49-F238E27FC236}">
                <a16:creationId xmlns:a16="http://schemas.microsoft.com/office/drawing/2014/main" id="{48584E6C-7E50-42E6-A418-F29921F6A00A}"/>
              </a:ext>
            </a:extLst>
          </p:cNvPr>
          <p:cNvSpPr>
            <a:spLocks noGrp="1"/>
          </p:cNvSpPr>
          <p:nvPr>
            <p:ph idx="1"/>
          </p:nvPr>
        </p:nvSpPr>
        <p:spPr>
          <a:xfrm>
            <a:off x="2589212" y="1904999"/>
            <a:ext cx="9602788" cy="4533901"/>
          </a:xfrm>
        </p:spPr>
        <p:txBody>
          <a:bodyPr>
            <a:normAutofit fontScale="92500"/>
          </a:bodyPr>
          <a:lstStyle/>
          <a:p>
            <a:r>
              <a:rPr lang="en-CA" dirty="0"/>
              <a:t>All team members are required to be present</a:t>
            </a:r>
          </a:p>
          <a:p>
            <a:pPr lvl="1"/>
            <a:r>
              <a:rPr lang="en-CA" dirty="0"/>
              <a:t>Stakeholders are invited, but do not provide input</a:t>
            </a:r>
          </a:p>
          <a:p>
            <a:r>
              <a:rPr lang="en-CA" dirty="0"/>
              <a:t>Each team member answers 3 questions:</a:t>
            </a:r>
          </a:p>
          <a:p>
            <a:pPr lvl="1"/>
            <a:r>
              <a:rPr lang="en-CA" dirty="0"/>
              <a:t>What did you accomplish yesterday?</a:t>
            </a:r>
          </a:p>
          <a:p>
            <a:pPr lvl="1"/>
            <a:r>
              <a:rPr lang="en-CA" dirty="0"/>
              <a:t>What do you plan to do today?</a:t>
            </a:r>
          </a:p>
          <a:p>
            <a:pPr lvl="1"/>
            <a:r>
              <a:rPr lang="en-CA" dirty="0"/>
              <a:t>Do you have any impediments?</a:t>
            </a:r>
          </a:p>
          <a:p>
            <a:r>
              <a:rPr lang="en-CA" u="sng" dirty="0"/>
              <a:t>No discussion during the meeting</a:t>
            </a:r>
          </a:p>
          <a:p>
            <a:pPr lvl="1"/>
            <a:r>
              <a:rPr lang="en-CA" dirty="0"/>
              <a:t>It's the Scrum Master's responsibility to resolve obstacles after the meeting</a:t>
            </a:r>
          </a:p>
          <a:p>
            <a:pPr lvl="1"/>
            <a:r>
              <a:rPr lang="en-CA" dirty="0"/>
              <a:t>Team members expected to offer help … offline, not during the meeting</a:t>
            </a:r>
          </a:p>
          <a:p>
            <a:pPr lvl="1"/>
            <a:r>
              <a:rPr lang="en-CA" dirty="0"/>
              <a:t>Stakeholders can offer clarification … again, offline</a:t>
            </a:r>
          </a:p>
          <a:p>
            <a:endParaRPr lang="en-CA" dirty="0"/>
          </a:p>
        </p:txBody>
      </p:sp>
    </p:spTree>
    <p:extLst>
      <p:ext uri="{BB962C8B-B14F-4D97-AF65-F5344CB8AC3E}">
        <p14:creationId xmlns:p14="http://schemas.microsoft.com/office/powerpoint/2010/main" val="926284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3C31E-5FCF-4F28-9BF7-58A916CB233A}"/>
              </a:ext>
            </a:extLst>
          </p:cNvPr>
          <p:cNvSpPr>
            <a:spLocks noGrp="1"/>
          </p:cNvSpPr>
          <p:nvPr>
            <p:ph type="title"/>
          </p:nvPr>
        </p:nvSpPr>
        <p:spPr/>
        <p:txBody>
          <a:bodyPr/>
          <a:lstStyle/>
          <a:p>
            <a:r>
              <a:rPr lang="en-CA" dirty="0"/>
              <a:t>Event: Daily Scrum Meeting</a:t>
            </a:r>
          </a:p>
        </p:txBody>
      </p:sp>
      <p:sp>
        <p:nvSpPr>
          <p:cNvPr id="3" name="Content Placeholder 2">
            <a:extLst>
              <a:ext uri="{FF2B5EF4-FFF2-40B4-BE49-F238E27FC236}">
                <a16:creationId xmlns:a16="http://schemas.microsoft.com/office/drawing/2014/main" id="{48584E6C-7E50-42E6-A418-F29921F6A00A}"/>
              </a:ext>
            </a:extLst>
          </p:cNvPr>
          <p:cNvSpPr>
            <a:spLocks noGrp="1"/>
          </p:cNvSpPr>
          <p:nvPr>
            <p:ph idx="1"/>
          </p:nvPr>
        </p:nvSpPr>
        <p:spPr>
          <a:xfrm>
            <a:off x="2589212" y="1904999"/>
            <a:ext cx="9602788" cy="4533901"/>
          </a:xfrm>
        </p:spPr>
        <p:txBody>
          <a:bodyPr>
            <a:normAutofit fontScale="92500"/>
          </a:bodyPr>
          <a:lstStyle/>
          <a:p>
            <a:r>
              <a:rPr lang="en-CA" dirty="0"/>
              <a:t>All team members are required to be present</a:t>
            </a:r>
          </a:p>
          <a:p>
            <a:pPr lvl="1"/>
            <a:r>
              <a:rPr lang="en-CA" dirty="0"/>
              <a:t>Stakeholders are invited, but do not provide input</a:t>
            </a:r>
          </a:p>
          <a:p>
            <a:r>
              <a:rPr lang="en-CA" dirty="0"/>
              <a:t>Each team member answers 3 questions:</a:t>
            </a:r>
          </a:p>
          <a:p>
            <a:pPr lvl="1"/>
            <a:r>
              <a:rPr lang="en-CA" dirty="0"/>
              <a:t>What did you accomplish yesterday?</a:t>
            </a:r>
          </a:p>
          <a:p>
            <a:pPr lvl="1"/>
            <a:r>
              <a:rPr lang="en-CA" dirty="0"/>
              <a:t>What do you plan to do today?</a:t>
            </a:r>
          </a:p>
          <a:p>
            <a:pPr lvl="1"/>
            <a:r>
              <a:rPr lang="en-CA" dirty="0"/>
              <a:t>Do you have any impediments?</a:t>
            </a:r>
          </a:p>
          <a:p>
            <a:r>
              <a:rPr lang="en-CA" u="sng" dirty="0"/>
              <a:t>No discussion during the meeting</a:t>
            </a:r>
          </a:p>
          <a:p>
            <a:pPr lvl="1"/>
            <a:r>
              <a:rPr lang="en-CA" dirty="0"/>
              <a:t>It's the Scrum Master's responsibility to resolve obstacles after the meeting</a:t>
            </a:r>
          </a:p>
          <a:p>
            <a:pPr lvl="1"/>
            <a:r>
              <a:rPr lang="en-CA" dirty="0"/>
              <a:t>Team members expected to offer help … offline, not during the meeting</a:t>
            </a:r>
          </a:p>
          <a:p>
            <a:pPr lvl="1"/>
            <a:r>
              <a:rPr lang="en-CA" dirty="0"/>
              <a:t>Stakeholders can offer clarification … again, offline</a:t>
            </a:r>
          </a:p>
          <a:p>
            <a:endParaRPr lang="en-CA" dirty="0"/>
          </a:p>
        </p:txBody>
      </p:sp>
    </p:spTree>
    <p:extLst>
      <p:ext uri="{BB962C8B-B14F-4D97-AF65-F5344CB8AC3E}">
        <p14:creationId xmlns:p14="http://schemas.microsoft.com/office/powerpoint/2010/main" val="74555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BD84-2314-487D-BC27-6B3E64801B7D}"/>
              </a:ext>
            </a:extLst>
          </p:cNvPr>
          <p:cNvSpPr>
            <a:spLocks noGrp="1"/>
          </p:cNvSpPr>
          <p:nvPr>
            <p:ph type="title"/>
          </p:nvPr>
        </p:nvSpPr>
        <p:spPr/>
        <p:txBody>
          <a:bodyPr/>
          <a:lstStyle/>
          <a:p>
            <a:r>
              <a:rPr lang="en-CA" dirty="0"/>
              <a:t>Event: Sprint Review</a:t>
            </a:r>
          </a:p>
        </p:txBody>
      </p:sp>
      <p:sp>
        <p:nvSpPr>
          <p:cNvPr id="3" name="Content Placeholder 2">
            <a:extLst>
              <a:ext uri="{FF2B5EF4-FFF2-40B4-BE49-F238E27FC236}">
                <a16:creationId xmlns:a16="http://schemas.microsoft.com/office/drawing/2014/main" id="{3928E79E-599A-4066-A20A-CE21B6724E6D}"/>
              </a:ext>
            </a:extLst>
          </p:cNvPr>
          <p:cNvSpPr>
            <a:spLocks noGrp="1"/>
          </p:cNvSpPr>
          <p:nvPr>
            <p:ph idx="1"/>
          </p:nvPr>
        </p:nvSpPr>
        <p:spPr>
          <a:xfrm>
            <a:off x="2589212" y="1904999"/>
            <a:ext cx="9602788" cy="4225437"/>
          </a:xfrm>
        </p:spPr>
        <p:txBody>
          <a:bodyPr>
            <a:normAutofit/>
          </a:bodyPr>
          <a:lstStyle/>
          <a:p>
            <a:r>
              <a:rPr lang="en-CA" dirty="0"/>
              <a:t>At the end of a Sprint, the team is expected to produce a tested working solution</a:t>
            </a:r>
          </a:p>
          <a:p>
            <a:r>
              <a:rPr lang="en-CA" dirty="0"/>
              <a:t>Stakeholders are invited to the Sprint Review</a:t>
            </a:r>
          </a:p>
          <a:p>
            <a:pPr lvl="1"/>
            <a:r>
              <a:rPr lang="en-CA" dirty="0"/>
              <a:t>They can examine the results of the sprint, provide comments &amp; recommendations for the product</a:t>
            </a:r>
          </a:p>
          <a:p>
            <a:pPr lvl="1"/>
            <a:r>
              <a:rPr lang="en-CA" dirty="0"/>
              <a:t>Recommendations, new product ideas and fixes become tasks in the product backlog list</a:t>
            </a:r>
          </a:p>
          <a:p>
            <a:r>
              <a:rPr lang="en-CA" dirty="0"/>
              <a:t>The Product Owner reprioritizes the backlog list</a:t>
            </a:r>
          </a:p>
          <a:p>
            <a:pPr lvl="1"/>
            <a:r>
              <a:rPr lang="en-CA" dirty="0"/>
              <a:t>The Scrum team starts planning the next sprint</a:t>
            </a:r>
          </a:p>
        </p:txBody>
      </p:sp>
    </p:spTree>
    <p:extLst>
      <p:ext uri="{BB962C8B-B14F-4D97-AF65-F5344CB8AC3E}">
        <p14:creationId xmlns:p14="http://schemas.microsoft.com/office/powerpoint/2010/main" val="1058108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1373DD-7F2B-496F-A678-A102D1C2B91F}"/>
              </a:ext>
            </a:extLst>
          </p:cNvPr>
          <p:cNvSpPr>
            <a:spLocks noGrp="1"/>
          </p:cNvSpPr>
          <p:nvPr>
            <p:ph type="title"/>
          </p:nvPr>
        </p:nvSpPr>
        <p:spPr/>
        <p:txBody>
          <a:bodyPr/>
          <a:lstStyle/>
          <a:p>
            <a:r>
              <a:rPr lang="en-CA" b="1" dirty="0">
                <a:solidFill>
                  <a:schemeClr val="tx1"/>
                </a:solidFill>
              </a:rPr>
              <a:t>Scrum Artifacts</a:t>
            </a:r>
          </a:p>
        </p:txBody>
      </p:sp>
      <p:sp>
        <p:nvSpPr>
          <p:cNvPr id="4" name="Content Placeholder 3">
            <a:extLst>
              <a:ext uri="{FF2B5EF4-FFF2-40B4-BE49-F238E27FC236}">
                <a16:creationId xmlns:a16="http://schemas.microsoft.com/office/drawing/2014/main" id="{FA3EE6CC-C879-4BEB-8D08-F353211F4088}"/>
              </a:ext>
            </a:extLst>
          </p:cNvPr>
          <p:cNvSpPr>
            <a:spLocks noGrp="1"/>
          </p:cNvSpPr>
          <p:nvPr>
            <p:ph idx="1"/>
          </p:nvPr>
        </p:nvSpPr>
        <p:spPr/>
        <p:txBody>
          <a:bodyPr>
            <a:normAutofit fontScale="92500" lnSpcReduction="10000"/>
          </a:bodyPr>
          <a:lstStyle/>
          <a:p>
            <a:r>
              <a:rPr lang="en-US" b="1" dirty="0"/>
              <a:t>Product Backlog</a:t>
            </a:r>
            <a:r>
              <a:rPr lang="en-US" dirty="0"/>
              <a:t>: ordered list of all work items the Product Owner would like to see in the product: feature, bug fix, enhancement, documentation requirement. </a:t>
            </a:r>
          </a:p>
          <a:p>
            <a:pPr lvl="1"/>
            <a:r>
              <a:rPr lang="en-US" dirty="0"/>
              <a:t>These items are called Product Backlog Items (PBI)</a:t>
            </a:r>
          </a:p>
          <a:p>
            <a:pPr lvl="1"/>
            <a:r>
              <a:rPr lang="en-US" dirty="0"/>
              <a:t>User Stories are just one kind of PBI</a:t>
            </a:r>
          </a:p>
          <a:p>
            <a:r>
              <a:rPr lang="en-US" b="1" dirty="0"/>
              <a:t>Sprint Backlog</a:t>
            </a:r>
            <a:r>
              <a:rPr lang="en-US" dirty="0"/>
              <a:t>: list of PBI that the team has committed to for the next Sprint. </a:t>
            </a:r>
          </a:p>
          <a:p>
            <a:pPr lvl="1"/>
            <a:r>
              <a:rPr lang="en-US" dirty="0"/>
              <a:t>The work is often broken down into tasks</a:t>
            </a:r>
          </a:p>
          <a:p>
            <a:r>
              <a:rPr lang="en-US" b="1" dirty="0"/>
              <a:t>Increment</a:t>
            </a:r>
            <a:r>
              <a:rPr lang="en-US" dirty="0"/>
              <a:t>: the product that the team built in the Sprint. </a:t>
            </a:r>
          </a:p>
          <a:p>
            <a:pPr lvl="1"/>
            <a:r>
              <a:rPr lang="en-US" dirty="0"/>
              <a:t>The quality at the end of Sprint must meet the Team’s current Definition of Done and they should be proud to ship it.</a:t>
            </a:r>
            <a:endParaRPr lang="en-CA" dirty="0"/>
          </a:p>
          <a:p>
            <a:pPr lvl="1"/>
            <a:endParaRPr lang="en-CA" dirty="0"/>
          </a:p>
        </p:txBody>
      </p:sp>
    </p:spTree>
    <p:extLst>
      <p:ext uri="{BB962C8B-B14F-4D97-AF65-F5344CB8AC3E}">
        <p14:creationId xmlns:p14="http://schemas.microsoft.com/office/powerpoint/2010/main" val="1317434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1373DD-7F2B-496F-A678-A102D1C2B91F}"/>
              </a:ext>
            </a:extLst>
          </p:cNvPr>
          <p:cNvSpPr>
            <a:spLocks noGrp="1"/>
          </p:cNvSpPr>
          <p:nvPr>
            <p:ph type="title"/>
          </p:nvPr>
        </p:nvSpPr>
        <p:spPr/>
        <p:txBody>
          <a:bodyPr/>
          <a:lstStyle/>
          <a:p>
            <a:r>
              <a:rPr lang="en-CA" dirty="0"/>
              <a:t>Artifact: Product Backlog (1)</a:t>
            </a:r>
          </a:p>
        </p:txBody>
      </p:sp>
      <p:sp>
        <p:nvSpPr>
          <p:cNvPr id="4" name="Content Placeholder 3">
            <a:extLst>
              <a:ext uri="{FF2B5EF4-FFF2-40B4-BE49-F238E27FC236}">
                <a16:creationId xmlns:a16="http://schemas.microsoft.com/office/drawing/2014/main" id="{FA3EE6CC-C879-4BEB-8D08-F353211F4088}"/>
              </a:ext>
            </a:extLst>
          </p:cNvPr>
          <p:cNvSpPr>
            <a:spLocks noGrp="1"/>
          </p:cNvSpPr>
          <p:nvPr>
            <p:ph idx="1"/>
          </p:nvPr>
        </p:nvSpPr>
        <p:spPr/>
        <p:txBody>
          <a:bodyPr/>
          <a:lstStyle/>
          <a:p>
            <a:r>
              <a:rPr lang="en-CA" dirty="0"/>
              <a:t>Occasionally the result of Sprint 0, the analysis phase</a:t>
            </a:r>
          </a:p>
          <a:p>
            <a:r>
              <a:rPr lang="en-CA" dirty="0"/>
              <a:t>Collection of Use Cases &amp; Domain Class Diagram</a:t>
            </a:r>
          </a:p>
          <a:p>
            <a:pPr lvl="1"/>
            <a:r>
              <a:rPr lang="en-CA" dirty="0"/>
              <a:t>The result of the requirements gathering process</a:t>
            </a:r>
          </a:p>
          <a:p>
            <a:r>
              <a:rPr lang="en-CA" dirty="0"/>
              <a:t>These are skeletons</a:t>
            </a:r>
          </a:p>
          <a:p>
            <a:pPr lvl="1"/>
            <a:r>
              <a:rPr lang="en-CA" dirty="0"/>
              <a:t>Use Cases</a:t>
            </a:r>
          </a:p>
          <a:p>
            <a:pPr lvl="2"/>
            <a:r>
              <a:rPr lang="en-CA" dirty="0"/>
              <a:t>Name &amp; 1-sentence description, usually</a:t>
            </a:r>
          </a:p>
          <a:p>
            <a:pPr lvl="1"/>
            <a:r>
              <a:rPr lang="en-CA" dirty="0"/>
              <a:t>Domain Classes</a:t>
            </a:r>
          </a:p>
          <a:p>
            <a:pPr lvl="2"/>
            <a:r>
              <a:rPr lang="en-CA" dirty="0"/>
              <a:t>First-cut data structures</a:t>
            </a:r>
          </a:p>
          <a:p>
            <a:r>
              <a:rPr lang="en-CA" dirty="0"/>
              <a:t>No major commitment to details yet</a:t>
            </a:r>
          </a:p>
          <a:p>
            <a:pPr lvl="1"/>
            <a:endParaRPr lang="en-CA" dirty="0"/>
          </a:p>
        </p:txBody>
      </p:sp>
    </p:spTree>
    <p:extLst>
      <p:ext uri="{BB962C8B-B14F-4D97-AF65-F5344CB8AC3E}">
        <p14:creationId xmlns:p14="http://schemas.microsoft.com/office/powerpoint/2010/main" val="512575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35B6-4E81-4227-AA78-D8D728683DC4}"/>
              </a:ext>
            </a:extLst>
          </p:cNvPr>
          <p:cNvSpPr>
            <a:spLocks noGrp="1"/>
          </p:cNvSpPr>
          <p:nvPr>
            <p:ph type="title"/>
          </p:nvPr>
        </p:nvSpPr>
        <p:spPr/>
        <p:txBody>
          <a:bodyPr>
            <a:normAutofit/>
          </a:bodyPr>
          <a:lstStyle/>
          <a:p>
            <a:r>
              <a:rPr lang="en-CA" dirty="0"/>
              <a:t>Artifact: Product Backlog (2)</a:t>
            </a:r>
          </a:p>
        </p:txBody>
      </p:sp>
      <p:sp>
        <p:nvSpPr>
          <p:cNvPr id="3" name="Content Placeholder 2">
            <a:extLst>
              <a:ext uri="{FF2B5EF4-FFF2-40B4-BE49-F238E27FC236}">
                <a16:creationId xmlns:a16="http://schemas.microsoft.com/office/drawing/2014/main" id="{35F28304-5EAE-4B6B-B3AC-EAC27800FF8B}"/>
              </a:ext>
            </a:extLst>
          </p:cNvPr>
          <p:cNvSpPr>
            <a:spLocks noGrp="1"/>
          </p:cNvSpPr>
          <p:nvPr>
            <p:ph idx="1"/>
          </p:nvPr>
        </p:nvSpPr>
        <p:spPr/>
        <p:txBody>
          <a:bodyPr/>
          <a:lstStyle/>
          <a:p>
            <a:r>
              <a:rPr lang="en-CA" dirty="0"/>
              <a:t>Prioritized by the Product Owner</a:t>
            </a:r>
          </a:p>
          <a:p>
            <a:pPr lvl="1"/>
            <a:r>
              <a:rPr lang="en-CA" dirty="0"/>
              <a:t>Usually a manager or higher, from the user area</a:t>
            </a:r>
          </a:p>
          <a:p>
            <a:pPr lvl="1"/>
            <a:r>
              <a:rPr lang="en-CA" dirty="0"/>
              <a:t>Someone that knows the business and the company</a:t>
            </a:r>
          </a:p>
          <a:p>
            <a:pPr lvl="1"/>
            <a:r>
              <a:rPr lang="en-CA" dirty="0"/>
              <a:t>Is part of the team, usually located with, or near to, them</a:t>
            </a:r>
          </a:p>
          <a:p>
            <a:r>
              <a:rPr lang="en-CA" dirty="0"/>
              <a:t>The Product Owner is the first point of contact</a:t>
            </a:r>
          </a:p>
          <a:p>
            <a:pPr lvl="1"/>
            <a:r>
              <a:rPr lang="en-CA" dirty="0"/>
              <a:t>If the team needs detailed information or a business decision</a:t>
            </a:r>
          </a:p>
          <a:p>
            <a:pPr lvl="1"/>
            <a:r>
              <a:rPr lang="en-CA" dirty="0"/>
              <a:t>If the Product Owner cannot solve the problem, they would find the stakeholder that can</a:t>
            </a:r>
          </a:p>
        </p:txBody>
      </p:sp>
    </p:spTree>
    <p:extLst>
      <p:ext uri="{BB962C8B-B14F-4D97-AF65-F5344CB8AC3E}">
        <p14:creationId xmlns:p14="http://schemas.microsoft.com/office/powerpoint/2010/main" val="4123666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BD680-E952-428E-B109-EC8F79FAB52C}"/>
              </a:ext>
            </a:extLst>
          </p:cNvPr>
          <p:cNvSpPr>
            <a:spLocks noGrp="1"/>
          </p:cNvSpPr>
          <p:nvPr>
            <p:ph type="title"/>
          </p:nvPr>
        </p:nvSpPr>
        <p:spPr/>
        <p:txBody>
          <a:bodyPr/>
          <a:lstStyle/>
          <a:p>
            <a:r>
              <a:rPr lang="en-CA" dirty="0"/>
              <a:t>Artifact: Sprint Backlog</a:t>
            </a:r>
          </a:p>
        </p:txBody>
      </p:sp>
      <p:sp>
        <p:nvSpPr>
          <p:cNvPr id="3" name="Content Placeholder 2">
            <a:extLst>
              <a:ext uri="{FF2B5EF4-FFF2-40B4-BE49-F238E27FC236}">
                <a16:creationId xmlns:a16="http://schemas.microsoft.com/office/drawing/2014/main" id="{DFFBA65E-D64D-49F8-BFF7-A2A76CB6F0D4}"/>
              </a:ext>
            </a:extLst>
          </p:cNvPr>
          <p:cNvSpPr>
            <a:spLocks noGrp="1"/>
          </p:cNvSpPr>
          <p:nvPr>
            <p:ph idx="1"/>
          </p:nvPr>
        </p:nvSpPr>
        <p:spPr>
          <a:xfrm>
            <a:off x="2589211" y="1904999"/>
            <a:ext cx="9450389" cy="4225437"/>
          </a:xfrm>
        </p:spPr>
        <p:txBody>
          <a:bodyPr>
            <a:normAutofit/>
          </a:bodyPr>
          <a:lstStyle/>
          <a:p>
            <a:r>
              <a:rPr lang="en-US" dirty="0"/>
              <a:t>Subset of Product Backlog</a:t>
            </a:r>
            <a:endParaRPr lang="en-CA" dirty="0"/>
          </a:p>
          <a:p>
            <a:r>
              <a:rPr lang="en-CA" dirty="0"/>
              <a:t>Collection of Use Cases selected for the next Sprint</a:t>
            </a:r>
          </a:p>
          <a:p>
            <a:r>
              <a:rPr lang="en-CA" dirty="0"/>
              <a:t>If, during a Sprint, the team is unable to accomplish all selected use cases</a:t>
            </a:r>
          </a:p>
          <a:p>
            <a:pPr lvl="1"/>
            <a:r>
              <a:rPr lang="en-CA" sz="2400" dirty="0"/>
              <a:t>Excess use cases are returned to the Product Backlog</a:t>
            </a:r>
          </a:p>
          <a:p>
            <a:pPr lvl="1"/>
            <a:r>
              <a:rPr lang="en-CA" sz="2400" dirty="0"/>
              <a:t>The Sprint duration is never increased</a:t>
            </a:r>
          </a:p>
          <a:p>
            <a:endParaRPr lang="en-CA" dirty="0"/>
          </a:p>
        </p:txBody>
      </p:sp>
    </p:spTree>
    <p:extLst>
      <p:ext uri="{BB962C8B-B14F-4D97-AF65-F5344CB8AC3E}">
        <p14:creationId xmlns:p14="http://schemas.microsoft.com/office/powerpoint/2010/main" val="1472123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(1)</a:t>
            </a:r>
          </a:p>
        </p:txBody>
      </p:sp>
      <p:sp>
        <p:nvSpPr>
          <p:cNvPr id="3" name="Content Placeholder 2"/>
          <p:cNvSpPr>
            <a:spLocks noGrp="1"/>
          </p:cNvSpPr>
          <p:nvPr>
            <p:ph idx="1"/>
          </p:nvPr>
        </p:nvSpPr>
        <p:spPr>
          <a:xfrm>
            <a:off x="2589211" y="1904999"/>
            <a:ext cx="9339177" cy="4225437"/>
          </a:xfrm>
        </p:spPr>
        <p:txBody>
          <a:bodyPr>
            <a:normAutofit/>
          </a:bodyPr>
          <a:lstStyle/>
          <a:p>
            <a:r>
              <a:rPr lang="en-GB" altLang="en-US" dirty="0"/>
              <a:t>Predictive SDLC (waterfall method)</a:t>
            </a:r>
          </a:p>
          <a:p>
            <a:pPr lvl="1"/>
            <a:r>
              <a:rPr lang="en-GB" altLang="en-US" dirty="0"/>
              <a:t>Used when it is possible to plan the project completely in advance</a:t>
            </a:r>
          </a:p>
          <a:p>
            <a:r>
              <a:rPr lang="en-GB" altLang="en-US" dirty="0"/>
              <a:t>Adaptive SDLC (using iterations)</a:t>
            </a:r>
          </a:p>
          <a:p>
            <a:pPr lvl="1"/>
            <a:r>
              <a:rPr lang="en-GB" altLang="en-US" dirty="0"/>
              <a:t>Used when the requirements are less certain and the project will need to react to changes</a:t>
            </a:r>
          </a:p>
          <a:p>
            <a:endParaRPr lang="en-GB" altLang="en-US" dirty="0"/>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33</a:t>
            </a:fld>
            <a:endParaRPr lang="en-CA"/>
          </a:p>
        </p:txBody>
      </p:sp>
    </p:spTree>
    <p:extLst>
      <p:ext uri="{BB962C8B-B14F-4D97-AF65-F5344CB8AC3E}">
        <p14:creationId xmlns:p14="http://schemas.microsoft.com/office/powerpoint/2010/main" val="116541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(2)</a:t>
            </a:r>
            <a:endParaRPr lang="en-US" sz="2400" dirty="0"/>
          </a:p>
        </p:txBody>
      </p:sp>
      <p:sp>
        <p:nvSpPr>
          <p:cNvPr id="3" name="Content Placeholder 2"/>
          <p:cNvSpPr>
            <a:spLocks noGrp="1"/>
          </p:cNvSpPr>
          <p:nvPr>
            <p:ph idx="1"/>
          </p:nvPr>
        </p:nvSpPr>
        <p:spPr>
          <a:xfrm>
            <a:off x="2589212" y="1639331"/>
            <a:ext cx="8915400" cy="4491106"/>
          </a:xfrm>
        </p:spPr>
        <p:txBody>
          <a:bodyPr>
            <a:normAutofit fontScale="92500" lnSpcReduction="20000"/>
          </a:bodyPr>
          <a:lstStyle/>
          <a:p>
            <a:r>
              <a:rPr lang="en-GB" altLang="en-US" dirty="0"/>
              <a:t>All System development projects:</a:t>
            </a:r>
          </a:p>
          <a:p>
            <a:pPr lvl="1"/>
            <a:r>
              <a:rPr lang="en-GB" altLang="en-US" dirty="0"/>
              <a:t>Use a methodology (or development process)</a:t>
            </a:r>
          </a:p>
          <a:p>
            <a:pPr lvl="2"/>
            <a:r>
              <a:rPr lang="en-GB" altLang="en-US" dirty="0"/>
              <a:t>A methodology includes an SDLC and tools, techniques, and models</a:t>
            </a:r>
          </a:p>
          <a:p>
            <a:r>
              <a:rPr lang="en-GB" altLang="en-US" dirty="0"/>
              <a:t>Agile development </a:t>
            </a:r>
          </a:p>
          <a:p>
            <a:pPr lvl="1"/>
            <a:r>
              <a:rPr lang="en-GB" altLang="en-US" dirty="0"/>
              <a:t>Is the current trend in system development </a:t>
            </a:r>
          </a:p>
          <a:p>
            <a:r>
              <a:rPr lang="en-GB" altLang="en-US" dirty="0"/>
              <a:t>Unified Process</a:t>
            </a:r>
          </a:p>
          <a:p>
            <a:pPr lvl="1"/>
            <a:r>
              <a:rPr lang="en-GB" altLang="en-US" dirty="0"/>
              <a:t>A formal iterative approach which uses UML models, Agile philosophy, and UP disciplines</a:t>
            </a:r>
          </a:p>
          <a:p>
            <a:r>
              <a:rPr lang="en-GB" altLang="en-US" dirty="0"/>
              <a:t>Extreme Programming (XP)</a:t>
            </a:r>
          </a:p>
          <a:p>
            <a:pPr lvl="1"/>
            <a:r>
              <a:rPr lang="en-GB" altLang="en-US" dirty="0"/>
              <a:t>An iterative approach which takes good practices to the extreme</a:t>
            </a:r>
          </a:p>
          <a:p>
            <a:r>
              <a:rPr lang="en-GB" altLang="en-US" dirty="0"/>
              <a:t>Scrum</a:t>
            </a:r>
          </a:p>
          <a:p>
            <a:pPr lvl="1"/>
            <a:r>
              <a:rPr lang="en-GB" altLang="en-US" dirty="0"/>
              <a:t>An iterative approach using a Scrum Sprint</a:t>
            </a:r>
          </a:p>
        </p:txBody>
      </p:sp>
      <p:sp>
        <p:nvSpPr>
          <p:cNvPr id="5" name="Footer Placeholder 4"/>
          <p:cNvSpPr>
            <a:spLocks noGrp="1"/>
          </p:cNvSpPr>
          <p:nvPr>
            <p:ph type="ftr" sz="quarter" idx="11"/>
          </p:nvPr>
        </p:nvSpPr>
        <p:spPr/>
        <p:txBody>
          <a:bodyPr/>
          <a:lstStyle/>
          <a:p>
            <a:r>
              <a:rPr lang="en-CA"/>
              <a:t>Systems Analysis and Design in a Changing World, 7th Edition - Chapter 10   ©2016. Cengage Learning. All rights reserved</a:t>
            </a:r>
            <a:endParaRPr lang="en-CA" dirty="0"/>
          </a:p>
        </p:txBody>
      </p:sp>
      <p:sp>
        <p:nvSpPr>
          <p:cNvPr id="6" name="Slide Number Placeholder 5"/>
          <p:cNvSpPr>
            <a:spLocks noGrp="1"/>
          </p:cNvSpPr>
          <p:nvPr>
            <p:ph type="sldNum" sz="quarter" idx="12"/>
          </p:nvPr>
        </p:nvSpPr>
        <p:spPr/>
        <p:txBody>
          <a:bodyPr/>
          <a:lstStyle/>
          <a:p>
            <a:fld id="{5EA06A4A-A481-41BD-9B7E-362E3658D39D}" type="slidenum">
              <a:rPr lang="en-CA" smtClean="0"/>
              <a:t>34</a:t>
            </a:fld>
            <a:endParaRPr lang="en-CA"/>
          </a:p>
        </p:txBody>
      </p:sp>
    </p:spTree>
    <p:extLst>
      <p:ext uri="{BB962C8B-B14F-4D97-AF65-F5344CB8AC3E}">
        <p14:creationId xmlns:p14="http://schemas.microsoft.com/office/powerpoint/2010/main" val="299909351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spDef>
      <a:spPr>
        <a:noFill/>
        <a:ln w="38100">
          <a:tailEnd type="stealth" w="lg" len="lg"/>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57150">
          <a:tailEnd type="stealth" w="lg" len="lg"/>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01_SDLC</Template>
  <TotalTime>6692</TotalTime>
  <Words>2431</Words>
  <Application>Microsoft Office PowerPoint</Application>
  <PresentationFormat>Widescreen</PresentationFormat>
  <Paragraphs>284</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Century Gothic</vt:lpstr>
      <vt:lpstr>Wingdings 3</vt:lpstr>
      <vt:lpstr>Wisp</vt:lpstr>
      <vt:lpstr>Approaches to System Development</vt:lpstr>
      <vt:lpstr>Contents</vt:lpstr>
      <vt:lpstr>Two General Approaches to the SDLC</vt:lpstr>
      <vt:lpstr>Two General Approaches to the SDLC</vt:lpstr>
      <vt:lpstr>Traditional Predictive SDLC</vt:lpstr>
      <vt:lpstr>Waterfall Predictive SDLC</vt:lpstr>
      <vt:lpstr>Modified Waterfall with Overlapping Phases</vt:lpstr>
      <vt:lpstr>Newer: Adaptive SDLC</vt:lpstr>
      <vt:lpstr>The Generic Adaptive Approach: - Six Core Processes used in each iteration - Multiple Iterations as required </vt:lpstr>
      <vt:lpstr>Methodologies, Models, Tools &amp; Techniques</vt:lpstr>
      <vt:lpstr>Methodologies aka: System Development Process</vt:lpstr>
      <vt:lpstr>Models</vt:lpstr>
      <vt:lpstr>Model Examples</vt:lpstr>
      <vt:lpstr>Typical Tools</vt:lpstr>
      <vt:lpstr>Techniques - learning techniques is the key to developing expertise in a field</vt:lpstr>
      <vt:lpstr>Agile Development</vt:lpstr>
      <vt:lpstr>Agile Values</vt:lpstr>
      <vt:lpstr>Agile Principles</vt:lpstr>
      <vt:lpstr>Agile Principles</vt:lpstr>
      <vt:lpstr>Agile Principles</vt:lpstr>
      <vt:lpstr>Scrum - Definitions</vt:lpstr>
      <vt:lpstr>Scrum Sprint (Agile's Iteration)</vt:lpstr>
      <vt:lpstr>Sprint</vt:lpstr>
      <vt:lpstr>Scrum Events</vt:lpstr>
      <vt:lpstr>Event: Sprint Planning</vt:lpstr>
      <vt:lpstr>Event: Daily Scrum Meeting</vt:lpstr>
      <vt:lpstr>Event: Daily Scrum Meeting</vt:lpstr>
      <vt:lpstr>Event: Sprint Review</vt:lpstr>
      <vt:lpstr>Scrum Artifacts</vt:lpstr>
      <vt:lpstr>Artifact: Product Backlog (1)</vt:lpstr>
      <vt:lpstr>Artifact: Product Backlog (2)</vt:lpstr>
      <vt:lpstr>Artifact: Sprint Backlog</vt:lpstr>
      <vt:lpstr>Summary (1)</vt:lpstr>
      <vt:lpstr>Summary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Yasser Ebrahim</dc:creator>
  <cp:lastModifiedBy>Yasser Ebrahim</cp:lastModifiedBy>
  <cp:revision>142</cp:revision>
  <dcterms:created xsi:type="dcterms:W3CDTF">2018-06-06T17:05:03Z</dcterms:created>
  <dcterms:modified xsi:type="dcterms:W3CDTF">2026-01-07T12:47:57Z</dcterms:modified>
</cp:coreProperties>
</file>