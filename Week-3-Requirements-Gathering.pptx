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353" r:id="rId3"/>
    <p:sldId id="314" r:id="rId4"/>
    <p:sldId id="320" r:id="rId5"/>
    <p:sldId id="321" r:id="rId6"/>
    <p:sldId id="322" r:id="rId7"/>
    <p:sldId id="323" r:id="rId8"/>
    <p:sldId id="324" r:id="rId9"/>
    <p:sldId id="325" r:id="rId10"/>
    <p:sldId id="354" r:id="rId11"/>
    <p:sldId id="328" r:id="rId12"/>
    <p:sldId id="329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26" r:id="rId23"/>
    <p:sldId id="333" r:id="rId24"/>
    <p:sldId id="327" r:id="rId25"/>
    <p:sldId id="343" r:id="rId26"/>
    <p:sldId id="344" r:id="rId27"/>
    <p:sldId id="345" r:id="rId28"/>
    <p:sldId id="346" r:id="rId29"/>
    <p:sldId id="347" r:id="rId30"/>
    <p:sldId id="348" r:id="rId31"/>
    <p:sldId id="350" r:id="rId32"/>
    <p:sldId id="34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93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D6C18-B443-4A98-85EF-AB5E6E886105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3D4E7-9ADC-49FE-8673-8784E03977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575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8FCC6E-9240-44EF-84CB-C19377E93A7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258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18DC4-8A4A-40A4-914A-3334AA1D7E43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9158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CDD6C12E-A206-4C27-9C62-7FB35B7C143F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01348" cy="447872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856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4999"/>
            <a:ext cx="8915400" cy="42254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B9B3401B-698F-4430-AD0D-2858D113E04B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86681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CA" dirty="0"/>
              <a:t>Systems Analysis and Design in a Changing World, 7th Edition - Chapter 2   ©2016. Cengage Learning. All rights reserved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620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642167A5-EFA8-448E-978B-EC824C533DB7}" type="datetime1">
              <a:rPr lang="en-CA" smtClean="0"/>
              <a:t>2025-09-18</a:t>
            </a:fld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1C4824-63FE-4934-850C-1649171E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68393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1169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FF0CAE40-55FD-46C4-8C78-5447AA1BFFB6}" type="datetime1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62308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5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ECFAEE0F-4560-4AA5-8D82-C39EFFE116CE}" type="datetime1">
              <a:rPr lang="en-CA" smtClean="0"/>
              <a:t>2025-09-18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718765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973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2E4EB80B-137F-45B2-87D6-79B21B47E03E}" type="datetime1">
              <a:rPr lang="en-CA" smtClean="0"/>
              <a:t>2025-09-18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0939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63CC7F13-28F0-4D10-AEDB-1DDFD0A53090}" type="datetime1">
              <a:rPr lang="en-CA" smtClean="0"/>
              <a:t>2025-09-18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284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AE438BCE-C06E-442E-8B9F-1363FAB65F8D}" type="datetime1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847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FE20F345-FB44-422F-AE96-75289B816A90}" type="datetime1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346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428ACCC1-7EA8-4718-BC52-FFDBC1882D63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730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26701C1E-32EA-4EB8-807C-0DB87ECB3C0A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3544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58BDB558-D616-460F-9BC4-4AB993A35532}" type="datetime1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0387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264CE257-4C2A-457C-95FC-9D7B359CDAE5}" type="datetime1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048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BCE408AC-E0ED-42D7-B0F1-6A9A5DD49490}" type="datetime1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0564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5F6C8C24-017C-418B-B64D-290851A27F7E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1429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C1B03BED-0190-4227-8A57-AC8D20D284E9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899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62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8400" y="6248400"/>
            <a:ext cx="7315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48400"/>
            <a:ext cx="152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FA38B8C-7004-407D-8354-14F4F85F32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82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183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054149"/>
            <a:ext cx="8915400" cy="3965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5713E22-908F-4B7A-AD71-1C3EAC8D5804}" type="slidenum">
              <a:rPr lang="en-CA" smtClean="0"/>
              <a:t>‹#›</a:t>
            </a:fld>
            <a:endParaRPr lang="en-CA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97715875-6463-4843-98B4-567CE4254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213" y="6135808"/>
            <a:ext cx="5605553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E7666366-4D39-48D8-9968-6B1EBFEAB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A27275BC-C2CD-473E-8C1D-922FC644E66C}" type="datetime1">
              <a:rPr lang="en-CA" smtClean="0"/>
              <a:t>2025-09-18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919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8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0070C0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421A-A643-42E0-8142-A9A56EAE6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Requirements Gathering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D752F-F041-4D01-8EB2-4FA27578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13E22-908F-4B7A-AD71-1C3EAC8D5804}" type="slidenum">
              <a:rPr lang="en-CA" smtClean="0"/>
              <a:t>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114BB-3411-48C0-B44D-7408EC71A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Systems Analysis and Design in a Changing World, 7th Edition - Chapter 2   ©2016. Cengage Learning.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5134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2 Outline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RMO Consolidated Sales and Marketing System Project</a:t>
            </a:r>
            <a:endParaRPr lang="en-US" altLang="zh-CN"/>
          </a:p>
          <a:p>
            <a:r>
              <a:rPr lang="en-US" altLang="zh-CN"/>
              <a:t>Systems Analysis Activities</a:t>
            </a:r>
          </a:p>
          <a:p>
            <a:r>
              <a:rPr lang="en-US" altLang="zh-CN"/>
              <a:t>What Are Requirements?</a:t>
            </a:r>
          </a:p>
          <a:p>
            <a:r>
              <a:rPr lang="en-US" altLang="zh-CN"/>
              <a:t>Stakeholders</a:t>
            </a:r>
          </a:p>
          <a:p>
            <a:r>
              <a:rPr lang="en-US" altLang="zh-CN"/>
              <a:t>Information-Gathering Techniques</a:t>
            </a:r>
          </a:p>
          <a:p>
            <a:r>
              <a:rPr lang="en-US" altLang="zh-CN"/>
              <a:t>Models and Modeling</a:t>
            </a:r>
          </a:p>
          <a:p>
            <a:r>
              <a:rPr lang="en-US" altLang="zh-CN"/>
              <a:t>Documenting Workflows with Activity Diagrams</a:t>
            </a:r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25B1B-A5EE-4A03-BB51-C39CBC4E2F40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Objectives</a:t>
            </a:r>
            <a:endParaRPr lang="en-US" altLang="en-US" dirty="0"/>
          </a:p>
        </p:txBody>
      </p:sp>
      <p:sp>
        <p:nvSpPr>
          <p:cNvPr id="192516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Describe the activities of systems analysis</a:t>
            </a:r>
          </a:p>
          <a:p>
            <a:r>
              <a:rPr lang="en-US" altLang="zh-CN"/>
              <a:t>Explain the difference between functional and nonfunctional requirements</a:t>
            </a:r>
          </a:p>
          <a:p>
            <a:r>
              <a:rPr lang="en-US" altLang="zh-CN"/>
              <a:t>Identify and understand different kinds of stakeholders and their contributions to requirements definition</a:t>
            </a:r>
          </a:p>
          <a:p>
            <a:r>
              <a:rPr lang="en-US" altLang="zh-CN"/>
              <a:t>Describe information-gathering techniques and determine when each is best applied</a:t>
            </a:r>
          </a:p>
          <a:p>
            <a:r>
              <a:rPr lang="en-US" altLang="zh-CN"/>
              <a:t>Describe the role of models in systems analysis</a:t>
            </a:r>
          </a:p>
          <a:p>
            <a:r>
              <a:rPr lang="en-US" altLang="zh-CN"/>
              <a:t>Develop UML activity diagrams to model workflows</a:t>
            </a:r>
            <a:endParaRPr lang="en-US" altLang="zh-C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63274-1750-4D3C-86B5-85A15818375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Systems Analysis Activities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2570740" y="1489363"/>
            <a:ext cx="8915400" cy="4225437"/>
          </a:xfrm>
        </p:spPr>
        <p:txBody>
          <a:bodyPr>
            <a:normAutofit/>
          </a:bodyPr>
          <a:lstStyle/>
          <a:p>
            <a:r>
              <a:rPr lang="en-US" altLang="en-US" dirty="0"/>
              <a:t>Need to discover and understand extensive and complex business processes and business rules</a:t>
            </a:r>
          </a:p>
          <a:p>
            <a:r>
              <a:rPr lang="en-US" altLang="en-US" dirty="0"/>
              <a:t>SDLC starting processes:</a:t>
            </a:r>
          </a:p>
          <a:p>
            <a:pPr lvl="1"/>
            <a:r>
              <a:rPr lang="en-US" altLang="en-US" dirty="0"/>
              <a:t>Identify the problem</a:t>
            </a:r>
          </a:p>
          <a:p>
            <a:pPr lvl="1"/>
            <a:r>
              <a:rPr lang="en-US" altLang="en-US" dirty="0"/>
              <a:t>Obtain approval</a:t>
            </a:r>
          </a:p>
          <a:p>
            <a:pPr lvl="1"/>
            <a:r>
              <a:rPr lang="en-US" altLang="en-US" dirty="0"/>
              <a:t>Plan the project (as seen in Chapter 1)</a:t>
            </a:r>
          </a:p>
          <a:p>
            <a:r>
              <a:rPr lang="en-US" altLang="en-US" dirty="0"/>
              <a:t>Project planning and project management are covered in detail later in the text</a:t>
            </a:r>
          </a:p>
          <a:p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021DC-4163-4E91-AF8C-7C8140A82551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Systems Analysis Activities</a:t>
            </a:r>
            <a:br>
              <a:rPr lang="en-US" altLang="en-US"/>
            </a:br>
            <a:r>
              <a:rPr lang="en-US" altLang="en-US"/>
              <a:t>Involve discovery and understanding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B7381-16E8-4F05-A041-BDB49FAEC40C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887" y="2034540"/>
            <a:ext cx="9821483" cy="3451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Systems Analysis Activities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idx="1"/>
          </p:nvPr>
        </p:nvSpPr>
        <p:spPr>
          <a:xfrm>
            <a:off x="2598448" y="1655617"/>
            <a:ext cx="8915400" cy="4225437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Gather Detailed Information … using:</a:t>
            </a:r>
          </a:p>
          <a:p>
            <a:pPr lvl="1"/>
            <a:r>
              <a:rPr lang="en-US" altLang="en-US" dirty="0"/>
              <a:t>Interviews, questionnaires, documents, business process observation, vendor research, comments and suggestions</a:t>
            </a:r>
          </a:p>
          <a:p>
            <a:r>
              <a:rPr lang="en-US" altLang="en-US" dirty="0"/>
              <a:t>Define Requirements</a:t>
            </a:r>
          </a:p>
          <a:p>
            <a:pPr lvl="1"/>
            <a:r>
              <a:rPr lang="en-US" altLang="en-US" dirty="0"/>
              <a:t>Model the functional and non-functional requirements</a:t>
            </a:r>
          </a:p>
          <a:p>
            <a:r>
              <a:rPr lang="en-US" altLang="en-US" dirty="0"/>
              <a:t>Prioritize Requirements</a:t>
            </a:r>
          </a:p>
          <a:p>
            <a:pPr lvl="1"/>
            <a:r>
              <a:rPr lang="en-US" altLang="en-US" dirty="0"/>
              <a:t>Essential/important vs. nice to have</a:t>
            </a:r>
          </a:p>
          <a:p>
            <a:r>
              <a:rPr lang="en-US" altLang="en-US"/>
              <a:t>Develop User-System </a:t>
            </a:r>
            <a:r>
              <a:rPr lang="en-US" altLang="en-US" dirty="0"/>
              <a:t>Dialogs</a:t>
            </a:r>
          </a:p>
          <a:p>
            <a:pPr lvl="1"/>
            <a:r>
              <a:rPr lang="en-US" altLang="en-US" dirty="0"/>
              <a:t>Flow of interaction between user and system</a:t>
            </a:r>
          </a:p>
          <a:p>
            <a:r>
              <a:rPr lang="en-US" altLang="en-US" dirty="0"/>
              <a:t>Evaluate Requirements with Users</a:t>
            </a:r>
          </a:p>
          <a:p>
            <a:pPr lvl="1"/>
            <a:r>
              <a:rPr lang="en-US" altLang="en-US" dirty="0"/>
              <a:t>User involvement, feedback, adapt to changes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95FB-4385-4646-A15D-7218B48CC6A4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Are Requirements?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idx="1"/>
          </p:nvPr>
        </p:nvSpPr>
        <p:spPr>
          <a:xfrm>
            <a:off x="2570740" y="1535544"/>
            <a:ext cx="8915400" cy="4225437"/>
          </a:xfrm>
        </p:spPr>
        <p:txBody>
          <a:bodyPr>
            <a:normAutofit/>
          </a:bodyPr>
          <a:lstStyle/>
          <a:p>
            <a:r>
              <a:rPr lang="en-US" altLang="en-US" dirty="0"/>
              <a:t>System Requirements =</a:t>
            </a:r>
          </a:p>
          <a:p>
            <a:pPr lvl="1"/>
            <a:r>
              <a:rPr lang="en-US" altLang="en-US" dirty="0"/>
              <a:t>Functional requirements + Non-functional requirements</a:t>
            </a:r>
          </a:p>
          <a:p>
            <a:r>
              <a:rPr lang="en-US" altLang="en-US" b="1" dirty="0"/>
              <a:t>Functional Requirements </a:t>
            </a:r>
            <a:r>
              <a:rPr lang="en-US" altLang="en-US" dirty="0"/>
              <a:t>– </a:t>
            </a:r>
            <a:r>
              <a:rPr lang="en-US" dirty="0"/>
              <a:t>the </a:t>
            </a:r>
            <a:r>
              <a:rPr lang="en-US" i="1" dirty="0"/>
              <a:t>behaviors, tasks, or functions</a:t>
            </a:r>
            <a:r>
              <a:rPr lang="en-US" dirty="0"/>
              <a:t> the system must perform. </a:t>
            </a:r>
            <a:endParaRPr lang="en-US" altLang="en-US" dirty="0"/>
          </a:p>
          <a:p>
            <a:pPr lvl="1"/>
            <a:r>
              <a:rPr lang="en-US" altLang="en-US" dirty="0"/>
              <a:t>Also called </a:t>
            </a:r>
            <a:r>
              <a:rPr lang="en-US" altLang="en-US" b="1" i="1" dirty="0"/>
              <a:t>use cases</a:t>
            </a:r>
          </a:p>
          <a:p>
            <a:r>
              <a:rPr lang="en-US" altLang="en-US" b="1" dirty="0"/>
              <a:t>Non-Functional Requirements </a:t>
            </a:r>
            <a:r>
              <a:rPr lang="en-US" altLang="en-US" dirty="0"/>
              <a:t>– other system characteristics</a:t>
            </a:r>
          </a:p>
          <a:p>
            <a:pPr lvl="1"/>
            <a:r>
              <a:rPr lang="en-US" altLang="en-US" dirty="0"/>
              <a:t>Constraints, performance goals, security, …etc.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BB99D-86EC-45A5-9F44-97144D2DAEDE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FURPS+ Requirements Acronym</a:t>
            </a:r>
          </a:p>
        </p:txBody>
      </p:sp>
      <p:sp>
        <p:nvSpPr>
          <p:cNvPr id="20685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F</a:t>
            </a:r>
            <a:r>
              <a:rPr lang="en-US" altLang="en-US" dirty="0"/>
              <a:t>unctional requirements</a:t>
            </a:r>
          </a:p>
          <a:p>
            <a:r>
              <a:rPr lang="en-US" altLang="en-US" b="1" dirty="0"/>
              <a:t>U</a:t>
            </a:r>
            <a:r>
              <a:rPr lang="en-US" altLang="en-US" dirty="0"/>
              <a:t>sability requirements</a:t>
            </a:r>
          </a:p>
          <a:p>
            <a:r>
              <a:rPr lang="en-US" altLang="en-US" b="1" dirty="0"/>
              <a:t>R</a:t>
            </a:r>
            <a:r>
              <a:rPr lang="en-US" altLang="en-US" dirty="0"/>
              <a:t>eliability requirements</a:t>
            </a:r>
          </a:p>
          <a:p>
            <a:r>
              <a:rPr lang="en-US" altLang="en-US" b="1" dirty="0"/>
              <a:t>P</a:t>
            </a:r>
            <a:r>
              <a:rPr lang="en-US" altLang="en-US" dirty="0"/>
              <a:t>erformance requirements</a:t>
            </a:r>
          </a:p>
          <a:p>
            <a:r>
              <a:rPr lang="en-US" altLang="en-US" b="1" dirty="0"/>
              <a:t>S</a:t>
            </a:r>
            <a:r>
              <a:rPr lang="en-US" altLang="en-US" dirty="0"/>
              <a:t>ecurity requirements</a:t>
            </a:r>
          </a:p>
          <a:p>
            <a:r>
              <a:rPr lang="en-US" altLang="en-US" b="1" dirty="0"/>
              <a:t>+</a:t>
            </a:r>
            <a:r>
              <a:rPr lang="en-US" altLang="en-US" dirty="0"/>
              <a:t> even more categories…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3FC97-9FD9-4B38-9A62-617101F42A4C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FURPS+ Requirements Acronym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F97-02BF-4DDC-A812-CA6D0C9A8B8E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750" y="1842656"/>
            <a:ext cx="9786862" cy="31103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Requirements Categories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Design constraints – </a:t>
            </a:r>
          </a:p>
          <a:p>
            <a:pPr lvl="1"/>
            <a:r>
              <a:rPr lang="en-US" dirty="0"/>
              <a:t>Specific restrictions for hardware and software</a:t>
            </a:r>
          </a:p>
          <a:p>
            <a:r>
              <a:rPr lang="en-US" dirty="0"/>
              <a:t>Implementation requirements</a:t>
            </a:r>
          </a:p>
          <a:p>
            <a:pPr lvl="1"/>
            <a:r>
              <a:rPr lang="en-US" dirty="0"/>
              <a:t>Specific languages, tools, protocols, etc.</a:t>
            </a:r>
          </a:p>
          <a:p>
            <a:r>
              <a:rPr lang="en-US" dirty="0"/>
              <a:t>Interface requirements</a:t>
            </a:r>
          </a:p>
          <a:p>
            <a:pPr lvl="1"/>
            <a:r>
              <a:rPr lang="en-US" dirty="0"/>
              <a:t>Interface links to other systems</a:t>
            </a:r>
          </a:p>
          <a:p>
            <a:r>
              <a:rPr lang="en-US" dirty="0"/>
              <a:t>Physical requirements</a:t>
            </a:r>
          </a:p>
          <a:p>
            <a:pPr lvl="1"/>
            <a:r>
              <a:rPr lang="en-US" dirty="0"/>
              <a:t>Physical facilities and equipment constraints</a:t>
            </a:r>
          </a:p>
          <a:p>
            <a:r>
              <a:rPr lang="en-US" dirty="0"/>
              <a:t>Supportability requirements</a:t>
            </a:r>
          </a:p>
          <a:p>
            <a:pPr lvl="1"/>
            <a:r>
              <a:rPr lang="en-US" dirty="0"/>
              <a:t>Automatic updates and enhancement methods</a:t>
            </a: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524000" y="6248400"/>
            <a:ext cx="54864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Systems Analysis and Design in a Changing World, 7th Edition - Chapter 2</a:t>
            </a:r>
          </a:p>
        </p:txBody>
      </p:sp>
    </p:spTree>
    <p:extLst>
      <p:ext uri="{BB962C8B-B14F-4D97-AF65-F5344CB8AC3E}">
        <p14:creationId xmlns:p14="http://schemas.microsoft.com/office/powerpoint/2010/main" val="3203345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Stakeholders</a:t>
            </a:r>
            <a:br>
              <a:rPr lang="en-US" altLang="en-US" dirty="0"/>
            </a:br>
            <a:r>
              <a:rPr lang="en-US" altLang="en-US" dirty="0"/>
              <a:t>Who do you involve and talk to? 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xfrm>
            <a:off x="2589211" y="1819565"/>
            <a:ext cx="9427297" cy="4310872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b="1" dirty="0"/>
              <a:t>Stakeholders</a:t>
            </a:r>
          </a:p>
          <a:p>
            <a:pPr lvl="1"/>
            <a:r>
              <a:rPr lang="en-US" altLang="en-US" dirty="0"/>
              <a:t>People who have an interest in the successful implementation of the system</a:t>
            </a:r>
          </a:p>
          <a:p>
            <a:r>
              <a:rPr lang="en-US" altLang="en-US" b="1" dirty="0"/>
              <a:t>Internal Stakeholders</a:t>
            </a:r>
            <a:endParaRPr lang="en-US" altLang="en-US" dirty="0"/>
          </a:p>
          <a:p>
            <a:pPr lvl="1"/>
            <a:r>
              <a:rPr lang="en-US" altLang="en-US" dirty="0"/>
              <a:t>People within the organization</a:t>
            </a:r>
          </a:p>
          <a:p>
            <a:r>
              <a:rPr lang="en-US" altLang="en-US" b="1" dirty="0"/>
              <a:t>External stakeholders</a:t>
            </a:r>
            <a:endParaRPr lang="en-US" altLang="en-US" dirty="0"/>
          </a:p>
          <a:p>
            <a:pPr lvl="1"/>
            <a:r>
              <a:rPr lang="en-US" altLang="en-US" dirty="0"/>
              <a:t>People outside the organization (vendors, customers, regulatory authorities)</a:t>
            </a:r>
          </a:p>
          <a:p>
            <a:pPr lvl="1"/>
            <a:endParaRPr lang="en-US" altLang="en-US" dirty="0"/>
          </a:p>
          <a:p>
            <a:r>
              <a:rPr lang="en-US" altLang="en-US" b="1" dirty="0"/>
              <a:t>Operational stakeholders</a:t>
            </a:r>
            <a:r>
              <a:rPr lang="en-US" altLang="en-US" dirty="0"/>
              <a:t> </a:t>
            </a:r>
            <a:r>
              <a:rPr lang="en-US" altLang="en-US" sz="1900" dirty="0"/>
              <a:t>(may be internal or external)</a:t>
            </a:r>
            <a:endParaRPr lang="en-US" altLang="en-US" dirty="0"/>
          </a:p>
          <a:p>
            <a:pPr lvl="1"/>
            <a:r>
              <a:rPr lang="en-US" altLang="en-US" dirty="0"/>
              <a:t>People who regularly interact with the system</a:t>
            </a:r>
          </a:p>
          <a:p>
            <a:r>
              <a:rPr lang="en-US" altLang="en-US" b="1" dirty="0"/>
              <a:t>Executive stakeholders</a:t>
            </a:r>
            <a:r>
              <a:rPr lang="en-US" alt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en-US" sz="19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(may be internal or external)</a:t>
            </a:r>
            <a:endParaRPr lang="en-US" altLang="en-US" dirty="0"/>
          </a:p>
          <a:p>
            <a:pPr lvl="1"/>
            <a:r>
              <a:rPr lang="en-US" altLang="en-US" dirty="0"/>
              <a:t>People who don’t directly interact, but use the information or have a financial interest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377C5-600A-4AFA-B39F-0936E6B41B43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54378" y="273128"/>
            <a:ext cx="8911687" cy="118392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Stakeholders of a comprehensive accounting system for a public company 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7644C-CEF2-4DDA-BD09-4D8A928CB473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719263"/>
            <a:ext cx="5384800" cy="4411662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</p:txBody>
      </p:sp>
      <p:pic>
        <p:nvPicPr>
          <p:cNvPr id="214023" name="Picture 7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6908" y="1411288"/>
            <a:ext cx="7947892" cy="5159472"/>
          </a:xfr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6231" y="6385190"/>
            <a:ext cx="7619999" cy="365125"/>
          </a:xfrm>
        </p:spPr>
        <p:txBody>
          <a:bodyPr/>
          <a:lstStyle/>
          <a:p>
            <a:r>
              <a:rPr lang="en-US" altLang="en-US" dirty="0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Information Gathering Techniques 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Interviewing</a:t>
            </a:r>
            <a:r>
              <a:rPr lang="en-US" altLang="en-US" dirty="0"/>
              <a:t> users and other stakeholders</a:t>
            </a:r>
            <a:endParaRPr lang="en-US" altLang="zh-CN" dirty="0"/>
          </a:p>
          <a:p>
            <a:r>
              <a:rPr lang="en-US" altLang="zh-CN" dirty="0"/>
              <a:t>Distributing and collecting </a:t>
            </a:r>
            <a:r>
              <a:rPr lang="en-US" altLang="zh-CN" b="1" dirty="0"/>
              <a:t>questionnaires</a:t>
            </a:r>
          </a:p>
          <a:p>
            <a:r>
              <a:rPr lang="en-US" altLang="zh-CN" dirty="0"/>
              <a:t>Reviewing inputs, outputs, and documentation</a:t>
            </a:r>
          </a:p>
          <a:p>
            <a:r>
              <a:rPr lang="en-US" altLang="zh-CN" b="1" dirty="0"/>
              <a:t>Observing</a:t>
            </a:r>
            <a:r>
              <a:rPr lang="en-US" altLang="zh-CN" dirty="0"/>
              <a:t> and documenting business procedures</a:t>
            </a:r>
          </a:p>
          <a:p>
            <a:r>
              <a:rPr lang="en-US" altLang="zh-CN" dirty="0"/>
              <a:t>Collecting active user comments and suggestions</a:t>
            </a:r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77F69-D480-47C8-B155-0939D8679BB5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Interviewing Users and Other Stakeholders 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Prepare detailed questions</a:t>
            </a:r>
            <a:endParaRPr lang="en-US" altLang="zh-CN" dirty="0"/>
          </a:p>
          <a:p>
            <a:r>
              <a:rPr lang="en-US" altLang="zh-CN" dirty="0"/>
              <a:t>Meet with </a:t>
            </a:r>
            <a:r>
              <a:rPr lang="en-US" altLang="zh-CN" i="1" dirty="0"/>
              <a:t>individuals</a:t>
            </a:r>
            <a:r>
              <a:rPr lang="en-US" altLang="zh-CN" dirty="0"/>
              <a:t> or </a:t>
            </a:r>
            <a:r>
              <a:rPr lang="en-US" altLang="zh-CN" i="1" dirty="0"/>
              <a:t>groups</a:t>
            </a:r>
            <a:r>
              <a:rPr lang="en-US" altLang="zh-CN" dirty="0"/>
              <a:t> of users</a:t>
            </a:r>
          </a:p>
          <a:p>
            <a:pPr lvl="1"/>
            <a:r>
              <a:rPr lang="en-US" altLang="zh-CN" dirty="0"/>
              <a:t>Multiple levels: front-line (clerical) staff, managers, executives</a:t>
            </a:r>
          </a:p>
          <a:p>
            <a:r>
              <a:rPr lang="en-US" altLang="zh-CN" dirty="0"/>
              <a:t>Obtain and discuss answers to the questions</a:t>
            </a:r>
          </a:p>
          <a:p>
            <a:r>
              <a:rPr lang="en-US" altLang="zh-CN" dirty="0"/>
              <a:t>Document the answers</a:t>
            </a:r>
          </a:p>
          <a:p>
            <a:r>
              <a:rPr lang="en-US" altLang="zh-CN" dirty="0"/>
              <a:t>Follow up as needed in future meetings or interviews</a:t>
            </a:r>
          </a:p>
          <a:p>
            <a:pPr lvl="1"/>
            <a:r>
              <a:rPr lang="en-US" altLang="en-US" dirty="0"/>
              <a:t>Modeling raises more questions about procedures &amp; products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8512-ED08-424E-86AC-526C1A5075E6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Themes for Information Gathering Questions </a:t>
            </a:r>
          </a:p>
        </p:txBody>
      </p:sp>
      <p:pic>
        <p:nvPicPr>
          <p:cNvPr id="22221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6985" y="2199864"/>
            <a:ext cx="9704027" cy="2843191"/>
          </a:xfr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5C8FC-D10F-42A1-803D-8A8234EFAE75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8615B0E-26C5-4110-9BB8-0E61EA040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575" y="0"/>
            <a:ext cx="6838950" cy="6858000"/>
          </a:xfrm>
          <a:prstGeom prst="rect">
            <a:avLst/>
          </a:prstGeom>
        </p:spPr>
      </p:pic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515927" y="624110"/>
            <a:ext cx="2988685" cy="128089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Preparing for the Interview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860F-9C2A-400D-99C5-D4646CCAF698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389091" y="6391840"/>
            <a:ext cx="4802909" cy="466160"/>
          </a:xfrm>
        </p:spPr>
        <p:txBody>
          <a:bodyPr/>
          <a:lstStyle/>
          <a:p>
            <a:r>
              <a:rPr lang="en-US" altLang="en-US" dirty="0"/>
              <a:t>Systems Analysis and Design in a Changing World, 7th Edition - Chapter 2 ©2016. Cengage Learning. All rights reserved.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4655" y="965855"/>
            <a:ext cx="350981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Interview Session Agenda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F71A-F686-4196-A377-D2682CA4675A}" type="slidenum">
              <a:rPr lang="en-US" altLang="en-US" smtClean="0"/>
              <a:pPr/>
              <a:t>17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110" y="0"/>
            <a:ext cx="5657272" cy="6869544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493721" y="6246644"/>
            <a:ext cx="4698279" cy="466160"/>
          </a:xfrm>
        </p:spPr>
        <p:txBody>
          <a:bodyPr/>
          <a:lstStyle/>
          <a:p>
            <a:r>
              <a:rPr lang="en-US" altLang="en-US" dirty="0"/>
              <a:t>Systems Analysis and Design in a Changing World, 7th Edition - Chapter 2 ©2016. Cengage Learning. All rights reserved.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Keep an Open-Items List</a:t>
            </a:r>
            <a:br>
              <a:rPr lang="en-US" altLang="en-US" dirty="0"/>
            </a:br>
            <a:r>
              <a:rPr lang="en-US" altLang="en-US" sz="2400" dirty="0"/>
              <a:t>- add to it as you discover more questions</a:t>
            </a:r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0B4E2-9DEF-4EA7-BD25-A80044FEB4AB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603" y="1923150"/>
            <a:ext cx="10670486" cy="28058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451273" y="369455"/>
            <a:ext cx="3599872" cy="1376218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dirty="0"/>
              <a:t>Distribute and Collect Questionnaires</a:t>
            </a:r>
          </a:p>
        </p:txBody>
      </p:sp>
      <p:pic>
        <p:nvPicPr>
          <p:cNvPr id="22733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38958" y="0"/>
            <a:ext cx="6644592" cy="6858000"/>
          </a:xfrm>
          <a:noFill/>
          <a:ln/>
        </p:spPr>
      </p:pic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525000" y="6248400"/>
            <a:ext cx="1143000" cy="457200"/>
          </a:xfrm>
          <a:prstGeom prst="rect">
            <a:avLst/>
          </a:prstGeom>
        </p:spPr>
        <p:txBody>
          <a:bodyPr/>
          <a:lstStyle/>
          <a:p>
            <a:fld id="{DE978E90-C878-4140-8CD9-73890CAF7FE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7342909" y="6276109"/>
            <a:ext cx="4849091" cy="4572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Systems Analysis and Design in a Changing World, 7th Edition - Chapter 2   ©2016. Cengage Learning. All rights reserved.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208BC-0599-48E0-B0D9-8FBEF35322B9}"/>
              </a:ext>
            </a:extLst>
          </p:cNvPr>
          <p:cNvSpPr txBox="1"/>
          <p:nvPr/>
        </p:nvSpPr>
        <p:spPr>
          <a:xfrm>
            <a:off x="8552873" y="1985818"/>
            <a:ext cx="34821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If you use a survey service (like surveyMonkey.com)</a:t>
            </a:r>
          </a:p>
          <a:p>
            <a:endParaRPr lang="en-CA" dirty="0"/>
          </a:p>
          <a:p>
            <a:pPr marL="285750" indent="-285750">
              <a:buFontTx/>
              <a:buChar char="-"/>
            </a:pPr>
            <a:r>
              <a:rPr lang="en-CA" dirty="0"/>
              <a:t>Email staff with the link so they know it comes from you</a:t>
            </a:r>
          </a:p>
          <a:p>
            <a:pPr marL="285750" indent="-285750">
              <a:buFontTx/>
              <a:buChar char="-"/>
            </a:pPr>
            <a:endParaRPr lang="en-CA" dirty="0"/>
          </a:p>
          <a:p>
            <a:pPr marL="285750" indent="-285750">
              <a:buFontTx/>
              <a:buChar char="-"/>
            </a:pPr>
            <a:r>
              <a:rPr lang="en-CA" dirty="0"/>
              <a:t>Professionally, they should refuse to answer questions about the business from external Internet domains.</a:t>
            </a:r>
          </a:p>
          <a:p>
            <a:pPr marL="285750" indent="-285750">
              <a:buFontTx/>
              <a:buChar char="-"/>
            </a:pPr>
            <a:endParaRPr lang="en-CA" dirty="0"/>
          </a:p>
          <a:p>
            <a:pPr marL="285750" indent="-285750">
              <a:buFontTx/>
              <a:buChar char="-"/>
            </a:pPr>
            <a:r>
              <a:rPr lang="en-CA" dirty="0"/>
              <a:t>Don't make it too long or they won't respond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409" y="828645"/>
            <a:ext cx="9732117" cy="5846851"/>
          </a:xfrm>
          <a:prstGeom prst="rect">
            <a:avLst/>
          </a:prstGeom>
        </p:spPr>
      </p:pic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97361" y="153055"/>
            <a:ext cx="9432820" cy="1280890"/>
          </a:xfrm>
        </p:spPr>
        <p:txBody>
          <a:bodyPr/>
          <a:lstStyle/>
          <a:p>
            <a:r>
              <a:rPr lang="en-US" altLang="en-US" dirty="0"/>
              <a:t>Review Inputs, Outputs, and Procedures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65794" y="6292826"/>
            <a:ext cx="5866811" cy="466160"/>
          </a:xfrm>
        </p:spPr>
        <p:txBody>
          <a:bodyPr/>
          <a:lstStyle/>
          <a:p>
            <a:r>
              <a:rPr lang="en-US" altLang="en-US" dirty="0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618E-F213-4953-BCDC-C1EE20F2A68E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Additional Techniques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idx="1"/>
          </p:nvPr>
        </p:nvSpPr>
        <p:spPr>
          <a:xfrm>
            <a:off x="2579976" y="1618671"/>
            <a:ext cx="8915400" cy="4225437"/>
          </a:xfrm>
        </p:spPr>
        <p:txBody>
          <a:bodyPr/>
          <a:lstStyle/>
          <a:p>
            <a:r>
              <a:rPr lang="en-US" altLang="en-US" dirty="0"/>
              <a:t>Observe and Document Business Processes</a:t>
            </a:r>
          </a:p>
          <a:p>
            <a:pPr lvl="1"/>
            <a:r>
              <a:rPr lang="en-US" altLang="en-US" dirty="0"/>
              <a:t>Watch and learn</a:t>
            </a:r>
          </a:p>
          <a:p>
            <a:pPr lvl="1"/>
            <a:r>
              <a:rPr lang="en-US" altLang="en-US" dirty="0"/>
              <a:t>Document with an Activity diagram (next section)</a:t>
            </a:r>
          </a:p>
          <a:p>
            <a:r>
              <a:rPr lang="en-US" altLang="en-US" dirty="0"/>
              <a:t>Research Vendor Solutions</a:t>
            </a:r>
          </a:p>
          <a:p>
            <a:pPr lvl="1"/>
            <a:r>
              <a:rPr lang="en-US" altLang="en-US" dirty="0"/>
              <a:t>See what others have done for similar situations</a:t>
            </a:r>
          </a:p>
          <a:p>
            <a:pPr lvl="1"/>
            <a:r>
              <a:rPr lang="en-US" altLang="en-US" dirty="0"/>
              <a:t>White papers, vendor literature, competitors</a:t>
            </a:r>
          </a:p>
          <a:p>
            <a:r>
              <a:rPr lang="en-US" altLang="en-US" dirty="0"/>
              <a:t>Collect Active User Comments and Suggestions</a:t>
            </a:r>
          </a:p>
          <a:p>
            <a:pPr lvl="1"/>
            <a:r>
              <a:rPr lang="en-US" altLang="en-US" dirty="0"/>
              <a:t>Feedback on models and tests</a:t>
            </a:r>
          </a:p>
          <a:p>
            <a:pPr lvl="1"/>
            <a:r>
              <a:rPr lang="en-US" altLang="en-US" dirty="0"/>
              <a:t>Users know it when they see it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CB6F-9D9D-4A36-B789-DEDE39861B9F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Models and Modeling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idx="1"/>
          </p:nvPr>
        </p:nvSpPr>
        <p:spPr>
          <a:xfrm>
            <a:off x="2533794" y="1600199"/>
            <a:ext cx="8915400" cy="4225437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How do we define requirements? </a:t>
            </a:r>
          </a:p>
          <a:p>
            <a:pPr lvl="1"/>
            <a:r>
              <a:rPr lang="en-US" altLang="en-US" dirty="0"/>
              <a:t>After collecting information, create models </a:t>
            </a:r>
          </a:p>
          <a:p>
            <a:r>
              <a:rPr lang="en-US" altLang="en-US" b="1" dirty="0"/>
              <a:t>Model</a:t>
            </a:r>
            <a:endParaRPr lang="en-US" altLang="en-US" dirty="0"/>
          </a:p>
          <a:p>
            <a:pPr lvl="1"/>
            <a:r>
              <a:rPr lang="en-US" altLang="en-US" dirty="0"/>
              <a:t>A representation of some aspect of the system being built </a:t>
            </a:r>
          </a:p>
          <a:p>
            <a:r>
              <a:rPr lang="en-US" altLang="en-US" dirty="0"/>
              <a:t>Types of Models</a:t>
            </a:r>
          </a:p>
          <a:p>
            <a:pPr lvl="1"/>
            <a:r>
              <a:rPr lang="en-US" altLang="en-US" b="1" dirty="0"/>
              <a:t>Textual model</a:t>
            </a:r>
            <a:r>
              <a:rPr lang="en-US" altLang="en-US" dirty="0"/>
              <a:t> – something written down, described</a:t>
            </a:r>
          </a:p>
          <a:p>
            <a:pPr lvl="1"/>
            <a:r>
              <a:rPr lang="en-US" altLang="en-US" b="1" dirty="0"/>
              <a:t>Graphical models</a:t>
            </a:r>
            <a:r>
              <a:rPr lang="en-US" altLang="en-US" dirty="0"/>
              <a:t> – diagram, schematic</a:t>
            </a:r>
          </a:p>
          <a:p>
            <a:pPr lvl="1"/>
            <a:r>
              <a:rPr lang="en-US" altLang="en-US" b="1" dirty="0"/>
              <a:t>Mathematical models</a:t>
            </a:r>
            <a:r>
              <a:rPr lang="en-US" altLang="en-US" dirty="0"/>
              <a:t> – formulas, statistics, algorithms</a:t>
            </a:r>
          </a:p>
          <a:p>
            <a:r>
              <a:rPr lang="en-US" altLang="en-US" dirty="0"/>
              <a:t>Unified Modeling Language (</a:t>
            </a:r>
            <a:r>
              <a:rPr lang="en-US" altLang="en-US" b="1" dirty="0"/>
              <a:t>UML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Standard graphical modeling symbols/terminology used for information systems</a:t>
            </a:r>
          </a:p>
          <a:p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9C00-C9DC-4320-955E-4CD516CF5A6C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Reasons for Modeling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2543030" y="1581726"/>
            <a:ext cx="8915400" cy="4225437"/>
          </a:xfrm>
        </p:spPr>
        <p:txBody>
          <a:bodyPr/>
          <a:lstStyle/>
          <a:p>
            <a:r>
              <a:rPr lang="en-US" altLang="en-US" dirty="0"/>
              <a:t>Learn by doing the modeling exercise</a:t>
            </a:r>
          </a:p>
          <a:p>
            <a:r>
              <a:rPr lang="en-US" altLang="en-US" dirty="0"/>
              <a:t>Reduce complexity by abstraction</a:t>
            </a:r>
          </a:p>
          <a:p>
            <a:r>
              <a:rPr lang="en-US" altLang="en-US" dirty="0"/>
              <a:t>Remember all the details</a:t>
            </a:r>
          </a:p>
          <a:p>
            <a:r>
              <a:rPr lang="en-US" altLang="en-US" dirty="0"/>
              <a:t>Communicate with other development team members</a:t>
            </a:r>
          </a:p>
          <a:p>
            <a:r>
              <a:rPr lang="en-US" altLang="en-US" dirty="0"/>
              <a:t>Communicate with a variety of users and stakeholders</a:t>
            </a:r>
          </a:p>
          <a:p>
            <a:r>
              <a:rPr lang="en-US" altLang="en-US" dirty="0"/>
              <a:t>Document what was done for future maintenance/enhancement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63A2F-86BD-44CD-A760-EDDCD493E194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74F4EE-5F7A-4B46-958A-19292C42BB38}"/>
              </a:ext>
            </a:extLst>
          </p:cNvPr>
          <p:cNvSpPr/>
          <p:nvPr/>
        </p:nvSpPr>
        <p:spPr>
          <a:xfrm>
            <a:off x="9097818" y="2115128"/>
            <a:ext cx="2032000" cy="350982"/>
          </a:xfrm>
          <a:prstGeom prst="roundRect">
            <a:avLst>
              <a:gd name="adj" fmla="val 50000"/>
            </a:avLst>
          </a:prstGeom>
          <a:noFill/>
          <a:ln w="381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Create Order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C5A4FD-DA37-40F5-B6F9-09968BE4D242}"/>
              </a:ext>
            </a:extLst>
          </p:cNvPr>
          <p:cNvCxnSpPr/>
          <p:nvPr/>
        </p:nvCxnSpPr>
        <p:spPr>
          <a:xfrm>
            <a:off x="8340436" y="2290617"/>
            <a:ext cx="74814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5" y="531746"/>
            <a:ext cx="8911687" cy="1280890"/>
          </a:xfrm>
        </p:spPr>
        <p:txBody>
          <a:bodyPr/>
          <a:lstStyle/>
          <a:p>
            <a:r>
              <a:rPr lang="en-US" altLang="en-US" dirty="0"/>
              <a:t>Some Analysis and Design Models</a:t>
            </a:r>
          </a:p>
        </p:txBody>
      </p:sp>
      <p:pic>
        <p:nvPicPr>
          <p:cNvPr id="210951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37527" y="1162255"/>
            <a:ext cx="6197600" cy="5011277"/>
          </a:xfr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3F611-77F4-45F0-A464-0C7C504DDD73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Documenting Workflows with Activity Diagrams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Workflow </a:t>
            </a:r>
            <a:r>
              <a:rPr lang="en-US" altLang="en-US" dirty="0"/>
              <a:t>– sequence of processing steps that </a:t>
            </a:r>
            <a:r>
              <a:rPr lang="en-US" altLang="en-US" u="sng" dirty="0"/>
              <a:t>completely</a:t>
            </a:r>
            <a:r>
              <a:rPr lang="en-US" altLang="en-US" dirty="0"/>
              <a:t> handles one business transaction or customer request</a:t>
            </a:r>
          </a:p>
          <a:p>
            <a:r>
              <a:rPr lang="en-US" altLang="en-US" b="1" dirty="0"/>
              <a:t>Activity Diagram</a:t>
            </a:r>
            <a:r>
              <a:rPr lang="en-US" altLang="en-US" dirty="0"/>
              <a:t>– describes user (or system) activities, the person who does each activity, and the sequential flow of these activities</a:t>
            </a:r>
          </a:p>
          <a:p>
            <a:pPr lvl="1"/>
            <a:r>
              <a:rPr lang="en-US" altLang="en-US" dirty="0"/>
              <a:t>Useful for showing a graphical model of a workflow</a:t>
            </a:r>
          </a:p>
          <a:p>
            <a:pPr lvl="1"/>
            <a:r>
              <a:rPr lang="en-US" altLang="en-US" dirty="0"/>
              <a:t>A UML diagram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361D6-5199-46B8-84EC-D29EF012EE63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Activity Diagrams Symbols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0C249-06D1-489E-8E07-C10F7D8E78B5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719263"/>
            <a:ext cx="5384800" cy="4411662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</p:txBody>
      </p:sp>
      <p:pic>
        <p:nvPicPr>
          <p:cNvPr id="232455" name="Picture 7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50835" y="1262784"/>
            <a:ext cx="8146473" cy="4757714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5" y="624110"/>
            <a:ext cx="4666858" cy="118392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Activity Diagram for RMO Order Fulfillment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22231" y="6366717"/>
            <a:ext cx="6231515" cy="365125"/>
          </a:xfrm>
        </p:spPr>
        <p:txBody>
          <a:bodyPr/>
          <a:lstStyle/>
          <a:p>
            <a:r>
              <a:rPr lang="en-US" altLang="en-US" dirty="0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EC3-A8DF-4209-972D-FCF1076B5C2A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719263"/>
            <a:ext cx="5384800" cy="4411662"/>
          </a:xfrm>
        </p:spPr>
        <p:txBody>
          <a:bodyPr/>
          <a:lstStyle/>
          <a:p>
            <a:endParaRPr lang="en-US" altLang="en-US"/>
          </a:p>
          <a:p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1" y="0"/>
            <a:ext cx="4876800" cy="69800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8737600" y="624109"/>
            <a:ext cx="3278909" cy="2691745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Activity Diagram with Concurrent Paths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  <a:endParaRPr lang="en-US" alt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437C-C635-48FD-AB27-9E603AC642C3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719263"/>
            <a:ext cx="5384800" cy="4411662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1" y="644237"/>
            <a:ext cx="6854527" cy="54351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951603" y="3372235"/>
            <a:ext cx="31688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can't schedule production until the materials have been purchased </a:t>
            </a:r>
            <a:r>
              <a:rPr lang="en-US" u="sng" dirty="0"/>
              <a:t>and</a:t>
            </a:r>
            <a:r>
              <a:rPr lang="en-US" dirty="0"/>
              <a:t> the machinery has been programmed,</a:t>
            </a:r>
            <a:endParaRPr lang="en-CA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Systems analysis activates correspond to the core SDLC process Discover and understand details</a:t>
            </a:r>
          </a:p>
          <a:p>
            <a:r>
              <a:rPr lang="en-US" altLang="en-US"/>
              <a:t>System projects originate from the information system strategic plan, which contains an technology architecture plan and an application architecture plan</a:t>
            </a:r>
          </a:p>
          <a:p>
            <a:r>
              <a:rPr lang="en-US" altLang="en-US"/>
              <a:t>The RMO CSMS Project will be used throughout the text as an example of analysis and design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4AF6B-5FF8-4878-855B-E4086D40E72E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Systems analysis involves defining system requirements– functional and non-functional</a:t>
            </a:r>
          </a:p>
          <a:p>
            <a:r>
              <a:rPr lang="en-US" altLang="en-US"/>
              <a:t>Analysis activities include</a:t>
            </a:r>
          </a:p>
          <a:p>
            <a:pPr lvl="1"/>
            <a:r>
              <a:rPr lang="en-US" altLang="en-US"/>
              <a:t>Gather detailed information</a:t>
            </a:r>
          </a:p>
          <a:p>
            <a:pPr lvl="1"/>
            <a:r>
              <a:rPr lang="en-US" altLang="en-US"/>
              <a:t>Define requirements</a:t>
            </a:r>
          </a:p>
          <a:p>
            <a:pPr lvl="1"/>
            <a:r>
              <a:rPr lang="en-US" altLang="en-US"/>
              <a:t>Prioritize requirements</a:t>
            </a:r>
          </a:p>
          <a:p>
            <a:pPr lvl="1"/>
            <a:r>
              <a:rPr lang="en-US" altLang="en-US"/>
              <a:t>Develop user-interface dialogs</a:t>
            </a:r>
          </a:p>
          <a:p>
            <a:pPr lvl="1"/>
            <a:r>
              <a:rPr lang="en-US" altLang="en-US"/>
              <a:t>Evaluate requirements with users</a:t>
            </a:r>
          </a:p>
          <a:p>
            <a:r>
              <a:rPr lang="en-US" altLang="en-US"/>
              <a:t>FURPS+ is the acronym for functional, usability, reliability, performance, and security requirements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079D-EE39-42B0-9AE9-553B3E1B4D76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237573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7575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7577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7579" name="Rectangle 1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Stakeholders are the people who have an interest in the success of the project</a:t>
            </a:r>
          </a:p>
          <a:p>
            <a:r>
              <a:rPr lang="en-US" altLang="en-US"/>
              <a:t>There are internal vs. external stakeholders and operational vs. executive stakeholders</a:t>
            </a:r>
            <a:endParaRPr lang="en-US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0C65-D598-4E90-87B1-F0BA34C70BAD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239620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9621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9622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9623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/>
              <a:t>Information gathering techniques are used to collect information about the project</a:t>
            </a:r>
          </a:p>
          <a:p>
            <a:pPr lvl="1"/>
            <a:r>
              <a:rPr lang="en-US" altLang="en-US"/>
              <a:t>Interviews, questionnaires, reviewing documents, observing business processes, researching vendors, comments and suggestions</a:t>
            </a:r>
          </a:p>
          <a:p>
            <a:r>
              <a:rPr lang="en-US" altLang="en-US"/>
              <a:t>The UML Activity Diagram is used to document (model) workflows after collecting information</a:t>
            </a:r>
          </a:p>
          <a:p>
            <a:r>
              <a:rPr lang="en-US" altLang="en-US"/>
              <a:t>Models and modeling are used to explore and document requirements</a:t>
            </a:r>
          </a:p>
          <a:p>
            <a:r>
              <a:rPr lang="en-US" altLang="en-US"/>
              <a:t>Unified Modeling Language (UML) is the standard set of notations and terminology for information systems models</a:t>
            </a:r>
          </a:p>
          <a:p>
            <a:endParaRPr lang="en-US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Systems Analysis and Design in a Changing World, 7th Edition - Chapter 2                                                                      ©2016. Cengage Learning.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973D-7E99-43B2-A179-428B642F975D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23859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8597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859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8599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noFill/>
        <a:ln w="38100">
          <a:tailEnd type="stealth" w="lg" len="lg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01b_SDLC</Template>
  <TotalTime>2118</TotalTime>
  <Words>1827</Words>
  <Application>Microsoft Office PowerPoint</Application>
  <PresentationFormat>Widescreen</PresentationFormat>
  <Paragraphs>227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Century Gothic</vt:lpstr>
      <vt:lpstr>Wingdings 3</vt:lpstr>
      <vt:lpstr>Wisp</vt:lpstr>
      <vt:lpstr>Requirements Gathering</vt:lpstr>
      <vt:lpstr>Chapter 2 Outline</vt:lpstr>
      <vt:lpstr>Learning Objectives</vt:lpstr>
      <vt:lpstr>Systems Analysis Activities</vt:lpstr>
      <vt:lpstr>Systems Analysis Activities Involve discovery and understanding</vt:lpstr>
      <vt:lpstr>Systems Analysis Activities</vt:lpstr>
      <vt:lpstr>What Are Requirements?</vt:lpstr>
      <vt:lpstr>FURPS+ Requirements Acronym</vt:lpstr>
      <vt:lpstr>FURPS+ Requirements Acronym</vt:lpstr>
      <vt:lpstr>Additional Requirements Categories</vt:lpstr>
      <vt:lpstr>Stakeholders Who do you involve and talk to? </vt:lpstr>
      <vt:lpstr>Stakeholders of a comprehensive accounting system for a public company </vt:lpstr>
      <vt:lpstr>Information Gathering Techniques </vt:lpstr>
      <vt:lpstr>Interviewing Users and Other Stakeholders </vt:lpstr>
      <vt:lpstr>Themes for Information Gathering Questions </vt:lpstr>
      <vt:lpstr>Preparing for the Interview</vt:lpstr>
      <vt:lpstr>Interview Session Agenda</vt:lpstr>
      <vt:lpstr>Keep an Open-Items List - add to it as you discover more questions</vt:lpstr>
      <vt:lpstr>Distribute and Collect Questionnaires</vt:lpstr>
      <vt:lpstr>Review Inputs, Outputs, and Procedures</vt:lpstr>
      <vt:lpstr>Additional Techniques</vt:lpstr>
      <vt:lpstr>Models and Modeling</vt:lpstr>
      <vt:lpstr>Reasons for Modeling</vt:lpstr>
      <vt:lpstr>Some Analysis and Design Models</vt:lpstr>
      <vt:lpstr>Documenting Workflows with Activity Diagrams</vt:lpstr>
      <vt:lpstr>Activity Diagrams Symbols</vt:lpstr>
      <vt:lpstr>Activity Diagram for RMO Order Fulfillment</vt:lpstr>
      <vt:lpstr>Activity Diagram with Concurrent Paths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and Susan Turton</dc:creator>
  <cp:lastModifiedBy>Yasser Ebrahim</cp:lastModifiedBy>
  <cp:revision>35</cp:revision>
  <dcterms:created xsi:type="dcterms:W3CDTF">2018-07-31T14:08:23Z</dcterms:created>
  <dcterms:modified xsi:type="dcterms:W3CDTF">2025-09-18T15:02:11Z</dcterms:modified>
</cp:coreProperties>
</file>